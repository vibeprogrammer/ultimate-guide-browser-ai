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0.5 min (running total 0.5 min)</a:t>
            </a:r>
          </a:p>
          <a:p/>
          <a:p>
            <a:r>
              <a:t>[Slide up while people sit down. Laptop already has the playground open in a background tab; Wi-Fi still on.]</a:t>
            </a:r>
          </a:p>
          <a:p/>
          <a:p>
            <a:r>
              <a:t>Hi everyone, I'm Maxim. This talk is about running AI where your users already are: inside the browser, on their own device.</a:t>
            </a:r>
          </a:p>
          <a:p/>
          <a:p>
            <a:r>
              <a:t>I won't start with slides. I'll start with a demo, because everything I'm going to claim today you should be able to see working.</a:t>
            </a:r>
          </a:p>
          <a:p/>
          <a:p>
            <a:r>
              <a:t>[Click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min (running total 3.5 min)</a:t>
            </a:r>
          </a:p>
          <a:p/>
          <a:p>
            <a:r>
              <a:t>[Switch to the browser. BEFORE THE TALK: the page was loaded once with all models run, so they sit in Cache Storage. Now turn Wi-Fi OFF on stage, visibly.]</a:t>
            </a:r>
          </a:p>
          <a:p>
            <a:r>
              <a:t>[Verified 16 Oct on the published URL: after one online run, with the network off and the page reloaded, ResNet-50 loaded from Cache Storage and classified offline. Still do a quick pre-stage check, as with any live demo.]</a:t>
            </a:r>
          </a:p>
          <a:p/>
          <a:p>
            <a:r>
              <a:t>This is the Web AI Playground. I rebuilt it this month on Transformers.js 4.3.1.</a:t>
            </a:r>
          </a:p>
          <a:p/>
          <a:p>
            <a:r>
              <a:t>Look at the top panel first. The page asks the browser what it has: WebNN, WebGPU, WebAssembly threads and SIMD, storage. No guessing.</a:t>
            </a:r>
          </a:p>
          <a:p/>
          <a:p>
            <a:r>
              <a:t>[Pick the corgi sample. Device: WASM. Click Classify.]</a:t>
            </a:r>
          </a:p>
          <a:p/>
          <a:p>
            <a:r>
              <a:t>Pembroke Welsh corgi. That ran on the CPU through WebAssembly. Load time, first run, average of five runs, all on screen.</a:t>
            </a:r>
          </a:p>
          <a:p/>
          <a:p>
            <a:r>
              <a:t>[Switch device to WebGPU, classify again.]</a:t>
            </a:r>
          </a:p>
          <a:p/>
          <a:p>
            <a:r>
              <a:t>Same model, same page, now on the GPU. And every result goes into this table, so we can compare backends side by side.</a:t>
            </a:r>
          </a:p>
          <a:p/>
          <a:p>
            <a:r>
              <a:t>[Scroll to the speech card, run the JFK clip.]</a:t>
            </a:r>
          </a:p>
          <a:p/>
          <a:p>
            <a:r>
              <a:t>And this is Whisper tiny, speech to text, in the same tab. "Ask not what your country can do for you..."</a:t>
            </a:r>
          </a:p>
          <a:p/>
          <a:p>
            <a:r>
              <a:t>No server touched any of this. Everything you just saw is the standard web platform plus one import. The QR code is on screen if you want to follow along on your laptop.</a:t>
            </a:r>
          </a:p>
          <a:p/>
          <a:p>
            <a:r>
              <a:t>[Wi-Fi back on. Back to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0.5 min (running total 4 min)</a:t>
            </a:r>
          </a:p>
          <a:p/>
          <a:p>
            <a:r>
              <a:t>Quickly about me. I'm an AI-Native Solution Engineer at Microsoft, based in Oslo. I've been building on the web since the 90s.</a:t>
            </a:r>
          </a:p>
          <a:p/>
          <a:p>
            <a:r>
              <a:t>The part that matters for today: I'm a member of the W3C Web Machine Learning Community Group. That's where WebNN, the Prompt API and WebMCP get incubated. So I'll tell you where things really stand, including the parts that are not shipped yet.</a:t>
            </a:r>
          </a:p>
          <a:p/>
          <a:p>
            <a:r>
              <a:t>If you like this topic, my newsletter is at isainative.substack.com. And I wrote a book on WebMCP, "Tools, Not Clicks". We'll get to WebMCP at the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min (running total 5.5 min)</a:t>
            </a:r>
          </a:p>
          <a:p/>
          <a:p>
            <a:r>
              <a:t>Why bother? The abstract names three trade-offs of cloud AI, and I add a fourth.</a:t>
            </a:r>
          </a:p>
          <a:p/>
          <a:p>
            <a:r>
              <a:t>Privacy. The data stays on the device. Chrome's documentation for its built-in model says it plainly: no data is sent to Google or any third party when you use the model.</a:t>
            </a:r>
          </a:p>
          <a:p/>
          <a:p>
            <a:r>
              <a:t>Offline. Once the app and the model are cached, you don't need the network. A train, a plane, a hospital basement.</a:t>
            </a:r>
          </a:p>
          <a:p/>
          <a:p>
            <a:r>
              <a:t>Cost. You don't pay per token. The user's hardware does the work.</a:t>
            </a:r>
          </a:p>
          <a:p/>
          <a:p>
            <a:r>
              <a:t>Latency. No round trip. That matters most for live media: camera frames, microphone audio.</a:t>
            </a:r>
          </a:p>
          <a:p/>
          <a:p>
            <a:r>
              <a:t>But I won't pretend it's free. You pay with model downloads, with hardware that varies wildly between users, and with APIs that are not shipped in every browser yet. The rest of this talk is about paying that price smartly.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min (running total 7 min)</a:t>
            </a:r>
          </a:p>
          <a:p/>
          <a:p>
            <a:r>
              <a:t>What changed since the first version of this talk? Three things.</a:t>
            </a:r>
          </a:p>
          <a:p/>
          <a:p>
            <a:r>
              <a:t>2023: WebGPU shipped in Chrome and Edge 113. For the first time a web page could use the GPU for general compute, not just graphics.</a:t>
            </a:r>
          </a:p>
          <a:p/>
          <a:p>
            <a:r>
              <a:t>2024: WebNN went into developer trial in Chrome 125, behind a flag. That's the API that can reach the NPU.</a:t>
            </a:r>
          </a:p>
          <a:p/>
          <a:p>
            <a:r>
              <a:t>2025: browsers started shipping their own models. Translator, Language Detector and Summarizer went stable in Chrome 138. And WebGPU reached Firefox 141 and Safari 26, so it's in all four engines now.</a:t>
            </a:r>
          </a:p>
          <a:p/>
          <a:p>
            <a:r>
              <a:t>2026: the Prompt API, a general language model API, is stable on the web in Chrome 148. WebNN reached Candidate Recommendation, with the snapshot from January.</a:t>
            </a:r>
          </a:p>
          <a:p/>
          <a:p>
            <a:r>
              <a:t>So: GPUs became reachable, NPUs showed up in laptops, and browsers now bring their own models.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min (running total 8.5 min)</a:t>
            </a:r>
          </a:p>
          <a:p/>
          <a:p>
            <a:r>
              <a:t>I kept this slide from the original version because the question is still the same: which chip runs your model?</a:t>
            </a:r>
          </a:p>
          <a:p/>
          <a:p>
            <a:r>
              <a:t>The CPU is always there. On the web you reach it through WebAssembly, with SIMD and threads. It's the universal fallback, and it's what Transformers.js uses by default in the browser.</a:t>
            </a:r>
          </a:p>
          <a:p/>
          <a:p>
            <a:r>
              <a:t>The GPU is massively parallel. WebGPU is now in all four engines, and WebNN can target the GPU too. That's where bigger models and LLMs live. But GPUs differ: always check whether the adapter supports shader-f16 before you pick fp16 weights.</a:t>
            </a:r>
          </a:p>
          <a:p/>
          <a:p>
            <a:r>
              <a:t>The NPU is the newcomer. Low power, built for sustained inference: background blur, live captions, always-on vision. On the web, the only door to the NPU is WebNN, which hands the work to Windows ML or Core ML. And that door is behind a flag today. I'll show you exactly where it stands.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min (running total 10 min)</a:t>
            </a:r>
          </a:p>
          <a:p/>
          <a:p>
            <a:r>
              <a:t>This is the map for the rest of the talk. Six layers, top to bottom.</a:t>
            </a:r>
          </a:p>
          <a:p/>
          <a:p>
            <a:r>
              <a:t>At the top, L5: task APIs built into the browser. Translate this, summarize that. One line of code, the browser brings the model.</a:t>
            </a:r>
          </a:p>
          <a:p/>
          <a:p>
            <a:r>
              <a:t>L4: the Prompt API. A general language model in the browser: Gemini Nano in Chrome, Phi in Edge.</a:t>
            </a:r>
          </a:p>
          <a:p/>
          <a:p>
            <a:r>
              <a:t>L3: frameworks you ship yourself. Transformers.js, ONNX Runtime Web, WebLLM, LiteRT.js. You choose the model.</a:t>
            </a:r>
          </a:p>
          <a:p/>
          <a:p>
            <a:r>
              <a:t>L2: the compute APIs those frameworks sit on. WebGPU, WebNN and WebAssembly.</a:t>
            </a:r>
          </a:p>
          <a:p/>
          <a:p>
            <a:r>
              <a:t>L1: the operating system's ML stack. Windows ML, Core ML, LiteRT. WebNN talks to these.</a:t>
            </a:r>
          </a:p>
          <a:p/>
          <a:p>
            <a:r>
              <a:t>And the hardware: CPU, GPU, NPU.</a:t>
            </a:r>
          </a:p>
          <a:p/>
          <a:p>
            <a:r>
              <a:t>The rule of thumb: the higher you go, the less code and the less control. The lower you go, the more control and the more work. We'll walk it top-down, and this little map in the corner tells you where we 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11 min)</a:t>
            </a:r>
          </a:p>
          <a:p/>
          <a:p>
            <a:r>
              <a:t>Layer 5. Task APIs. You don't pick a model, you don't download anything yourself. You ask the browser to do one job.</a:t>
            </a:r>
          </a:p>
          <a:p/>
          <a:p>
            <a:r>
              <a:t>Translator and Language Detector use small expert models. Summarizer, Writer, Rewriter and Proofreader use the browser's foundation model, Gemini Nano in Chrome.</a:t>
            </a:r>
          </a:p>
          <a:p/>
          <a:p>
            <a:r>
              <a:t>They all follow the same shape: check availability, create an instance, use it, destroy it.</a:t>
            </a:r>
          </a:p>
          <a:p/>
          <a:p>
            <a:r>
              <a:t>One catch to remember: these are desktop features today. Translator and Language Detector don't work on mobile, and the foundation-model APIs run on Windows, macOS, Linux and Chromebook Plus, not on Chrome for Android or iOS.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min (running total 12.5 min)</a:t>
            </a:r>
          </a:p>
          <a:p/>
          <a:p>
            <a:r>
              <a:t>Here's the honest status, from chromestatus, the Chrome built-in AI docs and Microsoft's Edge docs, as of October 2026.</a:t>
            </a:r>
          </a:p>
          <a:p/>
          <a:p>
            <a:r>
              <a:t>Translator and Language Detector: stable in Chrome 138 on desktop, and Edge shipped them in version 148 with more than 145 languages.</a:t>
            </a:r>
          </a:p>
          <a:p/>
          <a:p>
            <a:r>
              <a:t>Summarizer: stable in Chrome 138. In Edge it's a developer preview, on by default in Canary and Dev.</a:t>
            </a:r>
          </a:p>
          <a:p/>
          <a:p>
            <a:r>
              <a:t>Writer and Rewriter: their origin trials in Chrome ended, so today they are behind a flag again. Edge has them as a developer preview.</a:t>
            </a:r>
          </a:p>
          <a:p/>
          <a:p>
            <a:r>
              <a:t>Proofreader: same story in Chrome, origin trial ended, flag only. I found no Edge listing for it.</a:t>
            </a:r>
          </a:p>
          <a:p/>
          <a:p>
            <a:r>
              <a:t>And a bonus row: on-device speech recognition in the Web Speech API, the processLocally option, shipped in Chrome 139.</a:t>
            </a:r>
          </a:p>
          <a:p/>
          <a:p>
            <a:r>
              <a:t>Firefox and Safari ship none of these. We'll talk about why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13.5 min)</a:t>
            </a:r>
          </a:p>
          <a:p/>
          <a:p>
            <a:r>
              <a:t>And this is all the code. On the left, the Translator: create it with a source and a target language, then call translate.</a:t>
            </a:r>
          </a:p>
          <a:p/>
          <a:p>
            <a:r>
              <a:t>On the right, the Summarizer: pick a type, key points, tldr, teaser or headline, a format and a length, and pass optional context.</a:t>
            </a:r>
          </a:p>
          <a:p/>
          <a:p>
            <a:r>
              <a:t>These follow the examples in Chrome's documentation. In real code, call availability() first, because the model might still need to download. That's the pattern I'll show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min (running total 15 min)</a:t>
            </a:r>
          </a:p>
          <a:p/>
          <a:p>
            <a:r>
              <a:t>Layer 4, the Prompt API. This is the pattern you will use for every built-in AI API, so let's go slowly.</a:t>
            </a:r>
          </a:p>
          <a:p/>
          <a:p>
            <a:r>
              <a:t>One: detect. 'LanguageModel' in self. That never throws, even in a browser that has never heard of it. If it's missing, go straight to your fallback.</a:t>
            </a:r>
          </a:p>
          <a:p/>
          <a:p>
            <a:r>
              <a:t>Two: ask. availability() tells you unavailable, downloadable, downloading, or available. Pass the same options you'll use later, for example the languages or input types.</a:t>
            </a:r>
          </a:p>
          <a:p/>
          <a:p>
            <a:r>
              <a:t>Three: create. This may start the model download, so give the user a progress bar through the monitor callback.</a:t>
            </a:r>
          </a:p>
          <a:p/>
          <a:p>
            <a:r>
              <a:t>Four: prompt, or promptStreaming to show tokens as they arrive. Destroy the session when you're done, because sessions hold memory and a context window.</a:t>
            </a:r>
          </a:p>
          <a:p/>
          <a:p>
            <a:r>
              <a:t>This code is almost line for line what runs in the playground's Prompt card.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16 min)</a:t>
            </a:r>
          </a:p>
          <a:p/>
          <a:p>
            <a:r>
              <a:t>Status: the Prompt API is stable on the web in Chrome 148. Extensions have had it since Chrome 138. In Edge it's a developer preview in Canary and Dev, running Phi-4-mini. Sampling parameters like temperature and topK are in a separate origin trial from Chrome 148. This is from chromestatus and the Chrome and Edge docs, as of October 2026.</a:t>
            </a:r>
          </a:p>
          <a:p/>
          <a:p>
            <a:r>
              <a:t>Now look at the hardware bar, because this is what decides whether your users actually get it. Chrome wants at least 22 gigabytes of free disk, and either a GPU with more than 4 gigabytes of VRAM or a CPU with 16 gigabytes of RAM and 4 cores. Desktop only. Edge with Phi-4-mini wants 5.5 gigabytes of VRAM.</a:t>
            </a:r>
          </a:p>
          <a:p/>
          <a:p>
            <a:r>
              <a:t>Edge 150 added a preview model, Aion-1.0-Instruct, that is smaller and runs on weaker GPUs or CPU only.</a:t>
            </a:r>
          </a:p>
          <a:p/>
          <a:p>
            <a:r>
              <a:t>Translation: plenty of your users will get "unavailable". Plan for it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17 min)</a:t>
            </a:r>
          </a:p>
          <a:p/>
          <a:p>
            <a:r>
              <a:t>Here's something I find fascinating. Edge implements the same Prompt API, same JavaScript, but runs a different model: Phi-4-mini, a 4-billion-parameter model from Microsoft. From Edge 150 there's also a preview model called Aion-1.0-Instruct for weaker hardware.</a:t>
            </a:r>
          </a:p>
          <a:p/>
          <a:p>
            <a:r>
              <a:t>The code on the right runs unchanged in both browsers. That's great for developers. But the answer you get is not the same. Quality, speed, supported languages, all different.</a:t>
            </a:r>
          </a:p>
          <a:p/>
          <a:p>
            <a:r>
              <a:t>So: write once, the model varies. Test your prompts in both browsers, keep the output short and structured. And this is exactly the interoperability concern that Mozilla and WebKit raised. Which brings us to standards.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18 min)</a:t>
            </a:r>
          </a:p>
          <a:p/>
          <a:p>
            <a:r>
              <a:t>Let me be honest about standards, because this is where marketing and reality differ.</a:t>
            </a:r>
          </a:p>
          <a:p/>
          <a:p>
            <a:r>
              <a:t>WebNN is a W3C Working Group specification, now a Candidate Recommendation. Mozilla's position is positive. WebKit has no position yet.</a:t>
            </a:r>
          </a:p>
          <a:p/>
          <a:p>
            <a:r>
              <a:t>Everything else, the Prompt API, the writing assistance APIs, the language detector, WebMCP, lives in the Web Machine Learning Community Group. That's incubation, not the Recommendation track. Yet.</a:t>
            </a:r>
          </a:p>
          <a:p/>
          <a:p>
            <a:r>
              <a:t>And the other engines are skeptical. Mozilla is negative on the Prompt API and the writing assistance APIs. WebKit opposes the Prompt API, citing interoperability and privacy. On WebMCP, Mozilla is neutral and WebKit opposes.</a:t>
            </a:r>
          </a:p>
          <a:p/>
          <a:p>
            <a:r>
              <a:t>Sources are the W3C charters and the public standards-positions repos, as of October 2026. My take: use these APIs as progressive enhancement. Never as the only path.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19 min)</a:t>
            </a:r>
          </a:p>
          <a:p/>
          <a:p>
            <a:r>
              <a:t>Layer 3. Frameworks. Here you ship the model yourself, so you choose it, and it works in every browser that has the compute APIs underneath.</a:t>
            </a:r>
          </a:p>
          <a:p/>
          <a:p>
            <a:r>
              <a:t>Transformers.js, now 4.3.1: Hugging Face pipelines running on ONNX Runtime Web, with WebAssembly, WebGPU and WebNN backends, and more than 4,200 ready models on the Hub. That's my default, and the demo uses it.</a:t>
            </a:r>
          </a:p>
          <a:p/>
          <a:p>
            <a:r>
              <a:t>ONNX Runtime Web is the engine underneath. Use it directly if you have your own ONNX model.</a:t>
            </a:r>
          </a:p>
          <a:p/>
          <a:p>
            <a:r>
              <a:t>WebLLM is a dedicated LLM chat engine. WebGPU only, and the models are big: Llama 3.2 1B is about 880 megabytes.</a:t>
            </a:r>
          </a:p>
          <a:p/>
          <a:p>
            <a:r>
              <a:t>LiteRT.js is Google's runtime, the former TensorFlow Lite, together with MediaPipe's GenAI tasks.</a:t>
            </a:r>
          </a:p>
          <a:p/>
          <a:p>
            <a:r>
              <a:t>And TensorFlow.js: its last release was October 2024. I loved it, but for new projects, start elsewhere.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min (running total 20.5 min)</a:t>
            </a:r>
          </a:p>
          <a:p/>
          <a:p>
            <a:r>
              <a:t>Transformers.js has moved a lot since my old demo, which was on 3.4.2.</a:t>
            </a:r>
          </a:p>
          <a:p/>
          <a:p>
            <a:r>
              <a:t>Version 4 came out in March 2026; the latest is 4.3.1 from October 6th. The headline change: a new WebGPU runtime inside ONNX Runtime, rewritten in C++, tested across about 200 model architectures. Plus a model registry, a standalone tokenizers library, and a monorepo.</a:t>
            </a:r>
          </a:p>
          <a:p/>
          <a:p>
            <a:r>
              <a:t>There are now more than 4,200 models on the Hub tagged for Transformers.js. My old slide said 2,700.</a:t>
            </a:r>
          </a:p>
          <a:p/>
          <a:p>
            <a:r>
              <a:t>Two options matter most. device: wasm, webgpu, and four WebNN variants, plus auto. dtype: from fp32 down to 4-bit. The default is q8 on WebAssembly and fp32 on everything else.</a:t>
            </a:r>
          </a:p>
          <a:p/>
          <a:p>
            <a:r>
              <a:t>And one gotcha I found reading the source: plain 'webnn' maps to deviceType cpu. If you want the NPU, say webnn-npu explicitly. Also, 'auto' only checks whether the API exists; it doesn't probe the hardware.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21.5 min)</a:t>
            </a:r>
          </a:p>
          <a:p/>
          <a:p>
            <a:r>
              <a:t>Here's the whole thing in code. On the left, condensed from the demo's worker: import Transformers.js 4.3.1, keep the browser cache on, create a pipeline with a task, a model, a device and a dtype, and a progress callback for the download bar. Then call it.</a:t>
            </a:r>
          </a:p>
          <a:p/>
          <a:p>
            <a:r>
              <a:t>Changing one string, device, moves this from WebAssembly to WebGPU to the NPU. That's the switcher you saw in the demo.</a:t>
            </a:r>
          </a:p>
          <a:p/>
          <a:p>
            <a:r>
              <a:t>On the right is one layer down: ONNX Runtime Web with the WebNN execution provider. deviceType cpu, gpu or npu, plus a power preference. When you pass webnn-npu to Transformers.js, it builds exactly this entry for you.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22.5 min)</a:t>
            </a:r>
          </a:p>
          <a:p/>
          <a:p>
            <a:r>
              <a:t>Layer 2, starting with WebGPU. This is the good news slide. As of late 2025, WebGPU is supported in Chrome, Edge, Firefox and Safari.</a:t>
            </a:r>
          </a:p>
          <a:p/>
          <a:p>
            <a:r>
              <a:t>Chrome and Edge since 113 in 2023. Android since 121. Linux is rolling out from Chrome 144, Intel GPUs first. Firefox shipped in 141 on Windows, then macOS on Apple Silicon. Safari 26 shipped it on macOS, iOS, iPadOS and visionOS.</a:t>
            </a:r>
          </a:p>
          <a:p/>
          <a:p>
            <a:r>
              <a:t>There are still gaps: Firefox on Linux and Android, older macOS for Safari. That's from chromestatus, web.dev, WebKit and MDN, as of October 2026.</a:t>
            </a:r>
          </a:p>
          <a:p/>
          <a:p>
            <a:r>
              <a:t>For machine learning, two optional features matter: shader-f16 and subgroups. They depend on the adapter, so check before you pick fp16 weights. WebGPU is today's honest default fast path. WebAssembly is the universal fallback.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23.5 min)</a:t>
            </a:r>
          </a:p>
          <a:p/>
          <a:p>
            <a:r>
              <a:t>Now WebNN. What is it, really?</a:t>
            </a:r>
          </a:p>
          <a:p/>
          <a:p>
            <a:r>
              <a:t>It's a graph API. You create a context, build a graph of operations, convolution, relu and so on, compile it for a device, and dispatch tensors through it.</a:t>
            </a:r>
          </a:p>
          <a:p/>
          <a:p>
            <a:r>
              <a:t>The key idea: the browser hands the whole graph to the operating system's ML stack. That's why WebNN can reach the NPU while WebGPU cannot. Tensors can stay on the device between calls, and there's interop with WebGPU buffers.</a:t>
            </a:r>
          </a:p>
          <a:p/>
          <a:p>
            <a:r>
              <a:t>But honestly, you'll rarely write WebNN by hand. ONNX Runtime Web and LiteRT.js use it as a backend, and Transformers.js uses it through ONNX Runtime. It works in windows and workers, secure contexts only.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min (running total 25 min)</a:t>
            </a:r>
          </a:p>
          <a:p/>
          <a:p>
            <a:r>
              <a:t>Here's the slide I had to rewrite completely. My old deck said "origin trials until July 2026". That's gone.</a:t>
            </a:r>
          </a:p>
          <a:p/>
          <a:p>
            <a:r>
              <a:t>The spec is in good shape: W3C Candidate Recommendation, snapshot from January 2026, a fresh draft from October 10th, and the Working Group charter targets a Recommendation in the first quarter of 2027.</a:t>
            </a:r>
          </a:p>
          <a:p/>
          <a:p>
            <a:r>
              <a:t>The browsers are the bumpy part. Chrome has had a developer trial since version 125. The origin trial was approved, delayed twice, re-enabled, and then on March 27th 2026 it was disabled again because of release-blocking issues. Edge's origin trial expired on August 11th. So today, in both, WebNN is behind a flag. Firefox doesn't implement it but its position is positive. WebKit has no position yet.</a:t>
            </a:r>
          </a:p>
          <a:p/>
          <a:p>
            <a:r>
              <a:t>This is from chromestatus, the blink-dev intent thread and the Edge origin trials page, as of October 2026.</a:t>
            </a:r>
          </a:p>
          <a:p/>
          <a:p>
            <a:r>
              <a:t>To try it: Chrome or Edge Canary, turn on this flag. For the NPU path on Windows you need Windows 11 24H2 or newer. webnn.io has the install guide.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26 min)</a:t>
            </a:r>
          </a:p>
          <a:p/>
          <a:p>
            <a:r>
              <a:t>Device selection is where the spec and the implementation disagree right now, so let me show both.</a:t>
            </a:r>
          </a:p>
          <a:p/>
          <a:p>
            <a:r>
              <a:t>The spec removed deviceType. You now say what you prefer, high-performance or low-power, and whether you want acceleration, and the context tells you if you got it.</a:t>
            </a:r>
          </a:p>
          <a:p/>
          <a:p>
            <a:r>
              <a:t>But Chromium today, behind the flag, still accepts deviceType cpu, gpu or npu, and does not have the accelerated option yet. ONNX Runtime Web and Transformers.js still pass deviceType.</a:t>
            </a:r>
          </a:p>
          <a:p/>
          <a:p>
            <a:r>
              <a:t>So in practice: check 'ml' in navigator, try to create the context, and catch the error. The playground probes both shapes and prints each result, so on stage you see exactly what this browser supports. The spec itself says this part is under active development, so expect it to move.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27 min)</a:t>
            </a:r>
          </a:p>
          <a:p/>
          <a:p>
            <a:r>
              <a:t>Layer 1. What happens under WebNN depends on your operating system.</a:t>
            </a:r>
          </a:p>
          <a:p/>
          <a:p>
            <a:r>
              <a:t>On Windows 11 24H2 and newer, Chromium hands the graph to Windows ML, which is ONNX Runtime with vendor execution providers. The order is NPU, then GPU, then CPU. Note that DirectML is now just one option, ranked after the WebGPU execution provider. That's a change from my old slide.</a:t>
            </a:r>
          </a:p>
          <a:p/>
          <a:p>
            <a:r>
              <a:t>On Apple Silicon Macs with macOS 14.4 or newer, it's Core ML, and asking for the NPU maps to CPU plus Neural Engine.</a:t>
            </a:r>
          </a:p>
          <a:p/>
          <a:p>
            <a:r>
              <a:t>Everywhere else, and as the fallback, it's LiteRT, the former TensorFlow Lite. And an important footnote: on LiteRT, NPU requests are not accelerated yet; they run on the CPU.</a:t>
            </a:r>
          </a:p>
          <a:p/>
          <a:p>
            <a:r>
              <a:t>The verified NPU list on webnn.io is Intel Core Ultra, from Meteor Lake to Panther Lake. Sources are the webnn.io compatibility pages as of October.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28 min)</a:t>
            </a:r>
          </a:p>
          <a:p/>
          <a:p>
            <a:r>
              <a:t>This is the path a single string travels. Your code says device webnn-npu. Transformers.js turns that into an ONNX Runtime execution provider entry: name webnn, deviceType npu. ONNX Runtime partitions the model: the operations the WebNN provider supports go to WebNN, the rest stays on WebAssembly. The WebNN provider creates a context with deviceType npu and builds the graph. Chromium compiles it for Windows ML or Core ML. And it runs on the NPU.</a:t>
            </a:r>
          </a:p>
          <a:p/>
          <a:p>
            <a:r>
              <a:t>Two things follow from this picture. First, op coverage matters: anything the provider can't run falls back to the CPU, and those hops cost time. Second, the WebNN provider wants static input shapes, which is why there are special exports for WebNN.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29 min)</a:t>
            </a:r>
          </a:p>
          <a:p/>
          <a:p>
            <a:r>
              <a:t>So which models actually run on WebNN today? Honest answer: there is no maintained compatibility list. I looked.</a:t>
            </a:r>
          </a:p>
          <a:p/>
          <a:p>
            <a:r>
              <a:t>What exists is the Hugging Face "webnn" organization: 42 models and 5 Spaces exported specifically for WebNN. MobileNet, Whisper base, YOLO, Depth Anything, Segment Anything, even Phi-4-mini.</a:t>
            </a:r>
          </a:p>
          <a:p/>
          <a:p>
            <a:r>
              <a:t>What makes a model work: static input shapes, operations the WebNN provider supports, and usually fp16 weights for GPU and NPU.</a:t>
            </a:r>
          </a:p>
          <a:p/>
          <a:p>
            <a:r>
              <a:t>In the playground I use webnn/mobilenet-v2, fp16, 7 megabytes, built for the WebNN provider. That's my safe bet on stage. ResNet-50, Whisper and SmolLM2 you can try on WebNN live; whether they run fully on the NPU depends on your browser build and drivers. Let's find out.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 min (running total 32.5 min)</a:t>
            </a:r>
          </a:p>
          <a:p/>
          <a:p>
            <a:r>
              <a:t>[Switch to Chrome Canary or Edge Canary with about://flags/#web-machine-learning-neural-network enabled. Windows 11 24H2+. Open Task Manager → Performance → NPU, and keep it visible next to the browser.]</a:t>
            </a:r>
          </a:p>
          <a:p>
            <a:r>
              <a:t>[Unverified until you run it: WebNN was not available on our Linux test box, so the NPU path has never been tested end to end. Rehearse it on this exact laptop and browser build.]</a:t>
            </a:r>
          </a:p>
          <a:p/>
          <a:p>
            <a:r>
              <a:t>Now the fun part. Same playground, but in Canary with the WebNN flag on.</a:t>
            </a:r>
          </a:p>
          <a:p/>
          <a:p>
            <a:r>
              <a:t>[Point at the capability panel.] Look: navigator.ml exists, and the panel shows which createContext calls succeeded. deviceType npu: yes or no, right there.</a:t>
            </a:r>
          </a:p>
          <a:p/>
          <a:p>
            <a:r>
              <a:t>[Device: WebNN, sub-picker NPU. Model: mobilenet-v2 fp16. Classify the coffee cup a few times.]</a:t>
            </a:r>
          </a:p>
          <a:p/>
          <a:p>
            <a:r>
              <a:t>And watch Task Manager. [Point at the NPU graph.] That's the NPU working. Not the GPU, not the CPU.</a:t>
            </a:r>
          </a:p>
          <a:p/>
          <a:p>
            <a:r>
              <a:t>[Scroll to the benchmark table.] Now we have three rows: WASM, WebGPU and WebNN on the NPU, same page, same model family. Read out the averages.</a:t>
            </a:r>
          </a:p>
          <a:p/>
          <a:p>
            <a:r>
              <a:t>[If time allows: speech card, Whisper on the JFK clip, on WebGPU or WebNN.]</a:t>
            </a:r>
          </a:p>
          <a:p/>
          <a:p>
            <a:r>
              <a:t>If the NPU path fails on a model, the panel shows the error text. That's the honest state of WebNN in October 2026, and it's also why we always keep a fallback.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33.5 min)</a:t>
            </a:r>
          </a:p>
          <a:p/>
          <a:p>
            <a:r>
              <a:t>For the record, here are numbers we measured before the conference, on the published demo in headless Chrome. Not my laptop: a cloud machine with no GPU.</a:t>
            </a:r>
          </a:p>
          <a:p/>
          <a:p>
            <a:r>
              <a:t>ResNet-50, 8-bit, on WebAssembly: about a quarter of a second per image, 186 milliseconds on a local run. MobileNet-v2 from the webnn org: 85 milliseconds. Whisper tiny transcribes an 11-second clip in about 2 seconds. SmolLM2 135M generates 18 to 24 tokens per second.</a:t>
            </a:r>
          </a:p>
          <a:p/>
          <a:p>
            <a:r>
              <a:t>The WebGPU row looks terrible, 8 seconds, because that machine had only a software GPU. On a real GPU you'd expect the opposite. I keep it on the slide on purpose: always check what adapter you actually got.</a:t>
            </a:r>
          </a:p>
          <a:p/>
          <a:p>
            <a:r>
              <a:t>And the last row is empty on purpose. That's the number we just measured live on the NPU. [Read the WebNN NPU average from the demo's benchmark table and say it out 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34.5 min)</a:t>
            </a:r>
          </a:p>
          <a:p/>
          <a:p>
            <a:r>
              <a:t>The Prompt API that shipped in Chrome 148 is not text-only. It takes images and audio as input. Output is still text.</a:t>
            </a:r>
          </a:p>
          <a:p/>
          <a:p>
            <a:r>
              <a:t>And the feature I like most for real apps: response constraints. Pass a JSON Schema, or a regular expression, and the model's answer has to match it. No more parsing free-form text and praying.</a:t>
            </a:r>
          </a:p>
          <a:p/>
          <a:p>
            <a:r>
              <a:t>Declare the input types you'll use when you create the session, and pass the same options to availability(), so you get an honest answer. And remember: audio input needs a GPU.</a:t>
            </a:r>
          </a:p>
          <a:p/>
          <a:p>
            <a:r>
              <a:t>The message format, a role plus a content array of typed parts, is the one in Chrome's Prompt API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 min (running total 37 min)</a:t>
            </a:r>
          </a:p>
          <a:p/>
          <a:p>
            <a:r>
              <a:t>[Switch to Chrome stable (148+) on a machine that meets the hardware bar. Open the Prompt card.]</a:t>
            </a:r>
          </a:p>
          <a:p/>
          <a:p>
            <a:r>
              <a:t>Last demo. The Prompt card. First, the capability panel: LanguageModel exists, and availability() says... [read it out: available, downloadable or downloading].</a:t>
            </a:r>
          </a:p>
          <a:p/>
          <a:p>
            <a:r>
              <a:t>[Type a short prompt, e.g. "Explain WebNN in one sentence", click Run.]</a:t>
            </a:r>
          </a:p>
          <a:p/>
          <a:p>
            <a:r>
              <a:t>If the model still needs to download, you see the progress bar from the monitor callback. Then tokens stream in from Gemini Nano, on this device.</a:t>
            </a:r>
          </a:p>
          <a:p/>
          <a:p>
            <a:r>
              <a:t>[Now switch to a browser without the API, or one where availability() says unavailable, such as Firefox or a profile with the flag off. Run the same prompt.]</a:t>
            </a:r>
          </a:p>
          <a:p/>
          <a:p>
            <a:r>
              <a:t>Same card, same button. Now availability is unavailable, so the page falls back to Transformers.js with SmolLM2, a 135-million-parameter model, running in a Web Worker. It's not as smart as Gemini Nano, but the feature still works. Same UI, different engine.</a:t>
            </a:r>
          </a:p>
          <a:p/>
          <a:p>
            <a:r>
              <a:t>[On our test machine LanguageModel existed but availability() returned "unavailable", and the fallback ran at about 18 tokens per second. That's the screenshot on the slide.]</a:t>
            </a:r>
          </a:p>
          <a:p/>
          <a:p>
            <a:r>
              <a:t>That's the pattern I want you to steal: detect, prefer the built-in model, fall back to your own.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38 min)</a:t>
            </a:r>
          </a:p>
          <a:p/>
          <a:p>
            <a:r>
              <a:t>So how do you choose? Here's my decision matrix.</a:t>
            </a:r>
          </a:p>
          <a:p/>
          <a:p>
            <a:r>
              <a:t>Translation and language detection: use the built-in task APIs where they exist. Fall back to a translation model in Transformers.js.</a:t>
            </a:r>
          </a:p>
          <a:p/>
          <a:p>
            <a:r>
              <a:t>Summarize, rewrite, proofread: built-in task APIs first, then the Prompt API, then a small model of your own.</a:t>
            </a:r>
          </a:p>
          <a:p/>
          <a:p>
            <a:r>
              <a:t>Chat, extraction, structured JSON: the Prompt API, falling back to Transformers.js or WebLLM, or to the cloud if the device can't handle it.</a:t>
            </a:r>
          </a:p>
          <a:p/>
          <a:p>
            <a:r>
              <a:t>Vision: there's no built-in API, so Transformers.js on WebNN or WebGPU, with the same model on WebAssembly as the fallback.</a:t>
            </a:r>
          </a:p>
          <a:p/>
          <a:p>
            <a:r>
              <a:t>Speech-to-text: Web Speech with processLocally where it's available, Whisper or Moonshine in Transformers.js otherwise.</a:t>
            </a:r>
          </a:p>
          <a:p/>
          <a:p>
            <a:r>
              <a:t>Your own model: ONNX Runtime Web directly.</a:t>
            </a:r>
          </a:p>
          <a:p/>
          <a:p>
            <a:r>
              <a:t>The rule: take the highest layer that does the job, and always have the next one down ready.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39 min)</a:t>
            </a:r>
          </a:p>
          <a:p/>
          <a:p>
            <a:r>
              <a:t>Offline starts with bytes. Here are real model sizes from the Hugging Face Hub, on a log scale.</a:t>
            </a:r>
          </a:p>
          <a:p/>
          <a:p>
            <a:r>
              <a:t>ResNet-50 at 8 bits: 26 megabytes. Whisper tiny, what the demo downloads: about 41. Kokoro text-to-speech: 92. SmolLM2 135M: 137. Then the language models jump: Qwen3 0.6B at 4 bits is 570 megabytes, Llama 3.2 1B in WebLLM almost 900, Phi-3.5 mini about 3.7 gigabytes.</a:t>
            </a:r>
          </a:p>
          <a:p/>
          <a:p>
            <a:r>
              <a:t>Where do they live? Transformers.js uses Cache Storage by default; you can plug in your own store, such as OPFS. Quotas are generous on desktop: Chromium lets an origin use up to 60 percent of the disk, and so do Safari apps, while embedded WebKit gets about 15 percent. Ask for persistent storage so the browser doesn't evict your models. That's from MDN's storage quota page.</a:t>
            </a:r>
          </a:p>
          <a:p/>
          <a:p>
            <a:r>
              <a:t>My rule: if the model is bigger than the page's total value to the user, don't auto-download it. Ask.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40 min)</a:t>
            </a:r>
          </a:p>
          <a:p/>
          <a:p>
            <a:r>
              <a:t>Here's the offline part, straight from the demo.</a:t>
            </a:r>
          </a:p>
          <a:p/>
          <a:p>
            <a:r>
              <a:t>The service worker precaches the app shell and serves it cache-first. Model files from the Hugging Face Hub are cached by Transformers.js itself, in a cache called transformers-cache; the service worker just makes sure that, when the network is gone, the request gets the cached copy.</a:t>
            </a:r>
          </a:p>
          <a:p/>
          <a:p>
            <a:r>
              <a:t>And here's a real bug we hit while building this demo, worth sharing. Transformers.js asks for some optional files that simply don't exist on the Hub; online they return 404. A 404 never gets cached. So offline, that fetch threw an error and the whole model load aborted. The fix is three lines: when there's no cached copy, answer with a synthetic 404 instead of failing. After that, ResNet-50 loaded from cache in under a second and classified with the network off.</a:t>
            </a:r>
          </a:p>
          <a:p/>
          <a:p>
            <a:r>
              <a:t>Lesson: test offline for real, with the network actually off.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41 min)</a:t>
            </a:r>
          </a:p>
          <a:p/>
          <a:p>
            <a:r>
              <a:t>Put it together and you get a fallback chain. Built-in API if availability says yes. Otherwise WebNN if a context opens on the NPU. Otherwise WebGPU if there's a real adapter. Otherwise WebAssembly, which works everywhere. And only then, if the device is simply too weak, the cloud.</a:t>
            </a:r>
          </a:p>
          <a:p/>
          <a:p>
            <a:r>
              <a:t>Every check here is safe in every browser: none of them throws in a browser that doesn't know the API. That's progressive enhancement, applied to AI.</a:t>
            </a:r>
          </a:p>
          <a:p/>
          <a:p>
            <a:r>
              <a:t>And this is what makes the app future-proof. When WebNN leaves the flag, or Firefox ships something new, your app picks it up without a redeploy. The playground's Auto mode does exactly this and shows you the reason it picked.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42 min)</a:t>
            </a:r>
          </a:p>
          <a:p/>
          <a:p>
            <a:r>
              <a:t>One slide on what's next. Everything so far was about running models in the page. WebMCP flips it: your page offers tools to the browser's own AI agent.</a:t>
            </a:r>
          </a:p>
          <a:p/>
          <a:p>
            <a:r>
              <a:t>You register a tool, a JavaScript function with a description and a JSON Schema for its input, and the agent can call it inside the user's session. Add to cart, book a slot, search the catalogue. No screen scraping, no fake clicks.</a:t>
            </a:r>
          </a:p>
          <a:p/>
          <a:p>
            <a:r>
              <a:t>Status: it's a W3C Community Group draft, updated today, October 16th, and it's in a Chrome origin trial from 149 to 162. Mozilla is neutral, WebKit opposes. Sources on the slide.</a:t>
            </a:r>
          </a:p>
          <a:p/>
          <a:p>
            <a:r>
              <a:t>I care about this a lot, so I wrote a book about it: "Tools, Not Clicks: Building Agent-Ready Websites with WebMCP". The free online edition is behind that QR 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(running total 43 min)</a:t>
            </a:r>
          </a:p>
          <a:p/>
          <a:p>
            <a:r>
              <a:t>Three things to take home.</a:t>
            </a:r>
          </a:p>
          <a:p/>
          <a:p>
            <a:r>
              <a:t>One: pick the highest layer that does the job. If a built-in task API does it, use it. Less code, nothing to download.</a:t>
            </a:r>
          </a:p>
          <a:p/>
          <a:p>
            <a:r>
              <a:t>Two: detect, never assume. availability(), createContext(), requestAdapter(). And WebAssembly always works.</a:t>
            </a:r>
          </a:p>
          <a:p/>
          <a:p>
            <a:r>
              <a:t>Three: ship it offline. A service worker plus Cache Storage. Treat models as assets, and test with the network really off.</a:t>
            </a:r>
          </a:p>
          <a:p/>
          <a:p>
            <a:r>
              <a:t>And on WebNN: it's behind a flag today, the spec is a Candidate Recommendation, and a Recommendation is targeted for early 2027. Build the code path now, so your app lights up the NPU the day it ships.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0.5 min (running total 43.5 min)</a:t>
            </a:r>
          </a:p>
          <a:p/>
          <a:p>
            <a:r>
              <a:t>Thank you!</a:t>
            </a:r>
          </a:p>
          <a:p/>
          <a:p>
            <a:r>
              <a:t>Connect with me on LinkedIn, that's the QR on the left, and I'll send you this deck with all the links. The playground is the QR in the middle, it's live, try it on your own laptop tonight, ideally with the WebNN flag on. And if you want more of this, my newsletter is isainative.substack.com.</a:t>
            </a:r>
          </a:p>
          <a:p/>
          <a:p>
            <a:r>
              <a:t>[Leave this slide up for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hyperlink" Target="https://webai-playground.sites.tab.bot/" TargetMode="Externa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hyperlink" Target="https://vibeprogrammer.github.io/webmcp-book/" TargetMode="External"/><Relationship Id="rId4" Type="http://schemas.openxmlformats.org/officeDocument/2006/relationships/hyperlink" Target="https://isainative.substack.com" TargetMode="Externa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ebnn.io/en/learn/get-started/installation"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ebai-playground.sites.tab.bot/" TargetMode="Externa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hyperlink" Target="https://webai-playground.sites.tab.bot/" TargetMode="Externa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vibeprogrammer.github.io/webmcp-book/" TargetMode="Externa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hyperlink" Target="https://webai-playground.sites.tab.bot/" TargetMode="External"/><Relationship Id="rId5" Type="http://schemas.openxmlformats.org/officeDocument/2006/relationships/hyperlink" Target="https://isainative.substack.com" TargetMode="External"/><Relationship Id="rId6" Type="http://schemas.openxmlformats.org/officeDocument/2006/relationships/hyperlink" Target="https://vibeprogrammer.github.io/webmcp-book/" TargetMode="External"/><Relationship Id="rId7"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title-net.jpg"/>
          <p:cNvPicPr>
            <a:picLocks noChangeAspect="1"/>
          </p:cNvPicPr>
          <p:nvPr/>
        </p:nvPicPr>
        <p:blipFill>
          <a:blip r:embed="rId2"/>
          <a:stretch>
            <a:fillRect/>
          </a:stretch>
        </p:blipFill>
        <p:spPr>
          <a:xfrm>
            <a:off x="7223760" y="0"/>
            <a:ext cx="6858000" cy="6858000"/>
          </a:xfrm>
          <a:prstGeom prst="rect">
            <a:avLst/>
          </a:prstGeom>
        </p:spPr>
      </p:pic>
      <p:sp>
        <p:nvSpPr>
          <p:cNvPr id="3" name="Rectangle 2"/>
          <p:cNvSpPr/>
          <p:nvPr/>
        </p:nvSpPr>
        <p:spPr>
          <a:xfrm>
            <a:off x="7223760" y="0"/>
            <a:ext cx="73152" cy="68580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85800" y="914400"/>
            <a:ext cx="6400800" cy="365760"/>
          </a:xfrm>
          <a:prstGeom prst="rect">
            <a:avLst/>
          </a:prstGeom>
          <a:noFill/>
        </p:spPr>
        <p:txBody>
          <a:bodyPr wrap="square" lIns="0" rIns="0" tIns="18288" bIns="18288" anchor="t">
            <a:spAutoFit/>
          </a:bodyPr>
          <a:lstStyle/>
          <a:p>
            <a:pPr algn="l">
              <a:lnSpc>
                <a:spcPct val="112000"/>
              </a:lnSpc>
            </a:pPr>
            <a:r>
              <a:rPr sz="1500" b="1" i="0">
                <a:solidFill>
                  <a:srgbClr val="22D3EE"/>
                </a:solidFill>
                <a:latin typeface="Arial"/>
              </a:rPr>
              <a:t>CONFERENCE TALK · 2026 EDITION</a:t>
            </a:r>
          </a:p>
        </p:txBody>
      </p:sp>
      <p:sp>
        <p:nvSpPr>
          <p:cNvPr id="5" name="TextBox 4"/>
          <p:cNvSpPr txBox="1"/>
          <p:nvPr/>
        </p:nvSpPr>
        <p:spPr>
          <a:xfrm>
            <a:off x="685800" y="1371600"/>
            <a:ext cx="6400800" cy="2011680"/>
          </a:xfrm>
          <a:prstGeom prst="rect">
            <a:avLst/>
          </a:prstGeom>
          <a:noFill/>
        </p:spPr>
        <p:txBody>
          <a:bodyPr wrap="square" lIns="0" rIns="0" tIns="18288" bIns="18288" anchor="t">
            <a:spAutoFit/>
          </a:bodyPr>
          <a:lstStyle/>
          <a:p>
            <a:pPr algn="l">
              <a:lnSpc>
                <a:spcPct val="102000"/>
              </a:lnSpc>
            </a:pPr>
            <a:r>
              <a:rPr sz="4400" b="1" i="0">
                <a:solidFill>
                  <a:srgbClr val="FFFFFF"/>
                </a:solidFill>
                <a:latin typeface="Arial"/>
              </a:rPr>
              <a:t>The Ultimate Guide to Browser-Based AI</a:t>
            </a:r>
          </a:p>
        </p:txBody>
      </p:sp>
      <p:sp>
        <p:nvSpPr>
          <p:cNvPr id="6" name="TextBox 5"/>
          <p:cNvSpPr txBox="1"/>
          <p:nvPr/>
        </p:nvSpPr>
        <p:spPr>
          <a:xfrm>
            <a:off x="685800" y="3429000"/>
            <a:ext cx="6400800" cy="1280160"/>
          </a:xfrm>
          <a:prstGeom prst="rect">
            <a:avLst/>
          </a:prstGeom>
          <a:noFill/>
        </p:spPr>
        <p:txBody>
          <a:bodyPr wrap="square" lIns="0" rIns="0" tIns="18288" bIns="18288" anchor="t">
            <a:spAutoFit/>
          </a:bodyPr>
          <a:lstStyle/>
          <a:p>
            <a:pPr algn="l">
              <a:lnSpc>
                <a:spcPct val="110000"/>
              </a:lnSpc>
            </a:pPr>
            <a:r>
              <a:rPr sz="2600" b="1" i="0">
                <a:solidFill>
                  <a:srgbClr val="22D3EE"/>
                </a:solidFill>
                <a:latin typeface="Arial"/>
              </a:rPr>
              <a:t>Privacy-First</a:t>
            </a:r>
          </a:p>
          <a:p>
            <a:pPr algn="l">
              <a:lnSpc>
                <a:spcPct val="110000"/>
              </a:lnSpc>
            </a:pPr>
            <a:r>
              <a:rPr sz="2600" b="1" i="0">
                <a:solidFill>
                  <a:srgbClr val="22D3EE"/>
                </a:solidFill>
                <a:latin typeface="Arial"/>
              </a:rPr>
              <a:t>Offline-Ready</a:t>
            </a:r>
          </a:p>
          <a:p>
            <a:pPr algn="l">
              <a:lnSpc>
                <a:spcPct val="110000"/>
              </a:lnSpc>
            </a:pPr>
            <a:r>
              <a:rPr sz="2600" b="1" i="0">
                <a:solidFill>
                  <a:srgbClr val="22D3EE"/>
                </a:solidFill>
                <a:latin typeface="Arial"/>
              </a:rPr>
              <a:t>Fully Future-Proof</a:t>
            </a:r>
          </a:p>
        </p:txBody>
      </p:sp>
      <p:sp>
        <p:nvSpPr>
          <p:cNvPr id="7" name="TextBox 6"/>
          <p:cNvSpPr txBox="1"/>
          <p:nvPr/>
        </p:nvSpPr>
        <p:spPr>
          <a:xfrm>
            <a:off x="685800" y="5166360"/>
            <a:ext cx="6400800" cy="914400"/>
          </a:xfrm>
          <a:prstGeom prst="rect">
            <a:avLst/>
          </a:prstGeom>
          <a:noFill/>
        </p:spPr>
        <p:txBody>
          <a:bodyPr wrap="square" lIns="0" rIns="0" tIns="18288" bIns="18288" anchor="t">
            <a:spAutoFit/>
          </a:bodyPr>
          <a:lstStyle/>
          <a:p>
            <a:pPr algn="l">
              <a:lnSpc>
                <a:spcPct val="115000"/>
              </a:lnSpc>
            </a:pPr>
            <a:r>
              <a:rPr sz="2400" b="1" i="0">
                <a:solidFill>
                  <a:srgbClr val="FFFFFF"/>
                </a:solidFill>
                <a:latin typeface="Arial"/>
              </a:rPr>
              <a:t>Maxim Salnikov</a:t>
            </a:r>
          </a:p>
          <a:p>
            <a:pPr algn="l">
              <a:lnSpc>
                <a:spcPct val="115000"/>
              </a:lnSpc>
            </a:pPr>
            <a:r>
              <a:rPr sz="1800" b="0" i="0">
                <a:solidFill>
                  <a:srgbClr val="CBD5E1"/>
                </a:solidFill>
                <a:latin typeface="Arial"/>
              </a:rPr>
              <a:t>AI-Native Solution Engineer at Microsoft · Oslo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22D3EE"/>
                </a:solidFill>
                <a:latin typeface="Arial"/>
              </a:rPr>
              <a:t>LIVE DEMO</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FFFFFF"/>
                </a:solidFill>
                <a:latin typeface="Arial"/>
              </a:rPr>
              <a:t>Demo 1 · The offline playground</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94A3B8"/>
                </a:solidFill>
                <a:latin typeface="Arial"/>
              </a:rPr>
              <a:t>2</a:t>
            </a:r>
          </a:p>
        </p:txBody>
      </p:sp>
      <p:pic>
        <p:nvPicPr>
          <p:cNvPr id="5" name="Picture 4" descr="page-top.jpg"/>
          <p:cNvPicPr>
            <a:picLocks noChangeAspect="1"/>
          </p:cNvPicPr>
          <p:nvPr/>
        </p:nvPicPr>
        <p:blipFill>
          <a:blip r:embed="rId2"/>
          <a:stretch>
            <a:fillRect/>
          </a:stretch>
        </p:blipFill>
        <p:spPr>
          <a:xfrm>
            <a:off x="548640" y="1600200"/>
            <a:ext cx="6056986" cy="4206240"/>
          </a:xfrm>
          <a:prstGeom prst="rect">
            <a:avLst/>
          </a:prstGeom>
          <a:ln w="12700">
            <a:solidFill>
              <a:srgbClr val="CBD5E1"/>
            </a:solidFill>
          </a:ln>
        </p:spPr>
      </p:pic>
      <p:pic>
        <p:nvPicPr>
          <p:cNvPr id="6" name="Picture 5" descr="qr-demo.png"/>
          <p:cNvPicPr>
            <a:picLocks noChangeAspect="1"/>
          </p:cNvPicPr>
          <p:nvPr/>
        </p:nvPicPr>
        <p:blipFill>
          <a:blip r:embed="rId3"/>
          <a:stretch>
            <a:fillRect/>
          </a:stretch>
        </p:blipFill>
        <p:spPr>
          <a:xfrm>
            <a:off x="8366760" y="1737360"/>
            <a:ext cx="2651760" cy="2651760"/>
          </a:xfrm>
          <a:prstGeom prst="rect">
            <a:avLst/>
          </a:prstGeom>
        </p:spPr>
      </p:pic>
      <p:sp>
        <p:nvSpPr>
          <p:cNvPr id="7" name="TextBox 6"/>
          <p:cNvSpPr txBox="1"/>
          <p:nvPr/>
        </p:nvSpPr>
        <p:spPr>
          <a:xfrm>
            <a:off x="7726680" y="4462272"/>
            <a:ext cx="3931920" cy="365760"/>
          </a:xfrm>
          <a:prstGeom prst="rect">
            <a:avLst/>
          </a:prstGeom>
          <a:noFill/>
        </p:spPr>
        <p:txBody>
          <a:bodyPr wrap="square" lIns="0" rIns="0" tIns="18288" bIns="18288" anchor="t">
            <a:spAutoFit/>
          </a:bodyPr>
          <a:lstStyle/>
          <a:p>
            <a:pPr algn="ctr">
              <a:lnSpc>
                <a:spcPct val="112000"/>
              </a:lnSpc>
            </a:pPr>
            <a:r>
              <a:rPr sz="1600" b="1" i="0">
                <a:solidFill>
                  <a:srgbClr val="22D3EE"/>
                </a:solidFill>
                <a:latin typeface="Arial"/>
                <a:hlinkClick r:id="rId4"/>
              </a:rPr>
              <a:t>webai-playground.sites.tab.bot</a:t>
            </a:r>
          </a:p>
        </p:txBody>
      </p:sp>
      <p:sp>
        <p:nvSpPr>
          <p:cNvPr id="8" name="TextBox 7"/>
          <p:cNvSpPr txBox="1"/>
          <p:nvPr/>
        </p:nvSpPr>
        <p:spPr>
          <a:xfrm>
            <a:off x="7498079" y="4937760"/>
            <a:ext cx="4206240" cy="1371600"/>
          </a:xfrm>
          <a:prstGeom prst="rect">
            <a:avLst/>
          </a:prstGeom>
          <a:noFill/>
        </p:spPr>
        <p:txBody>
          <a:bodyPr wrap="square" lIns="0" rIns="0" tIns="18288" bIns="18288" anchor="t">
            <a:spAutoFit/>
          </a:bodyPr>
          <a:lstStyle/>
          <a:p>
            <a:pPr algn="l">
              <a:lnSpc>
                <a:spcPct val="112000"/>
              </a:lnSpc>
            </a:pPr>
            <a:r>
              <a:rPr sz="1800" b="1" i="0">
                <a:solidFill>
                  <a:srgbClr val="22D3EE"/>
                </a:solidFill>
                <a:latin typeface="Arial"/>
              </a:rPr>
              <a:t>▸  </a:t>
            </a:r>
            <a:r>
              <a:rPr sz="1800" b="0" i="0">
                <a:solidFill>
                  <a:srgbClr val="E2E8F0"/>
                </a:solidFill>
                <a:latin typeface="Arial"/>
              </a:rPr>
              <a:t>Wi-Fi off, page loaded once before</a:t>
            </a:r>
          </a:p>
          <a:p>
            <a:pPr algn="l">
              <a:lnSpc>
                <a:spcPct val="112000"/>
              </a:lnSpc>
              <a:spcBef>
                <a:spcPts val="400"/>
              </a:spcBef>
            </a:pPr>
            <a:r>
              <a:rPr sz="1800" b="1" i="0">
                <a:solidFill>
                  <a:srgbClr val="22D3EE"/>
                </a:solidFill>
                <a:latin typeface="Arial"/>
              </a:rPr>
              <a:t>▸  </a:t>
            </a:r>
            <a:r>
              <a:rPr sz="1800" b="0" i="0">
                <a:solidFill>
                  <a:srgbClr val="E2E8F0"/>
                </a:solidFill>
                <a:latin typeface="Arial"/>
              </a:rPr>
              <a:t>Image classification, speech-to-text</a:t>
            </a:r>
          </a:p>
          <a:p>
            <a:pPr algn="l">
              <a:lnSpc>
                <a:spcPct val="112000"/>
              </a:lnSpc>
              <a:spcBef>
                <a:spcPts val="400"/>
              </a:spcBef>
            </a:pPr>
            <a:r>
              <a:rPr sz="1800" b="1" i="0">
                <a:solidFill>
                  <a:srgbClr val="22D3EE"/>
                </a:solidFill>
                <a:latin typeface="Arial"/>
              </a:rPr>
              <a:t>▸  </a:t>
            </a:r>
            <a:r>
              <a:rPr sz="1800" b="0" i="0">
                <a:solidFill>
                  <a:srgbClr val="E2E8F0"/>
                </a:solidFill>
                <a:latin typeface="Arial"/>
              </a:rPr>
              <a:t>WASM vs WebGPU, side by side</a:t>
            </a:r>
          </a:p>
        </p:txBody>
      </p:sp>
      <p:sp>
        <p:nvSpPr>
          <p:cNvPr id="9" name="TextBox 8"/>
          <p:cNvSpPr txBox="1"/>
          <p:nvPr/>
        </p:nvSpPr>
        <p:spPr>
          <a:xfrm>
            <a:off x="548640" y="5943600"/>
            <a:ext cx="6766560" cy="365760"/>
          </a:xfrm>
          <a:prstGeom prst="rect">
            <a:avLst/>
          </a:prstGeom>
          <a:noFill/>
        </p:spPr>
        <p:txBody>
          <a:bodyPr wrap="square" lIns="0" rIns="0" tIns="18288" bIns="18288" anchor="t">
            <a:spAutoFit/>
          </a:bodyPr>
          <a:lstStyle/>
          <a:p>
            <a:pPr algn="l">
              <a:lnSpc>
                <a:spcPct val="112000"/>
              </a:lnSpc>
            </a:pPr>
            <a:r>
              <a:rPr sz="1400" b="0" i="0">
                <a:solidFill>
                  <a:srgbClr val="94A3B8"/>
                </a:solidFill>
                <a:latin typeface="Arial"/>
              </a:rPr>
              <a:t>Transformers.js 4.3.1 in a Web Worker · service worker for the app shell · models in Cache Storage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ABOUT ME</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Hi, I'm Maxim</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3</a:t>
            </a:r>
          </a:p>
        </p:txBody>
      </p:sp>
      <p:pic>
        <p:nvPicPr>
          <p:cNvPr id="5" name="Picture 4" descr="maxim-crop.jpg"/>
          <p:cNvPicPr>
            <a:picLocks noChangeAspect="1"/>
          </p:cNvPicPr>
          <p:nvPr/>
        </p:nvPicPr>
        <p:blipFill>
          <a:blip r:embed="rId2"/>
          <a:stretch>
            <a:fillRect/>
          </a:stretch>
        </p:blipFill>
        <p:spPr>
          <a:xfrm>
            <a:off x="7589520" y="1463040"/>
            <a:ext cx="4010014" cy="4663440"/>
          </a:xfrm>
          <a:prstGeom prst="rect">
            <a:avLst/>
          </a:prstGeom>
        </p:spPr>
      </p:pic>
      <p:sp>
        <p:nvSpPr>
          <p:cNvPr id="6" name="TextBox 5"/>
          <p:cNvSpPr txBox="1"/>
          <p:nvPr/>
        </p:nvSpPr>
        <p:spPr>
          <a:xfrm>
            <a:off x="548640" y="1554480"/>
            <a:ext cx="6766560" cy="731520"/>
          </a:xfrm>
          <a:prstGeom prst="rect">
            <a:avLst/>
          </a:prstGeom>
          <a:noFill/>
        </p:spPr>
        <p:txBody>
          <a:bodyPr wrap="square" lIns="0" rIns="0" tIns="18288" bIns="18288" anchor="t">
            <a:spAutoFit/>
          </a:bodyPr>
          <a:lstStyle/>
          <a:p>
            <a:pPr algn="l">
              <a:lnSpc>
                <a:spcPct val="112000"/>
              </a:lnSpc>
            </a:pPr>
            <a:r>
              <a:rPr sz="2200" b="1" i="0">
                <a:solidFill>
                  <a:srgbClr val="0E7490"/>
                </a:solidFill>
                <a:latin typeface="Arial"/>
              </a:rPr>
              <a:t>AI-Native Solution Engineer at Microsoft · Oslo</a:t>
            </a:r>
          </a:p>
        </p:txBody>
      </p:sp>
      <p:sp>
        <p:nvSpPr>
          <p:cNvPr id="7" name="TextBox 6"/>
          <p:cNvSpPr txBox="1"/>
          <p:nvPr/>
        </p:nvSpPr>
        <p:spPr>
          <a:xfrm>
            <a:off x="548640" y="2240280"/>
            <a:ext cx="6766560" cy="3291840"/>
          </a:xfrm>
          <a:prstGeom prst="rect">
            <a:avLst/>
          </a:prstGeom>
          <a:noFill/>
        </p:spPr>
        <p:txBody>
          <a:bodyPr wrap="square" lIns="0" rIns="0" tIns="18288" bIns="18288" anchor="t">
            <a:spAutoFit/>
          </a:bodyPr>
          <a:lstStyle/>
          <a:p>
            <a:pPr algn="l">
              <a:lnSpc>
                <a:spcPct val="112000"/>
              </a:lnSpc>
            </a:pPr>
            <a:r>
              <a:rPr sz="2000" b="1" i="0">
                <a:solidFill>
                  <a:srgbClr val="0891B2"/>
                </a:solidFill>
                <a:latin typeface="Arial"/>
              </a:rPr>
              <a:t>▸  </a:t>
            </a:r>
            <a:r>
              <a:rPr sz="2000" b="0" i="0">
                <a:solidFill>
                  <a:srgbClr val="0F172A"/>
                </a:solidFill>
                <a:latin typeface="Arial"/>
              </a:rPr>
              <a:t>Building on the web platform since the 90s</a:t>
            </a:r>
          </a:p>
          <a:p>
            <a:pPr algn="l">
              <a:lnSpc>
                <a:spcPct val="112000"/>
              </a:lnSpc>
              <a:spcBef>
                <a:spcPts val="1000"/>
              </a:spcBef>
            </a:pPr>
            <a:r>
              <a:rPr sz="2000" b="1" i="0">
                <a:solidFill>
                  <a:srgbClr val="0891B2"/>
                </a:solidFill>
                <a:latin typeface="Arial"/>
              </a:rPr>
              <a:t>▸  </a:t>
            </a:r>
            <a:r>
              <a:rPr sz="2000" b="0" i="0">
                <a:solidFill>
                  <a:srgbClr val="0F172A"/>
                </a:solidFill>
                <a:latin typeface="Arial"/>
              </a:rPr>
              <a:t>Member of the W3C Web Machine Learning Community Group</a:t>
            </a:r>
          </a:p>
          <a:p>
            <a:pPr algn="l">
              <a:lnSpc>
                <a:spcPct val="112000"/>
              </a:lnSpc>
              <a:spcBef>
                <a:spcPts val="1000"/>
              </a:spcBef>
            </a:pPr>
            <a:r>
              <a:rPr sz="2000" b="1" i="0">
                <a:solidFill>
                  <a:srgbClr val="0891B2"/>
                </a:solidFill>
                <a:latin typeface="Arial"/>
              </a:rPr>
              <a:t>▸  </a:t>
            </a:r>
            <a:r>
              <a:rPr sz="2000" b="0" i="0">
                <a:solidFill>
                  <a:srgbClr val="0F172A"/>
                </a:solidFill>
                <a:latin typeface="Arial"/>
              </a:rPr>
              <a:t>Organizing developer communities and technical conferences</a:t>
            </a:r>
          </a:p>
          <a:p>
            <a:pPr algn="l">
              <a:lnSpc>
                <a:spcPct val="112000"/>
              </a:lnSpc>
              <a:spcBef>
                <a:spcPts val="1000"/>
              </a:spcBef>
            </a:pPr>
            <a:r>
              <a:rPr sz="2000" b="1" i="0">
                <a:solidFill>
                  <a:srgbClr val="0891B2"/>
                </a:solidFill>
                <a:latin typeface="Arial"/>
              </a:rPr>
              <a:t>▸  </a:t>
            </a:r>
            <a:r>
              <a:rPr sz="2000" b="0" i="0">
                <a:solidFill>
                  <a:srgbClr val="0F172A"/>
                </a:solidFill>
                <a:latin typeface="Arial"/>
              </a:rPr>
              <a:t>Speaking, training, blogging: web dev, cloud, generative AI</a:t>
            </a:r>
          </a:p>
          <a:p>
            <a:pPr algn="l">
              <a:lnSpc>
                <a:spcPct val="112000"/>
              </a:lnSpc>
              <a:spcBef>
                <a:spcPts val="1000"/>
              </a:spcBef>
            </a:pPr>
            <a:r>
              <a:rPr sz="2000" b="1" i="0">
                <a:solidFill>
                  <a:srgbClr val="0891B2"/>
                </a:solidFill>
                <a:latin typeface="Arial"/>
              </a:rPr>
              <a:t>▸  </a:t>
            </a:r>
            <a:r>
              <a:rPr sz="2000" b="0" i="0">
                <a:solidFill>
                  <a:srgbClr val="0F172A"/>
                </a:solidFill>
                <a:latin typeface="Arial"/>
              </a:rPr>
              <a:t>Author of “Tools, Not Clicks” (WebMCP) · </a:t>
            </a:r>
            <a:r>
              <a:rPr sz="2000" b="0" i="0">
                <a:solidFill>
                  <a:srgbClr val="0E7490"/>
                </a:solidFill>
                <a:latin typeface="Arial"/>
                <a:hlinkClick r:id="rId3"/>
              </a:rPr>
              <a:t>vibeprogrammer.github.io/webmcp-book</a:t>
            </a:r>
          </a:p>
          <a:p>
            <a:pPr algn="l">
              <a:lnSpc>
                <a:spcPct val="112000"/>
              </a:lnSpc>
              <a:spcBef>
                <a:spcPts val="1000"/>
              </a:spcBef>
            </a:pPr>
            <a:r>
              <a:rPr sz="2000" b="1" i="0">
                <a:solidFill>
                  <a:srgbClr val="0891B2"/>
                </a:solidFill>
                <a:latin typeface="Arial"/>
              </a:rPr>
              <a:t>▸  </a:t>
            </a:r>
            <a:r>
              <a:rPr sz="2000" b="0" i="0">
                <a:solidFill>
                  <a:srgbClr val="0F172A"/>
                </a:solidFill>
                <a:latin typeface="Arial"/>
              </a:rPr>
              <a:t>Newsletter: </a:t>
            </a:r>
            <a:r>
              <a:rPr sz="2000" b="0" i="0">
                <a:solidFill>
                  <a:srgbClr val="0E7490"/>
                </a:solidFill>
                <a:latin typeface="Arial"/>
                <a:hlinkClick r:id="rId4"/>
              </a:rPr>
              <a:t>isainative.substack.com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WHY ON-DEVICE</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Why run AI on the user's device?</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4</a:t>
            </a:r>
          </a:p>
        </p:txBody>
      </p:sp>
      <p:sp>
        <p:nvSpPr>
          <p:cNvPr id="5" name="Rectangle 4"/>
          <p:cNvSpPr/>
          <p:nvPr/>
        </p:nvSpPr>
        <p:spPr>
          <a:xfrm>
            <a:off x="548640" y="1691640"/>
            <a:ext cx="2633472" cy="8229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874519"/>
            <a:ext cx="2633472" cy="31546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600" b="1" i="0">
                <a:solidFill>
                  <a:srgbClr val="0E7490"/>
                </a:solidFill>
                <a:latin typeface="Arial"/>
              </a:rPr>
              <a:t>Privacy</a:t>
            </a:r>
          </a:p>
          <a:p>
            <a:pPr algn="l">
              <a:lnSpc>
                <a:spcPct val="112000"/>
              </a:lnSpc>
              <a:spcBef>
                <a:spcPts val="600"/>
              </a:spcBef>
            </a:pPr>
            <a:r>
              <a:rPr sz="1800" b="0" i="0">
                <a:solidFill>
                  <a:srgbClr val="0F172A"/>
                </a:solidFill>
                <a:latin typeface="Arial"/>
              </a:rPr>
              <a:t>Inference runs locally. Chrome's docs on its built-in model: “No data is sent to Google or any third party when using the model.”</a:t>
            </a:r>
          </a:p>
        </p:txBody>
      </p:sp>
      <p:sp>
        <p:nvSpPr>
          <p:cNvPr id="7" name="Rectangle 6"/>
          <p:cNvSpPr/>
          <p:nvPr/>
        </p:nvSpPr>
        <p:spPr>
          <a:xfrm>
            <a:off x="3364992" y="1691640"/>
            <a:ext cx="2633472" cy="8229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364992" y="1874519"/>
            <a:ext cx="2633472" cy="31546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600" b="1" i="0">
                <a:solidFill>
                  <a:srgbClr val="0E7490"/>
                </a:solidFill>
                <a:latin typeface="Arial"/>
              </a:rPr>
              <a:t>Offline</a:t>
            </a:r>
          </a:p>
          <a:p>
            <a:pPr algn="l">
              <a:lnSpc>
                <a:spcPct val="112000"/>
              </a:lnSpc>
              <a:spcBef>
                <a:spcPts val="600"/>
              </a:spcBef>
            </a:pPr>
            <a:r>
              <a:rPr sz="1800" b="0" i="0">
                <a:solidFill>
                  <a:srgbClr val="0F172A"/>
                </a:solidFill>
                <a:latin typeface="Arial"/>
              </a:rPr>
              <a:t>After the first load, a service worker plus Cache Storage keep the app and its models on the device.</a:t>
            </a:r>
          </a:p>
        </p:txBody>
      </p:sp>
      <p:sp>
        <p:nvSpPr>
          <p:cNvPr id="9" name="Rectangle 8"/>
          <p:cNvSpPr/>
          <p:nvPr/>
        </p:nvSpPr>
        <p:spPr>
          <a:xfrm>
            <a:off x="6181344" y="1691640"/>
            <a:ext cx="2633472" cy="8229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181344" y="1874519"/>
            <a:ext cx="2633472" cy="31546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600" b="1" i="0">
                <a:solidFill>
                  <a:srgbClr val="0E7490"/>
                </a:solidFill>
                <a:latin typeface="Arial"/>
              </a:rPr>
              <a:t>Cost</a:t>
            </a:r>
          </a:p>
          <a:p>
            <a:pPr algn="l">
              <a:lnSpc>
                <a:spcPct val="112000"/>
              </a:lnSpc>
              <a:spcBef>
                <a:spcPts val="600"/>
              </a:spcBef>
            </a:pPr>
            <a:r>
              <a:rPr sz="1800" b="0" i="0">
                <a:solidFill>
                  <a:srgbClr val="0F172A"/>
                </a:solidFill>
                <a:latin typeface="Arial"/>
              </a:rPr>
              <a:t>No per-request cloud bill. The user's CPU, GPU or NPU does the work.</a:t>
            </a:r>
          </a:p>
        </p:txBody>
      </p:sp>
      <p:sp>
        <p:nvSpPr>
          <p:cNvPr id="11" name="Rectangle 10"/>
          <p:cNvSpPr/>
          <p:nvPr/>
        </p:nvSpPr>
        <p:spPr>
          <a:xfrm>
            <a:off x="8997696" y="1691640"/>
            <a:ext cx="2633472" cy="8229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997696" y="1874519"/>
            <a:ext cx="2633472" cy="31546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600" b="1" i="0">
                <a:solidFill>
                  <a:srgbClr val="0E7490"/>
                </a:solidFill>
                <a:latin typeface="Arial"/>
              </a:rPr>
              <a:t>Latency</a:t>
            </a:r>
          </a:p>
          <a:p>
            <a:pPr algn="l">
              <a:lnSpc>
                <a:spcPct val="112000"/>
              </a:lnSpc>
              <a:spcBef>
                <a:spcPts val="600"/>
              </a:spcBef>
            </a:pPr>
            <a:r>
              <a:rPr sz="1800" b="0" i="0">
                <a:solidFill>
                  <a:srgbClr val="0F172A"/>
                </a:solidFill>
                <a:latin typeface="Arial"/>
              </a:rPr>
              <a:t>No round trip. Camera frames, audio and text never leave the tab.</a:t>
            </a:r>
          </a:p>
        </p:txBody>
      </p:sp>
      <p:sp>
        <p:nvSpPr>
          <p:cNvPr id="13" name="Rounded Rectangle 12"/>
          <p:cNvSpPr/>
          <p:nvPr/>
        </p:nvSpPr>
        <p:spPr>
          <a:xfrm>
            <a:off x="548640" y="5303520"/>
            <a:ext cx="11091672" cy="86868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5376672"/>
            <a:ext cx="10698480" cy="731520"/>
          </a:xfrm>
          <a:prstGeom prst="rect">
            <a:avLst/>
          </a:prstGeom>
          <a:noFill/>
        </p:spPr>
        <p:txBody>
          <a:bodyPr wrap="square" lIns="0" rIns="0" tIns="18288" bIns="18288" anchor="ctr">
            <a:spAutoFit/>
          </a:bodyPr>
          <a:lstStyle/>
          <a:p>
            <a:pPr algn="l">
              <a:lnSpc>
                <a:spcPct val="112000"/>
              </a:lnSpc>
            </a:pPr>
            <a:r>
              <a:rPr sz="1900" b="1" i="0">
                <a:solidFill>
                  <a:srgbClr val="0E7490"/>
                </a:solidFill>
                <a:latin typeface="Arial"/>
              </a:rPr>
              <a:t>The price: </a:t>
            </a:r>
            <a:r>
              <a:rPr sz="1900" b="0" i="0">
                <a:solidFill>
                  <a:srgbClr val="0F172A"/>
                </a:solidFill>
                <a:latin typeface="Arial"/>
              </a:rPr>
              <a:t>model downloads, very different hardware, and APIs that are not shipped everywhere yet. This talk is about managing that price.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TIMELINE</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What changed: 2023 → 2026</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5</a:t>
            </a:r>
          </a:p>
        </p:txBody>
      </p:sp>
      <p:sp>
        <p:nvSpPr>
          <p:cNvPr id="5" name="Rectangle 4"/>
          <p:cNvSpPr/>
          <p:nvPr/>
        </p:nvSpPr>
        <p:spPr>
          <a:xfrm>
            <a:off x="731520" y="3246120"/>
            <a:ext cx="10698480" cy="54864"/>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31520" y="3090672"/>
            <a:ext cx="365760" cy="36576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691640"/>
            <a:ext cx="2560320" cy="731520"/>
          </a:xfrm>
          <a:prstGeom prst="rect">
            <a:avLst/>
          </a:prstGeom>
          <a:noFill/>
        </p:spPr>
        <p:txBody>
          <a:bodyPr wrap="square" lIns="0" rIns="0" tIns="18288" bIns="18288" anchor="t">
            <a:spAutoFit/>
          </a:bodyPr>
          <a:lstStyle/>
          <a:p>
            <a:pPr algn="l">
              <a:lnSpc>
                <a:spcPct val="112000"/>
              </a:lnSpc>
            </a:pPr>
            <a:r>
              <a:rPr sz="4000" b="1" i="0">
                <a:solidFill>
                  <a:srgbClr val="0E7490"/>
                </a:solidFill>
                <a:latin typeface="Arial"/>
              </a:rPr>
              <a:t>2023</a:t>
            </a:r>
          </a:p>
        </p:txBody>
      </p:sp>
      <p:sp>
        <p:nvSpPr>
          <p:cNvPr id="8" name="TextBox 7"/>
          <p:cNvSpPr txBox="1"/>
          <p:nvPr/>
        </p:nvSpPr>
        <p:spPr>
          <a:xfrm>
            <a:off x="731520" y="3794760"/>
            <a:ext cx="2560320" cy="2377440"/>
          </a:xfrm>
          <a:prstGeom prst="rect">
            <a:avLst/>
          </a:prstGeom>
          <a:noFill/>
        </p:spPr>
        <p:txBody>
          <a:bodyPr wrap="square" lIns="0" rIns="0" tIns="18288" bIns="18288" anchor="t">
            <a:spAutoFit/>
          </a:bodyPr>
          <a:lstStyle/>
          <a:p>
            <a:pPr algn="l">
              <a:lnSpc>
                <a:spcPct val="112000"/>
              </a:lnSpc>
            </a:pPr>
            <a:r>
              <a:rPr sz="2000" b="1" i="0">
                <a:solidFill>
                  <a:srgbClr val="0F172A"/>
                </a:solidFill>
                <a:latin typeface="Arial"/>
              </a:rPr>
              <a:t>WebGPU ships</a:t>
            </a:r>
          </a:p>
          <a:p>
            <a:pPr algn="l">
              <a:lnSpc>
                <a:spcPct val="112000"/>
              </a:lnSpc>
              <a:spcBef>
                <a:spcPts val="600"/>
              </a:spcBef>
            </a:pPr>
            <a:r>
              <a:rPr sz="1700" b="0" i="0">
                <a:solidFill>
                  <a:srgbClr val="475569"/>
                </a:solidFill>
                <a:latin typeface="Arial"/>
              </a:rPr>
              <a:t>Chrome &amp; Edge 113 on ChromeOS, macOS, Windows</a:t>
            </a:r>
          </a:p>
        </p:txBody>
      </p:sp>
      <p:sp>
        <p:nvSpPr>
          <p:cNvPr id="9" name="Oval 8"/>
          <p:cNvSpPr/>
          <p:nvPr/>
        </p:nvSpPr>
        <p:spPr>
          <a:xfrm>
            <a:off x="3474720" y="3090672"/>
            <a:ext cx="365760" cy="36576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74720" y="1691640"/>
            <a:ext cx="2560320" cy="731520"/>
          </a:xfrm>
          <a:prstGeom prst="rect">
            <a:avLst/>
          </a:prstGeom>
          <a:noFill/>
        </p:spPr>
        <p:txBody>
          <a:bodyPr wrap="square" lIns="0" rIns="0" tIns="18288" bIns="18288" anchor="t">
            <a:spAutoFit/>
          </a:bodyPr>
          <a:lstStyle/>
          <a:p>
            <a:pPr algn="l">
              <a:lnSpc>
                <a:spcPct val="112000"/>
              </a:lnSpc>
            </a:pPr>
            <a:r>
              <a:rPr sz="4000" b="1" i="0">
                <a:solidFill>
                  <a:srgbClr val="0E7490"/>
                </a:solidFill>
                <a:latin typeface="Arial"/>
              </a:rPr>
              <a:t>2024</a:t>
            </a:r>
          </a:p>
        </p:txBody>
      </p:sp>
      <p:sp>
        <p:nvSpPr>
          <p:cNvPr id="11" name="TextBox 10"/>
          <p:cNvSpPr txBox="1"/>
          <p:nvPr/>
        </p:nvSpPr>
        <p:spPr>
          <a:xfrm>
            <a:off x="3474720" y="3794760"/>
            <a:ext cx="2560320" cy="2377440"/>
          </a:xfrm>
          <a:prstGeom prst="rect">
            <a:avLst/>
          </a:prstGeom>
          <a:noFill/>
        </p:spPr>
        <p:txBody>
          <a:bodyPr wrap="square" lIns="0" rIns="0" tIns="18288" bIns="18288" anchor="t">
            <a:spAutoFit/>
          </a:bodyPr>
          <a:lstStyle/>
          <a:p>
            <a:pPr algn="l">
              <a:lnSpc>
                <a:spcPct val="112000"/>
              </a:lnSpc>
            </a:pPr>
            <a:r>
              <a:rPr sz="2000" b="1" i="0">
                <a:solidFill>
                  <a:srgbClr val="0F172A"/>
                </a:solidFill>
                <a:latin typeface="Arial"/>
              </a:rPr>
              <a:t>WebNN dev trial</a:t>
            </a:r>
          </a:p>
          <a:p>
            <a:pPr algn="l">
              <a:lnSpc>
                <a:spcPct val="112000"/>
              </a:lnSpc>
              <a:spcBef>
                <a:spcPts val="600"/>
              </a:spcBef>
            </a:pPr>
            <a:r>
              <a:rPr sz="1700" b="0" i="0">
                <a:solidFill>
                  <a:srgbClr val="475569"/>
                </a:solidFill>
                <a:latin typeface="Arial"/>
              </a:rPr>
              <a:t>Chrome 125, behind a flag</a:t>
            </a:r>
          </a:p>
        </p:txBody>
      </p:sp>
      <p:sp>
        <p:nvSpPr>
          <p:cNvPr id="12" name="Oval 11"/>
          <p:cNvSpPr/>
          <p:nvPr/>
        </p:nvSpPr>
        <p:spPr>
          <a:xfrm>
            <a:off x="6217920" y="3090672"/>
            <a:ext cx="365760" cy="36576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17920" y="1691640"/>
            <a:ext cx="2560320" cy="731520"/>
          </a:xfrm>
          <a:prstGeom prst="rect">
            <a:avLst/>
          </a:prstGeom>
          <a:noFill/>
        </p:spPr>
        <p:txBody>
          <a:bodyPr wrap="square" lIns="0" rIns="0" tIns="18288" bIns="18288" anchor="t">
            <a:spAutoFit/>
          </a:bodyPr>
          <a:lstStyle/>
          <a:p>
            <a:pPr algn="l">
              <a:lnSpc>
                <a:spcPct val="112000"/>
              </a:lnSpc>
            </a:pPr>
            <a:r>
              <a:rPr sz="4000" b="1" i="0">
                <a:solidFill>
                  <a:srgbClr val="0E7490"/>
                </a:solidFill>
                <a:latin typeface="Arial"/>
              </a:rPr>
              <a:t>2025</a:t>
            </a:r>
          </a:p>
        </p:txBody>
      </p:sp>
      <p:sp>
        <p:nvSpPr>
          <p:cNvPr id="14" name="TextBox 13"/>
          <p:cNvSpPr txBox="1"/>
          <p:nvPr/>
        </p:nvSpPr>
        <p:spPr>
          <a:xfrm>
            <a:off x="6217920" y="3794760"/>
            <a:ext cx="2560320" cy="2377440"/>
          </a:xfrm>
          <a:prstGeom prst="rect">
            <a:avLst/>
          </a:prstGeom>
          <a:noFill/>
        </p:spPr>
        <p:txBody>
          <a:bodyPr wrap="square" lIns="0" rIns="0" tIns="18288" bIns="18288" anchor="t">
            <a:spAutoFit/>
          </a:bodyPr>
          <a:lstStyle/>
          <a:p>
            <a:pPr algn="l">
              <a:lnSpc>
                <a:spcPct val="112000"/>
              </a:lnSpc>
            </a:pPr>
            <a:r>
              <a:rPr sz="2000" b="1" i="0">
                <a:solidFill>
                  <a:srgbClr val="0F172A"/>
                </a:solidFill>
                <a:latin typeface="Arial"/>
              </a:rPr>
              <a:t>Built-in AI + WebGPU everywhere</a:t>
            </a:r>
          </a:p>
          <a:p>
            <a:pPr algn="l">
              <a:lnSpc>
                <a:spcPct val="112000"/>
              </a:lnSpc>
              <a:spcBef>
                <a:spcPts val="600"/>
              </a:spcBef>
            </a:pPr>
            <a:r>
              <a:rPr sz="1700" b="0" i="0">
                <a:solidFill>
                  <a:srgbClr val="475569"/>
                </a:solidFill>
                <a:latin typeface="Arial"/>
              </a:rPr>
              <a:t>Translator, Language Detector, Summarizer stable in Chrome 138 · WebGPU in Firefox 141 and Safari 26</a:t>
            </a:r>
          </a:p>
        </p:txBody>
      </p:sp>
      <p:sp>
        <p:nvSpPr>
          <p:cNvPr id="15" name="Oval 14"/>
          <p:cNvSpPr/>
          <p:nvPr/>
        </p:nvSpPr>
        <p:spPr>
          <a:xfrm>
            <a:off x="8961120" y="3090672"/>
            <a:ext cx="365760" cy="36576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961120" y="1691640"/>
            <a:ext cx="2560320" cy="731520"/>
          </a:xfrm>
          <a:prstGeom prst="rect">
            <a:avLst/>
          </a:prstGeom>
          <a:noFill/>
        </p:spPr>
        <p:txBody>
          <a:bodyPr wrap="square" lIns="0" rIns="0" tIns="18288" bIns="18288" anchor="t">
            <a:spAutoFit/>
          </a:bodyPr>
          <a:lstStyle/>
          <a:p>
            <a:pPr algn="l">
              <a:lnSpc>
                <a:spcPct val="112000"/>
              </a:lnSpc>
            </a:pPr>
            <a:r>
              <a:rPr sz="4000" b="1" i="0">
                <a:solidFill>
                  <a:srgbClr val="0E7490"/>
                </a:solidFill>
                <a:latin typeface="Arial"/>
              </a:rPr>
              <a:t>2026</a:t>
            </a:r>
          </a:p>
        </p:txBody>
      </p:sp>
      <p:sp>
        <p:nvSpPr>
          <p:cNvPr id="17" name="TextBox 16"/>
          <p:cNvSpPr txBox="1"/>
          <p:nvPr/>
        </p:nvSpPr>
        <p:spPr>
          <a:xfrm>
            <a:off x="8961120" y="3794760"/>
            <a:ext cx="2560320" cy="2377440"/>
          </a:xfrm>
          <a:prstGeom prst="rect">
            <a:avLst/>
          </a:prstGeom>
          <a:noFill/>
        </p:spPr>
        <p:txBody>
          <a:bodyPr wrap="square" lIns="0" rIns="0" tIns="18288" bIns="18288" anchor="t">
            <a:spAutoFit/>
          </a:bodyPr>
          <a:lstStyle/>
          <a:p>
            <a:pPr algn="l">
              <a:lnSpc>
                <a:spcPct val="112000"/>
              </a:lnSpc>
            </a:pPr>
            <a:r>
              <a:rPr sz="2000" b="1" i="0">
                <a:solidFill>
                  <a:srgbClr val="0F172A"/>
                </a:solidFill>
                <a:latin typeface="Arial"/>
              </a:rPr>
              <a:t>Prompt API stable · WebNN in CR</a:t>
            </a:r>
          </a:p>
          <a:p>
            <a:pPr algn="l">
              <a:lnSpc>
                <a:spcPct val="112000"/>
              </a:lnSpc>
              <a:spcBef>
                <a:spcPts val="600"/>
              </a:spcBef>
            </a:pPr>
            <a:r>
              <a:rPr sz="1700" b="0" i="0">
                <a:solidFill>
                  <a:srgbClr val="475569"/>
                </a:solidFill>
                <a:latin typeface="Arial"/>
              </a:rPr>
              <a:t>Prompt API on the web in Chrome 148 · WebNN CR Snapshot 22 Jan · Edge 148 ships Translator</a:t>
            </a:r>
          </a:p>
        </p:txBody>
      </p:sp>
      <p:sp>
        <p:nvSpPr>
          <p:cNvPr id="18" name="TextBox 17"/>
          <p:cNvSpPr txBox="1"/>
          <p:nvPr/>
        </p:nvSpPr>
        <p:spPr>
          <a:xfrm>
            <a:off x="731520" y="2514600"/>
            <a:ext cx="10515600" cy="457200"/>
          </a:xfrm>
          <a:prstGeom prst="rect">
            <a:avLst/>
          </a:prstGeom>
          <a:noFill/>
        </p:spPr>
        <p:txBody>
          <a:bodyPr wrap="square" lIns="0" rIns="0" tIns="18288" bIns="18288" anchor="t">
            <a:spAutoFit/>
          </a:bodyPr>
          <a:lstStyle/>
          <a:p>
            <a:pPr algn="l">
              <a:lnSpc>
                <a:spcPct val="112000"/>
              </a:lnSpc>
            </a:pPr>
            <a:r>
              <a:rPr sz="1800" b="0" i="1">
                <a:solidFill>
                  <a:srgbClr val="475569"/>
                </a:solidFill>
                <a:latin typeface="Arial"/>
              </a:rPr>
              <a:t>GPUs became reachable → NPUs arrived in laptops → browsers started shipping their own models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HARDWARE</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CPU, GPU or NPU?</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6</a:t>
            </a:r>
          </a:p>
        </p:txBody>
      </p:sp>
      <p:sp>
        <p:nvSpPr>
          <p:cNvPr id="5" name="Rounded Rectangle 4"/>
          <p:cNvSpPr/>
          <p:nvPr/>
        </p:nvSpPr>
        <p:spPr>
          <a:xfrm>
            <a:off x="548640" y="1691640"/>
            <a:ext cx="3566160" cy="443484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874519"/>
            <a:ext cx="3017520" cy="731520"/>
          </a:xfrm>
          <a:prstGeom prst="rect">
            <a:avLst/>
          </a:prstGeom>
          <a:noFill/>
        </p:spPr>
        <p:txBody>
          <a:bodyPr wrap="square" lIns="0" rIns="0" tIns="18288" bIns="18288" anchor="t">
            <a:spAutoFit/>
          </a:bodyPr>
          <a:lstStyle/>
          <a:p>
            <a:pPr algn="l">
              <a:lnSpc>
                <a:spcPct val="112000"/>
              </a:lnSpc>
            </a:pPr>
            <a:r>
              <a:rPr sz="4800" b="1" i="0">
                <a:solidFill>
                  <a:srgbClr val="0E7490"/>
                </a:solidFill>
                <a:latin typeface="Arial"/>
              </a:rPr>
              <a:t>CPU</a:t>
            </a:r>
          </a:p>
        </p:txBody>
      </p:sp>
      <p:sp>
        <p:nvSpPr>
          <p:cNvPr id="7" name="TextBox 6"/>
          <p:cNvSpPr txBox="1"/>
          <p:nvPr/>
        </p:nvSpPr>
        <p:spPr>
          <a:xfrm>
            <a:off x="822959" y="2697480"/>
            <a:ext cx="3017520" cy="457200"/>
          </a:xfrm>
          <a:prstGeom prst="rect">
            <a:avLst/>
          </a:prstGeom>
          <a:noFill/>
        </p:spPr>
        <p:txBody>
          <a:bodyPr wrap="square" lIns="0" rIns="0" tIns="18288" bIns="18288" anchor="t">
            <a:spAutoFit/>
          </a:bodyPr>
          <a:lstStyle/>
          <a:p>
            <a:pPr algn="l">
              <a:lnSpc>
                <a:spcPct val="112000"/>
              </a:lnSpc>
            </a:pPr>
            <a:r>
              <a:rPr sz="2200" b="1" i="0">
                <a:solidFill>
                  <a:srgbClr val="0F172A"/>
                </a:solidFill>
                <a:latin typeface="Arial"/>
              </a:rPr>
              <a:t>Always there</a:t>
            </a:r>
          </a:p>
        </p:txBody>
      </p:sp>
      <p:sp>
        <p:nvSpPr>
          <p:cNvPr id="8" name="TextBox 7"/>
          <p:cNvSpPr txBox="1"/>
          <p:nvPr/>
        </p:nvSpPr>
        <p:spPr>
          <a:xfrm>
            <a:off x="822959" y="3291840"/>
            <a:ext cx="3063240" cy="2743200"/>
          </a:xfrm>
          <a:prstGeom prst="rect">
            <a:avLst/>
          </a:prstGeom>
          <a:noFill/>
        </p:spPr>
        <p:txBody>
          <a:bodyPr wrap="square" lIns="0" rIns="0" tIns="18288" bIns="18288" anchor="t">
            <a:spAutoFit/>
          </a:bodyPr>
          <a:lstStyle/>
          <a:p>
            <a:pPr algn="l">
              <a:lnSpc>
                <a:spcPct val="112000"/>
              </a:lnSpc>
            </a:pPr>
            <a:r>
              <a:rPr sz="1800" b="1" i="0">
                <a:solidFill>
                  <a:srgbClr val="0891B2"/>
                </a:solidFill>
                <a:latin typeface="Arial"/>
              </a:rPr>
              <a:t>▸  </a:t>
            </a:r>
            <a:r>
              <a:rPr sz="1800" b="0" i="0">
                <a:solidFill>
                  <a:srgbClr val="0F172A"/>
                </a:solidFill>
                <a:latin typeface="Arial"/>
              </a:rPr>
              <a:t>Reached through WebAssembly (SIMD, threads)</a:t>
            </a:r>
          </a:p>
          <a:p>
            <a:pPr algn="l">
              <a:lnSpc>
                <a:spcPct val="112000"/>
              </a:lnSpc>
              <a:spcBef>
                <a:spcPts val="1000"/>
              </a:spcBef>
            </a:pPr>
            <a:r>
              <a:rPr sz="1800" b="1" i="0">
                <a:solidFill>
                  <a:srgbClr val="0891B2"/>
                </a:solidFill>
                <a:latin typeface="Arial"/>
              </a:rPr>
              <a:t>▸  </a:t>
            </a:r>
            <a:r>
              <a:rPr sz="1800" b="0" i="0">
                <a:solidFill>
                  <a:srgbClr val="0F172A"/>
                </a:solidFill>
                <a:latin typeface="Arial"/>
              </a:rPr>
              <a:t>The universal fallback</a:t>
            </a:r>
          </a:p>
          <a:p>
            <a:pPr algn="l">
              <a:lnSpc>
                <a:spcPct val="112000"/>
              </a:lnSpc>
              <a:spcBef>
                <a:spcPts val="1000"/>
              </a:spcBef>
            </a:pPr>
            <a:r>
              <a:rPr sz="1800" b="1" i="0">
                <a:solidFill>
                  <a:srgbClr val="0891B2"/>
                </a:solidFill>
                <a:latin typeface="Arial"/>
              </a:rPr>
              <a:t>▸  </a:t>
            </a:r>
            <a:r>
              <a:rPr sz="1800" b="0" i="0">
                <a:solidFill>
                  <a:srgbClr val="0F172A"/>
                </a:solidFill>
                <a:latin typeface="Arial"/>
              </a:rPr>
              <a:t>Transformers.js default in the browser: wasm</a:t>
            </a:r>
          </a:p>
        </p:txBody>
      </p:sp>
      <p:sp>
        <p:nvSpPr>
          <p:cNvPr id="9" name="Rounded Rectangle 8"/>
          <p:cNvSpPr/>
          <p:nvPr/>
        </p:nvSpPr>
        <p:spPr>
          <a:xfrm>
            <a:off x="4297679" y="1691640"/>
            <a:ext cx="3566160" cy="443484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1999" y="1874519"/>
            <a:ext cx="3017520" cy="731520"/>
          </a:xfrm>
          <a:prstGeom prst="rect">
            <a:avLst/>
          </a:prstGeom>
          <a:noFill/>
        </p:spPr>
        <p:txBody>
          <a:bodyPr wrap="square" lIns="0" rIns="0" tIns="18288" bIns="18288" anchor="t">
            <a:spAutoFit/>
          </a:bodyPr>
          <a:lstStyle/>
          <a:p>
            <a:pPr algn="l">
              <a:lnSpc>
                <a:spcPct val="112000"/>
              </a:lnSpc>
            </a:pPr>
            <a:r>
              <a:rPr sz="4800" b="1" i="0">
                <a:solidFill>
                  <a:srgbClr val="0E7490"/>
                </a:solidFill>
                <a:latin typeface="Arial"/>
              </a:rPr>
              <a:t>GPU</a:t>
            </a:r>
          </a:p>
        </p:txBody>
      </p:sp>
      <p:sp>
        <p:nvSpPr>
          <p:cNvPr id="11" name="TextBox 10"/>
          <p:cNvSpPr txBox="1"/>
          <p:nvPr/>
        </p:nvSpPr>
        <p:spPr>
          <a:xfrm>
            <a:off x="4571999" y="2697480"/>
            <a:ext cx="3017520" cy="457200"/>
          </a:xfrm>
          <a:prstGeom prst="rect">
            <a:avLst/>
          </a:prstGeom>
          <a:noFill/>
        </p:spPr>
        <p:txBody>
          <a:bodyPr wrap="square" lIns="0" rIns="0" tIns="18288" bIns="18288" anchor="t">
            <a:spAutoFit/>
          </a:bodyPr>
          <a:lstStyle/>
          <a:p>
            <a:pPr algn="l">
              <a:lnSpc>
                <a:spcPct val="112000"/>
              </a:lnSpc>
            </a:pPr>
            <a:r>
              <a:rPr sz="2200" b="1" i="0">
                <a:solidFill>
                  <a:srgbClr val="0F172A"/>
                </a:solidFill>
                <a:latin typeface="Arial"/>
              </a:rPr>
              <a:t>Massively parallel</a:t>
            </a:r>
          </a:p>
        </p:txBody>
      </p:sp>
      <p:sp>
        <p:nvSpPr>
          <p:cNvPr id="12" name="TextBox 11"/>
          <p:cNvSpPr txBox="1"/>
          <p:nvPr/>
        </p:nvSpPr>
        <p:spPr>
          <a:xfrm>
            <a:off x="4571999" y="3291840"/>
            <a:ext cx="3063240" cy="2743200"/>
          </a:xfrm>
          <a:prstGeom prst="rect">
            <a:avLst/>
          </a:prstGeom>
          <a:noFill/>
        </p:spPr>
        <p:txBody>
          <a:bodyPr wrap="square" lIns="0" rIns="0" tIns="18288" bIns="18288" anchor="t">
            <a:spAutoFit/>
          </a:bodyPr>
          <a:lstStyle/>
          <a:p>
            <a:pPr algn="l">
              <a:lnSpc>
                <a:spcPct val="112000"/>
              </a:lnSpc>
            </a:pPr>
            <a:r>
              <a:rPr sz="1800" b="1" i="0">
                <a:solidFill>
                  <a:srgbClr val="0891B2"/>
                </a:solidFill>
                <a:latin typeface="Arial"/>
              </a:rPr>
              <a:t>▸  </a:t>
            </a:r>
            <a:r>
              <a:rPr sz="1800" b="0" i="0">
                <a:solidFill>
                  <a:srgbClr val="0F172A"/>
                </a:solidFill>
                <a:latin typeface="Arial"/>
              </a:rPr>
              <a:t>Reached through WebGPU (all four engines) or WebNN</a:t>
            </a:r>
          </a:p>
          <a:p>
            <a:pPr algn="l">
              <a:lnSpc>
                <a:spcPct val="112000"/>
              </a:lnSpc>
              <a:spcBef>
                <a:spcPts val="1000"/>
              </a:spcBef>
            </a:pPr>
            <a:r>
              <a:rPr sz="1800" b="1" i="0">
                <a:solidFill>
                  <a:srgbClr val="0891B2"/>
                </a:solidFill>
                <a:latin typeface="Arial"/>
              </a:rPr>
              <a:t>▸  </a:t>
            </a:r>
            <a:r>
              <a:rPr sz="1800" b="0" i="0">
                <a:solidFill>
                  <a:srgbClr val="0F172A"/>
                </a:solidFill>
                <a:latin typeface="Arial"/>
              </a:rPr>
              <a:t>Best for bigger models, fp16 and LLMs</a:t>
            </a:r>
          </a:p>
          <a:p>
            <a:pPr algn="l">
              <a:lnSpc>
                <a:spcPct val="112000"/>
              </a:lnSpc>
              <a:spcBef>
                <a:spcPts val="1000"/>
              </a:spcBef>
            </a:pPr>
            <a:r>
              <a:rPr sz="1800" b="1" i="0">
                <a:solidFill>
                  <a:srgbClr val="0891B2"/>
                </a:solidFill>
                <a:latin typeface="Arial"/>
              </a:rPr>
              <a:t>▸  </a:t>
            </a:r>
            <a:r>
              <a:rPr sz="1800" b="0" i="0">
                <a:solidFill>
                  <a:srgbClr val="0F172A"/>
                </a:solidFill>
                <a:latin typeface="Arial"/>
              </a:rPr>
              <a:t>Adapters differ: check shader-f16</a:t>
            </a:r>
          </a:p>
        </p:txBody>
      </p:sp>
      <p:sp>
        <p:nvSpPr>
          <p:cNvPr id="13" name="Rounded Rectangle 12"/>
          <p:cNvSpPr/>
          <p:nvPr/>
        </p:nvSpPr>
        <p:spPr>
          <a:xfrm>
            <a:off x="8046719" y="1691640"/>
            <a:ext cx="3566160" cy="443484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21040" y="1874519"/>
            <a:ext cx="3017520" cy="731520"/>
          </a:xfrm>
          <a:prstGeom prst="rect">
            <a:avLst/>
          </a:prstGeom>
          <a:noFill/>
        </p:spPr>
        <p:txBody>
          <a:bodyPr wrap="square" lIns="0" rIns="0" tIns="18288" bIns="18288" anchor="t">
            <a:spAutoFit/>
          </a:bodyPr>
          <a:lstStyle/>
          <a:p>
            <a:pPr algn="l">
              <a:lnSpc>
                <a:spcPct val="112000"/>
              </a:lnSpc>
            </a:pPr>
            <a:r>
              <a:rPr sz="4800" b="1" i="0">
                <a:solidFill>
                  <a:srgbClr val="0E7490"/>
                </a:solidFill>
                <a:latin typeface="Arial"/>
              </a:rPr>
              <a:t>NPU</a:t>
            </a:r>
          </a:p>
        </p:txBody>
      </p:sp>
      <p:sp>
        <p:nvSpPr>
          <p:cNvPr id="15" name="TextBox 14"/>
          <p:cNvSpPr txBox="1"/>
          <p:nvPr/>
        </p:nvSpPr>
        <p:spPr>
          <a:xfrm>
            <a:off x="8321040" y="2697480"/>
            <a:ext cx="3017520" cy="457200"/>
          </a:xfrm>
          <a:prstGeom prst="rect">
            <a:avLst/>
          </a:prstGeom>
          <a:noFill/>
        </p:spPr>
        <p:txBody>
          <a:bodyPr wrap="square" lIns="0" rIns="0" tIns="18288" bIns="18288" anchor="t">
            <a:spAutoFit/>
          </a:bodyPr>
          <a:lstStyle/>
          <a:p>
            <a:pPr algn="l">
              <a:lnSpc>
                <a:spcPct val="112000"/>
              </a:lnSpc>
            </a:pPr>
            <a:r>
              <a:rPr sz="2200" b="1" i="0">
                <a:solidFill>
                  <a:srgbClr val="0F172A"/>
                </a:solidFill>
                <a:latin typeface="Arial"/>
              </a:rPr>
              <a:t>Low power, sustained</a:t>
            </a:r>
          </a:p>
        </p:txBody>
      </p:sp>
      <p:sp>
        <p:nvSpPr>
          <p:cNvPr id="16" name="TextBox 15"/>
          <p:cNvSpPr txBox="1"/>
          <p:nvPr/>
        </p:nvSpPr>
        <p:spPr>
          <a:xfrm>
            <a:off x="8321040" y="3291840"/>
            <a:ext cx="3063240" cy="2743200"/>
          </a:xfrm>
          <a:prstGeom prst="rect">
            <a:avLst/>
          </a:prstGeom>
          <a:noFill/>
        </p:spPr>
        <p:txBody>
          <a:bodyPr wrap="square" lIns="0" rIns="0" tIns="18288" bIns="18288" anchor="t">
            <a:spAutoFit/>
          </a:bodyPr>
          <a:lstStyle/>
          <a:p>
            <a:pPr algn="l">
              <a:lnSpc>
                <a:spcPct val="112000"/>
              </a:lnSpc>
            </a:pPr>
            <a:r>
              <a:rPr sz="1800" b="1" i="0">
                <a:solidFill>
                  <a:srgbClr val="0891B2"/>
                </a:solidFill>
                <a:latin typeface="Arial"/>
              </a:rPr>
              <a:t>▸  </a:t>
            </a:r>
            <a:r>
              <a:rPr sz="1800" b="0" i="0">
                <a:solidFill>
                  <a:srgbClr val="0F172A"/>
                </a:solidFill>
                <a:latin typeface="Arial"/>
              </a:rPr>
              <a:t>Reached only through WebNN → Windows ML / Core ML</a:t>
            </a:r>
          </a:p>
          <a:p>
            <a:pPr algn="l">
              <a:lnSpc>
                <a:spcPct val="112000"/>
              </a:lnSpc>
              <a:spcBef>
                <a:spcPts val="1000"/>
              </a:spcBef>
            </a:pPr>
            <a:r>
              <a:rPr sz="1800" b="1" i="0">
                <a:solidFill>
                  <a:srgbClr val="0891B2"/>
                </a:solidFill>
                <a:latin typeface="Arial"/>
              </a:rPr>
              <a:t>▸  </a:t>
            </a:r>
            <a:r>
              <a:rPr sz="1800" b="0" i="0">
                <a:solidFill>
                  <a:srgbClr val="0F172A"/>
                </a:solidFill>
                <a:latin typeface="Arial"/>
              </a:rPr>
              <a:t>Great for always-on vision and audio</a:t>
            </a:r>
          </a:p>
          <a:p>
            <a:pPr algn="l">
              <a:lnSpc>
                <a:spcPct val="112000"/>
              </a:lnSpc>
              <a:spcBef>
                <a:spcPts val="1000"/>
              </a:spcBef>
            </a:pPr>
            <a:r>
              <a:rPr sz="1800" b="1" i="0">
                <a:solidFill>
                  <a:srgbClr val="0891B2"/>
                </a:solidFill>
                <a:latin typeface="Arial"/>
              </a:rPr>
              <a:t>▸  </a:t>
            </a:r>
            <a:r>
              <a:rPr sz="1800" b="0" i="0">
                <a:solidFill>
                  <a:srgbClr val="0F172A"/>
                </a:solidFill>
                <a:latin typeface="Arial"/>
              </a:rPr>
              <a:t>Web access is behind a flag today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THE MAP FOR THIS TALK</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The browser AI stack</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7</a:t>
            </a:r>
          </a:p>
        </p:txBody>
      </p:sp>
      <p:sp>
        <p:nvSpPr>
          <p:cNvPr id="5" name="Rounded Rectangle 4"/>
          <p:cNvSpPr/>
          <p:nvPr/>
        </p:nvSpPr>
        <p:spPr>
          <a:xfrm>
            <a:off x="548640" y="1645920"/>
            <a:ext cx="11091672" cy="713232"/>
          </a:xfrm>
          <a:prstGeom prst="roundRect">
            <a:avLst>
              <a:gd name="adj" fmla="val 12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645920"/>
            <a:ext cx="731520" cy="713232"/>
          </a:xfrm>
          <a:prstGeom prst="rect">
            <a:avLst/>
          </a:prstGeom>
          <a:noFill/>
        </p:spPr>
        <p:txBody>
          <a:bodyPr wrap="square" lIns="0" rIns="0" tIns="18288" bIns="18288" anchor="ctr">
            <a:spAutoFit/>
          </a:bodyPr>
          <a:lstStyle/>
          <a:p>
            <a:pPr algn="l">
              <a:lnSpc>
                <a:spcPct val="112000"/>
              </a:lnSpc>
            </a:pPr>
            <a:r>
              <a:rPr sz="2200" b="1" i="0">
                <a:solidFill>
                  <a:srgbClr val="FFFFFF"/>
                </a:solidFill>
                <a:latin typeface="Arial"/>
              </a:rPr>
              <a:t>L5</a:t>
            </a:r>
          </a:p>
        </p:txBody>
      </p:sp>
      <p:sp>
        <p:nvSpPr>
          <p:cNvPr id="7" name="TextBox 6"/>
          <p:cNvSpPr txBox="1"/>
          <p:nvPr/>
        </p:nvSpPr>
        <p:spPr>
          <a:xfrm>
            <a:off x="1508760" y="1645920"/>
            <a:ext cx="2194560" cy="713232"/>
          </a:xfrm>
          <a:prstGeom prst="rect">
            <a:avLst/>
          </a:prstGeom>
          <a:noFill/>
        </p:spPr>
        <p:txBody>
          <a:bodyPr wrap="square" lIns="0" rIns="0" tIns="18288" bIns="18288" anchor="ctr">
            <a:spAutoFit/>
          </a:bodyPr>
          <a:lstStyle/>
          <a:p>
            <a:pPr algn="l">
              <a:lnSpc>
                <a:spcPct val="112000"/>
              </a:lnSpc>
            </a:pPr>
            <a:r>
              <a:rPr sz="2200" b="1" i="0">
                <a:solidFill>
                  <a:srgbClr val="FFFFFF"/>
                </a:solidFill>
                <a:latin typeface="Arial"/>
              </a:rPr>
              <a:t>Task APIs</a:t>
            </a:r>
          </a:p>
        </p:txBody>
      </p:sp>
      <p:sp>
        <p:nvSpPr>
          <p:cNvPr id="8" name="TextBox 7"/>
          <p:cNvSpPr txBox="1"/>
          <p:nvPr/>
        </p:nvSpPr>
        <p:spPr>
          <a:xfrm>
            <a:off x="3703320" y="1645920"/>
            <a:ext cx="5120640" cy="713232"/>
          </a:xfrm>
          <a:prstGeom prst="rect">
            <a:avLst/>
          </a:prstGeom>
          <a:noFill/>
        </p:spPr>
        <p:txBody>
          <a:bodyPr wrap="square" lIns="0" rIns="0" tIns="18288" bIns="18288" anchor="ctr">
            <a:spAutoFit/>
          </a:bodyPr>
          <a:lstStyle/>
          <a:p>
            <a:pPr algn="l">
              <a:lnSpc>
                <a:spcPct val="105000"/>
              </a:lnSpc>
            </a:pPr>
            <a:r>
              <a:rPr sz="1700" b="0" i="0">
                <a:solidFill>
                  <a:srgbClr val="FFFFFF"/>
                </a:solidFill>
                <a:latin typeface="Arial"/>
              </a:rPr>
              <a:t>Translator · Language Detector · Summarizer · Writer / Rewriter · Proofreader</a:t>
            </a:r>
          </a:p>
        </p:txBody>
      </p:sp>
      <p:sp>
        <p:nvSpPr>
          <p:cNvPr id="9" name="TextBox 8"/>
          <p:cNvSpPr txBox="1"/>
          <p:nvPr/>
        </p:nvSpPr>
        <p:spPr>
          <a:xfrm>
            <a:off x="8869680" y="1645920"/>
            <a:ext cx="2651760" cy="713232"/>
          </a:xfrm>
          <a:prstGeom prst="rect">
            <a:avLst/>
          </a:prstGeom>
          <a:noFill/>
        </p:spPr>
        <p:txBody>
          <a:bodyPr wrap="square" lIns="0" rIns="0" tIns="18288" bIns="18288" anchor="ctr">
            <a:spAutoFit/>
          </a:bodyPr>
          <a:lstStyle/>
          <a:p>
            <a:pPr algn="r">
              <a:lnSpc>
                <a:spcPct val="112000"/>
              </a:lnSpc>
            </a:pPr>
            <a:r>
              <a:rPr sz="1600" b="1" i="0">
                <a:solidFill>
                  <a:srgbClr val="FFFFFF"/>
                </a:solidFill>
                <a:latin typeface="Arial"/>
              </a:rPr>
              <a:t>Stable in Chrome 138+</a:t>
            </a:r>
          </a:p>
        </p:txBody>
      </p:sp>
      <p:sp>
        <p:nvSpPr>
          <p:cNvPr id="10" name="Rounded Rectangle 9"/>
          <p:cNvSpPr/>
          <p:nvPr/>
        </p:nvSpPr>
        <p:spPr>
          <a:xfrm>
            <a:off x="548640" y="2432304"/>
            <a:ext cx="11091672" cy="713232"/>
          </a:xfrm>
          <a:prstGeom prst="roundRect">
            <a:avLst>
              <a:gd name="adj" fmla="val 12000"/>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2432304"/>
            <a:ext cx="731520" cy="713232"/>
          </a:xfrm>
          <a:prstGeom prst="rect">
            <a:avLst/>
          </a:prstGeom>
          <a:noFill/>
        </p:spPr>
        <p:txBody>
          <a:bodyPr wrap="square" lIns="0" rIns="0" tIns="18288" bIns="18288" anchor="ctr">
            <a:spAutoFit/>
          </a:bodyPr>
          <a:lstStyle/>
          <a:p>
            <a:pPr algn="l">
              <a:lnSpc>
                <a:spcPct val="112000"/>
              </a:lnSpc>
            </a:pPr>
            <a:r>
              <a:rPr sz="2200" b="1" i="0">
                <a:solidFill>
                  <a:srgbClr val="FFFFFF"/>
                </a:solidFill>
                <a:latin typeface="Arial"/>
              </a:rPr>
              <a:t>L4</a:t>
            </a:r>
          </a:p>
        </p:txBody>
      </p:sp>
      <p:sp>
        <p:nvSpPr>
          <p:cNvPr id="12" name="TextBox 11"/>
          <p:cNvSpPr txBox="1"/>
          <p:nvPr/>
        </p:nvSpPr>
        <p:spPr>
          <a:xfrm>
            <a:off x="1508760" y="2432304"/>
            <a:ext cx="2194560" cy="713232"/>
          </a:xfrm>
          <a:prstGeom prst="rect">
            <a:avLst/>
          </a:prstGeom>
          <a:noFill/>
        </p:spPr>
        <p:txBody>
          <a:bodyPr wrap="square" lIns="0" rIns="0" tIns="18288" bIns="18288" anchor="ctr">
            <a:spAutoFit/>
          </a:bodyPr>
          <a:lstStyle/>
          <a:p>
            <a:pPr algn="l">
              <a:lnSpc>
                <a:spcPct val="112000"/>
              </a:lnSpc>
            </a:pPr>
            <a:r>
              <a:rPr sz="2200" b="1" i="0">
                <a:solidFill>
                  <a:srgbClr val="FFFFFF"/>
                </a:solidFill>
                <a:latin typeface="Arial"/>
              </a:rPr>
              <a:t>Prompt API</a:t>
            </a:r>
          </a:p>
        </p:txBody>
      </p:sp>
      <p:sp>
        <p:nvSpPr>
          <p:cNvPr id="13" name="TextBox 12"/>
          <p:cNvSpPr txBox="1"/>
          <p:nvPr/>
        </p:nvSpPr>
        <p:spPr>
          <a:xfrm>
            <a:off x="3703320" y="2432304"/>
            <a:ext cx="5120640" cy="713232"/>
          </a:xfrm>
          <a:prstGeom prst="rect">
            <a:avLst/>
          </a:prstGeom>
          <a:noFill/>
        </p:spPr>
        <p:txBody>
          <a:bodyPr wrap="square" lIns="0" rIns="0" tIns="18288" bIns="18288" anchor="ctr">
            <a:spAutoFit/>
          </a:bodyPr>
          <a:lstStyle/>
          <a:p>
            <a:pPr algn="l">
              <a:lnSpc>
                <a:spcPct val="105000"/>
              </a:lnSpc>
            </a:pPr>
            <a:r>
              <a:rPr sz="1700" b="0" i="0">
                <a:solidFill>
                  <a:srgbClr val="FFFFFF"/>
                </a:solidFill>
                <a:latin typeface="Arial"/>
              </a:rPr>
              <a:t>LanguageModel — Gemini Nano in Chrome, Phi-4-mini in Edge</a:t>
            </a:r>
          </a:p>
        </p:txBody>
      </p:sp>
      <p:sp>
        <p:nvSpPr>
          <p:cNvPr id="14" name="TextBox 13"/>
          <p:cNvSpPr txBox="1"/>
          <p:nvPr/>
        </p:nvSpPr>
        <p:spPr>
          <a:xfrm>
            <a:off x="8869680" y="2432304"/>
            <a:ext cx="2651760" cy="713232"/>
          </a:xfrm>
          <a:prstGeom prst="rect">
            <a:avLst/>
          </a:prstGeom>
          <a:noFill/>
        </p:spPr>
        <p:txBody>
          <a:bodyPr wrap="square" lIns="0" rIns="0" tIns="18288" bIns="18288" anchor="ctr">
            <a:spAutoFit/>
          </a:bodyPr>
          <a:lstStyle/>
          <a:p>
            <a:pPr algn="r">
              <a:lnSpc>
                <a:spcPct val="112000"/>
              </a:lnSpc>
            </a:pPr>
            <a:r>
              <a:rPr sz="1600" b="1" i="0">
                <a:solidFill>
                  <a:srgbClr val="FFFFFF"/>
                </a:solidFill>
                <a:latin typeface="Arial"/>
              </a:rPr>
              <a:t>Stable in Chrome 148</a:t>
            </a:r>
          </a:p>
        </p:txBody>
      </p:sp>
      <p:sp>
        <p:nvSpPr>
          <p:cNvPr id="15" name="Rounded Rectangle 14"/>
          <p:cNvSpPr/>
          <p:nvPr/>
        </p:nvSpPr>
        <p:spPr>
          <a:xfrm>
            <a:off x="548640" y="3218688"/>
            <a:ext cx="11091672" cy="713232"/>
          </a:xfrm>
          <a:prstGeom prst="roundRect">
            <a:avLst>
              <a:gd name="adj" fmla="val 12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7240" y="3218688"/>
            <a:ext cx="731520" cy="713232"/>
          </a:xfrm>
          <a:prstGeom prst="rect">
            <a:avLst/>
          </a:prstGeom>
          <a:noFill/>
        </p:spPr>
        <p:txBody>
          <a:bodyPr wrap="square" lIns="0" rIns="0" tIns="18288" bIns="18288" anchor="ctr">
            <a:spAutoFit/>
          </a:bodyPr>
          <a:lstStyle/>
          <a:p>
            <a:pPr algn="l">
              <a:lnSpc>
                <a:spcPct val="112000"/>
              </a:lnSpc>
            </a:pPr>
            <a:r>
              <a:rPr sz="2200" b="1" i="0">
                <a:solidFill>
                  <a:srgbClr val="FFFFFF"/>
                </a:solidFill>
                <a:latin typeface="Arial"/>
              </a:rPr>
              <a:t>L3</a:t>
            </a:r>
          </a:p>
        </p:txBody>
      </p:sp>
      <p:sp>
        <p:nvSpPr>
          <p:cNvPr id="17" name="TextBox 16"/>
          <p:cNvSpPr txBox="1"/>
          <p:nvPr/>
        </p:nvSpPr>
        <p:spPr>
          <a:xfrm>
            <a:off x="1508760" y="3218688"/>
            <a:ext cx="2194560" cy="713232"/>
          </a:xfrm>
          <a:prstGeom prst="rect">
            <a:avLst/>
          </a:prstGeom>
          <a:noFill/>
        </p:spPr>
        <p:txBody>
          <a:bodyPr wrap="square" lIns="0" rIns="0" tIns="18288" bIns="18288" anchor="ctr">
            <a:spAutoFit/>
          </a:bodyPr>
          <a:lstStyle/>
          <a:p>
            <a:pPr algn="l">
              <a:lnSpc>
                <a:spcPct val="112000"/>
              </a:lnSpc>
            </a:pPr>
            <a:r>
              <a:rPr sz="2200" b="1" i="0">
                <a:solidFill>
                  <a:srgbClr val="FFFFFF"/>
                </a:solidFill>
                <a:latin typeface="Arial"/>
              </a:rPr>
              <a:t>Frameworks</a:t>
            </a:r>
          </a:p>
        </p:txBody>
      </p:sp>
      <p:sp>
        <p:nvSpPr>
          <p:cNvPr id="18" name="TextBox 17"/>
          <p:cNvSpPr txBox="1"/>
          <p:nvPr/>
        </p:nvSpPr>
        <p:spPr>
          <a:xfrm>
            <a:off x="3703320" y="3218688"/>
            <a:ext cx="5120640" cy="713232"/>
          </a:xfrm>
          <a:prstGeom prst="rect">
            <a:avLst/>
          </a:prstGeom>
          <a:noFill/>
        </p:spPr>
        <p:txBody>
          <a:bodyPr wrap="square" lIns="0" rIns="0" tIns="18288" bIns="18288" anchor="ctr">
            <a:spAutoFit/>
          </a:bodyPr>
          <a:lstStyle/>
          <a:p>
            <a:pPr algn="l">
              <a:lnSpc>
                <a:spcPct val="105000"/>
              </a:lnSpc>
            </a:pPr>
            <a:r>
              <a:rPr sz="1700" b="0" i="0">
                <a:solidFill>
                  <a:srgbClr val="FFFFFF"/>
                </a:solidFill>
                <a:latin typeface="Arial"/>
              </a:rPr>
              <a:t>Transformers.js · ONNX Runtime Web · WebLLM · LiteRT.js</a:t>
            </a:r>
          </a:p>
        </p:txBody>
      </p:sp>
      <p:sp>
        <p:nvSpPr>
          <p:cNvPr id="19" name="TextBox 18"/>
          <p:cNvSpPr txBox="1"/>
          <p:nvPr/>
        </p:nvSpPr>
        <p:spPr>
          <a:xfrm>
            <a:off x="8869680" y="3218688"/>
            <a:ext cx="2651760" cy="713232"/>
          </a:xfrm>
          <a:prstGeom prst="rect">
            <a:avLst/>
          </a:prstGeom>
          <a:noFill/>
        </p:spPr>
        <p:txBody>
          <a:bodyPr wrap="square" lIns="0" rIns="0" tIns="18288" bIns="18288" anchor="ctr">
            <a:spAutoFit/>
          </a:bodyPr>
          <a:lstStyle/>
          <a:p>
            <a:pPr algn="r">
              <a:lnSpc>
                <a:spcPct val="112000"/>
              </a:lnSpc>
            </a:pPr>
            <a:r>
              <a:rPr sz="1600" b="1" i="0">
                <a:solidFill>
                  <a:srgbClr val="FFFFFF"/>
                </a:solidFill>
                <a:latin typeface="Arial"/>
              </a:rPr>
              <a:t>Libraries: ship today</a:t>
            </a:r>
          </a:p>
        </p:txBody>
      </p:sp>
      <p:sp>
        <p:nvSpPr>
          <p:cNvPr id="20" name="Rounded Rectangle 19"/>
          <p:cNvSpPr/>
          <p:nvPr/>
        </p:nvSpPr>
        <p:spPr>
          <a:xfrm>
            <a:off x="548640" y="4005072"/>
            <a:ext cx="11091672" cy="713232"/>
          </a:xfrm>
          <a:prstGeom prst="roundRect">
            <a:avLst>
              <a:gd name="adj" fmla="val 12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7240" y="4005072"/>
            <a:ext cx="731520" cy="713232"/>
          </a:xfrm>
          <a:prstGeom prst="rect">
            <a:avLst/>
          </a:prstGeom>
          <a:noFill/>
        </p:spPr>
        <p:txBody>
          <a:bodyPr wrap="square" lIns="0" rIns="0" tIns="18288" bIns="18288" anchor="ctr">
            <a:spAutoFit/>
          </a:bodyPr>
          <a:lstStyle/>
          <a:p>
            <a:pPr algn="l">
              <a:lnSpc>
                <a:spcPct val="112000"/>
              </a:lnSpc>
            </a:pPr>
            <a:r>
              <a:rPr sz="2200" b="1" i="0">
                <a:solidFill>
                  <a:srgbClr val="0F172A"/>
                </a:solidFill>
                <a:latin typeface="Arial"/>
              </a:rPr>
              <a:t>L2</a:t>
            </a:r>
          </a:p>
        </p:txBody>
      </p:sp>
      <p:sp>
        <p:nvSpPr>
          <p:cNvPr id="22" name="TextBox 21"/>
          <p:cNvSpPr txBox="1"/>
          <p:nvPr/>
        </p:nvSpPr>
        <p:spPr>
          <a:xfrm>
            <a:off x="1508760" y="4005072"/>
            <a:ext cx="2194560" cy="713232"/>
          </a:xfrm>
          <a:prstGeom prst="rect">
            <a:avLst/>
          </a:prstGeom>
          <a:noFill/>
        </p:spPr>
        <p:txBody>
          <a:bodyPr wrap="square" lIns="0" rIns="0" tIns="18288" bIns="18288" anchor="ctr">
            <a:spAutoFit/>
          </a:bodyPr>
          <a:lstStyle/>
          <a:p>
            <a:pPr algn="l">
              <a:lnSpc>
                <a:spcPct val="112000"/>
              </a:lnSpc>
            </a:pPr>
            <a:r>
              <a:rPr sz="2200" b="1" i="0">
                <a:solidFill>
                  <a:srgbClr val="0F172A"/>
                </a:solidFill>
                <a:latin typeface="Arial"/>
              </a:rPr>
              <a:t>Compute APIs</a:t>
            </a:r>
          </a:p>
        </p:txBody>
      </p:sp>
      <p:sp>
        <p:nvSpPr>
          <p:cNvPr id="23" name="TextBox 22"/>
          <p:cNvSpPr txBox="1"/>
          <p:nvPr/>
        </p:nvSpPr>
        <p:spPr>
          <a:xfrm>
            <a:off x="3703320" y="4005072"/>
            <a:ext cx="5120640" cy="713232"/>
          </a:xfrm>
          <a:prstGeom prst="rect">
            <a:avLst/>
          </a:prstGeom>
          <a:noFill/>
        </p:spPr>
        <p:txBody>
          <a:bodyPr wrap="square" lIns="0" rIns="0" tIns="18288" bIns="18288" anchor="ctr">
            <a:spAutoFit/>
          </a:bodyPr>
          <a:lstStyle/>
          <a:p>
            <a:pPr algn="l">
              <a:lnSpc>
                <a:spcPct val="105000"/>
              </a:lnSpc>
            </a:pPr>
            <a:r>
              <a:rPr sz="1700" b="0" i="0">
                <a:solidFill>
                  <a:srgbClr val="0F172A"/>
                </a:solidFill>
                <a:latin typeface="Arial"/>
              </a:rPr>
              <a:t>WebGPU · WebNN · WebAssembly</a:t>
            </a:r>
          </a:p>
        </p:txBody>
      </p:sp>
      <p:sp>
        <p:nvSpPr>
          <p:cNvPr id="24" name="TextBox 23"/>
          <p:cNvSpPr txBox="1"/>
          <p:nvPr/>
        </p:nvSpPr>
        <p:spPr>
          <a:xfrm>
            <a:off x="8869680" y="4005072"/>
            <a:ext cx="2651760" cy="713232"/>
          </a:xfrm>
          <a:prstGeom prst="rect">
            <a:avLst/>
          </a:prstGeom>
          <a:noFill/>
        </p:spPr>
        <p:txBody>
          <a:bodyPr wrap="square" lIns="0" rIns="0" tIns="18288" bIns="18288" anchor="ctr">
            <a:spAutoFit/>
          </a:bodyPr>
          <a:lstStyle/>
          <a:p>
            <a:pPr algn="r">
              <a:lnSpc>
                <a:spcPct val="112000"/>
              </a:lnSpc>
            </a:pPr>
            <a:r>
              <a:rPr sz="1600" b="1" i="0">
                <a:solidFill>
                  <a:srgbClr val="0F172A"/>
                </a:solidFill>
                <a:latin typeface="Arial"/>
              </a:rPr>
              <a:t>WebGPU everywhere · WebNN flag</a:t>
            </a:r>
          </a:p>
        </p:txBody>
      </p:sp>
      <p:sp>
        <p:nvSpPr>
          <p:cNvPr id="25" name="Rounded Rectangle 24"/>
          <p:cNvSpPr/>
          <p:nvPr/>
        </p:nvSpPr>
        <p:spPr>
          <a:xfrm>
            <a:off x="548640" y="4791456"/>
            <a:ext cx="11091672" cy="713232"/>
          </a:xfrm>
          <a:prstGeom prst="roundRect">
            <a:avLst>
              <a:gd name="adj" fmla="val 12000"/>
            </a:avLst>
          </a:prstGeom>
          <a:solidFill>
            <a:srgbClr val="67E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7240" y="4791456"/>
            <a:ext cx="731520" cy="713232"/>
          </a:xfrm>
          <a:prstGeom prst="rect">
            <a:avLst/>
          </a:prstGeom>
          <a:noFill/>
        </p:spPr>
        <p:txBody>
          <a:bodyPr wrap="square" lIns="0" rIns="0" tIns="18288" bIns="18288" anchor="ctr">
            <a:spAutoFit/>
          </a:bodyPr>
          <a:lstStyle/>
          <a:p>
            <a:pPr algn="l">
              <a:lnSpc>
                <a:spcPct val="112000"/>
              </a:lnSpc>
            </a:pPr>
            <a:r>
              <a:rPr sz="2200" b="1" i="0">
                <a:solidFill>
                  <a:srgbClr val="0F172A"/>
                </a:solidFill>
                <a:latin typeface="Arial"/>
              </a:rPr>
              <a:t>L1</a:t>
            </a:r>
          </a:p>
        </p:txBody>
      </p:sp>
      <p:sp>
        <p:nvSpPr>
          <p:cNvPr id="27" name="TextBox 26"/>
          <p:cNvSpPr txBox="1"/>
          <p:nvPr/>
        </p:nvSpPr>
        <p:spPr>
          <a:xfrm>
            <a:off x="1508760" y="4791456"/>
            <a:ext cx="2194560" cy="713232"/>
          </a:xfrm>
          <a:prstGeom prst="rect">
            <a:avLst/>
          </a:prstGeom>
          <a:noFill/>
        </p:spPr>
        <p:txBody>
          <a:bodyPr wrap="square" lIns="0" rIns="0" tIns="18288" bIns="18288" anchor="ctr">
            <a:spAutoFit/>
          </a:bodyPr>
          <a:lstStyle/>
          <a:p>
            <a:pPr algn="l">
              <a:lnSpc>
                <a:spcPct val="112000"/>
              </a:lnSpc>
            </a:pPr>
            <a:r>
              <a:rPr sz="2200" b="1" i="0">
                <a:solidFill>
                  <a:srgbClr val="0F172A"/>
                </a:solidFill>
                <a:latin typeface="Arial"/>
              </a:rPr>
              <a:t>OS ML APIs</a:t>
            </a:r>
          </a:p>
        </p:txBody>
      </p:sp>
      <p:sp>
        <p:nvSpPr>
          <p:cNvPr id="28" name="TextBox 27"/>
          <p:cNvSpPr txBox="1"/>
          <p:nvPr/>
        </p:nvSpPr>
        <p:spPr>
          <a:xfrm>
            <a:off x="3703320" y="4791456"/>
            <a:ext cx="5120640" cy="713232"/>
          </a:xfrm>
          <a:prstGeom prst="rect">
            <a:avLst/>
          </a:prstGeom>
          <a:noFill/>
        </p:spPr>
        <p:txBody>
          <a:bodyPr wrap="square" lIns="0" rIns="0" tIns="18288" bIns="18288" anchor="ctr">
            <a:spAutoFit/>
          </a:bodyPr>
          <a:lstStyle/>
          <a:p>
            <a:pPr algn="l">
              <a:lnSpc>
                <a:spcPct val="105000"/>
              </a:lnSpc>
            </a:pPr>
            <a:r>
              <a:rPr sz="1700" b="0" i="0">
                <a:solidFill>
                  <a:srgbClr val="0F172A"/>
                </a:solidFill>
                <a:latin typeface="Arial"/>
              </a:rPr>
              <a:t>Windows ML / ONNX Runtime · Core ML · LiteRT</a:t>
            </a:r>
          </a:p>
        </p:txBody>
      </p:sp>
      <p:sp>
        <p:nvSpPr>
          <p:cNvPr id="29" name="TextBox 28"/>
          <p:cNvSpPr txBox="1"/>
          <p:nvPr/>
        </p:nvSpPr>
        <p:spPr>
          <a:xfrm>
            <a:off x="8869680" y="4791456"/>
            <a:ext cx="2651760" cy="713232"/>
          </a:xfrm>
          <a:prstGeom prst="rect">
            <a:avLst/>
          </a:prstGeom>
          <a:noFill/>
        </p:spPr>
        <p:txBody>
          <a:bodyPr wrap="square" lIns="0" rIns="0" tIns="18288" bIns="18288" anchor="ctr">
            <a:spAutoFit/>
          </a:bodyPr>
          <a:lstStyle/>
          <a:p>
            <a:pPr algn="r">
              <a:lnSpc>
                <a:spcPct val="112000"/>
              </a:lnSpc>
            </a:pPr>
            <a:r>
              <a:rPr sz="1600" b="1" i="0">
                <a:solidFill>
                  <a:srgbClr val="0F172A"/>
                </a:solidFill>
                <a:latin typeface="Arial"/>
              </a:rPr>
              <a:t>Used by WebNN</a:t>
            </a:r>
          </a:p>
        </p:txBody>
      </p:sp>
      <p:sp>
        <p:nvSpPr>
          <p:cNvPr id="30" name="Rounded Rectangle 29"/>
          <p:cNvSpPr/>
          <p:nvPr/>
        </p:nvSpPr>
        <p:spPr>
          <a:xfrm>
            <a:off x="548640" y="5577840"/>
            <a:ext cx="11091672" cy="713232"/>
          </a:xfrm>
          <a:prstGeom prst="roundRect">
            <a:avLst>
              <a:gd name="adj" fmla="val 12000"/>
            </a:avLst>
          </a:prstGeom>
          <a:solidFill>
            <a:srgbClr val="A5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 y="5577840"/>
            <a:ext cx="731520" cy="713232"/>
          </a:xfrm>
          <a:prstGeom prst="rect">
            <a:avLst/>
          </a:prstGeom>
          <a:noFill/>
        </p:spPr>
        <p:txBody>
          <a:bodyPr wrap="square" lIns="0" rIns="0" tIns="18288" bIns="18288" anchor="ctr">
            <a:spAutoFit/>
          </a:bodyPr>
          <a:lstStyle/>
          <a:p>
            <a:pPr algn="l">
              <a:lnSpc>
                <a:spcPct val="112000"/>
              </a:lnSpc>
            </a:pPr>
            <a:r>
              <a:rPr sz="2200" b="1" i="0">
                <a:solidFill>
                  <a:srgbClr val="0F172A"/>
                </a:solidFill>
                <a:latin typeface="Arial"/>
              </a:rPr>
              <a:t>HW</a:t>
            </a:r>
          </a:p>
        </p:txBody>
      </p:sp>
      <p:sp>
        <p:nvSpPr>
          <p:cNvPr id="32" name="TextBox 31"/>
          <p:cNvSpPr txBox="1"/>
          <p:nvPr/>
        </p:nvSpPr>
        <p:spPr>
          <a:xfrm>
            <a:off x="1508760" y="5577840"/>
            <a:ext cx="2194560" cy="713232"/>
          </a:xfrm>
          <a:prstGeom prst="rect">
            <a:avLst/>
          </a:prstGeom>
          <a:noFill/>
        </p:spPr>
        <p:txBody>
          <a:bodyPr wrap="square" lIns="0" rIns="0" tIns="18288" bIns="18288" anchor="ctr">
            <a:spAutoFit/>
          </a:bodyPr>
          <a:lstStyle/>
          <a:p>
            <a:pPr algn="l">
              <a:lnSpc>
                <a:spcPct val="112000"/>
              </a:lnSpc>
            </a:pPr>
            <a:r>
              <a:rPr sz="2200" b="1" i="0">
                <a:solidFill>
                  <a:srgbClr val="0F172A"/>
                </a:solidFill>
                <a:latin typeface="Arial"/>
              </a:rPr>
              <a:t>Hardware</a:t>
            </a:r>
          </a:p>
        </p:txBody>
      </p:sp>
      <p:sp>
        <p:nvSpPr>
          <p:cNvPr id="33" name="TextBox 32"/>
          <p:cNvSpPr txBox="1"/>
          <p:nvPr/>
        </p:nvSpPr>
        <p:spPr>
          <a:xfrm>
            <a:off x="3703320" y="5577840"/>
            <a:ext cx="5120640" cy="713232"/>
          </a:xfrm>
          <a:prstGeom prst="rect">
            <a:avLst/>
          </a:prstGeom>
          <a:noFill/>
        </p:spPr>
        <p:txBody>
          <a:bodyPr wrap="square" lIns="0" rIns="0" tIns="18288" bIns="18288" anchor="ctr">
            <a:spAutoFit/>
          </a:bodyPr>
          <a:lstStyle/>
          <a:p>
            <a:pPr algn="l">
              <a:lnSpc>
                <a:spcPct val="105000"/>
              </a:lnSpc>
            </a:pPr>
            <a:r>
              <a:rPr sz="1700" b="0" i="0">
                <a:solidFill>
                  <a:srgbClr val="0F172A"/>
                </a:solidFill>
                <a:latin typeface="Arial"/>
              </a:rPr>
              <a:t>CPU · GPU · NPU</a:t>
            </a:r>
          </a:p>
        </p:txBody>
      </p:sp>
      <p:sp>
        <p:nvSpPr>
          <p:cNvPr id="34" name="TextBox 33"/>
          <p:cNvSpPr txBox="1"/>
          <p:nvPr/>
        </p:nvSpPr>
        <p:spPr>
          <a:xfrm>
            <a:off x="548640" y="6355080"/>
            <a:ext cx="8686800" cy="320040"/>
          </a:xfrm>
          <a:prstGeom prst="rect">
            <a:avLst/>
          </a:prstGeom>
          <a:noFill/>
        </p:spPr>
        <p:txBody>
          <a:bodyPr wrap="square" lIns="0" rIns="0" tIns="18288" bIns="18288" anchor="t">
            <a:spAutoFit/>
          </a:bodyPr>
          <a:lstStyle/>
          <a:p>
            <a:pPr algn="l">
              <a:lnSpc>
                <a:spcPct val="112000"/>
              </a:lnSpc>
            </a:pPr>
            <a:r>
              <a:rPr sz="1500" b="0" i="1">
                <a:solidFill>
                  <a:srgbClr val="475569"/>
                </a:solidFill>
                <a:latin typeface="Arial"/>
              </a:rPr>
              <a:t>Higher layer = less code, less control. Lower layer = more control, more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5</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L5 · Task APIs: built-in models</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8</a:t>
            </a:r>
          </a:p>
        </p:txBody>
      </p:sp>
      <p:sp>
        <p:nvSpPr>
          <p:cNvPr id="5" name="Rectangle 4"/>
          <p:cNvSpPr/>
          <p:nvPr/>
        </p:nvSpPr>
        <p:spPr>
          <a:xfrm>
            <a:off x="9692640" y="274320"/>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L5  Task APIs</a:t>
            </a:r>
          </a:p>
        </p:txBody>
      </p:sp>
      <p:sp>
        <p:nvSpPr>
          <p:cNvPr id="6" name="Rectangle 5"/>
          <p:cNvSpPr/>
          <p:nvPr/>
        </p:nvSpPr>
        <p:spPr>
          <a:xfrm>
            <a:off x="9692640" y="489203"/>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L4  Prompt API</a:t>
            </a:r>
          </a:p>
        </p:txBody>
      </p:sp>
      <p:sp>
        <p:nvSpPr>
          <p:cNvPr id="7" name="Rectangle 6"/>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8" name="Rectangle 7"/>
          <p:cNvSpPr/>
          <p:nvPr/>
        </p:nvSpPr>
        <p:spPr>
          <a:xfrm>
            <a:off x="9692640" y="918971"/>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L2  Compute APIs</a:t>
            </a:r>
          </a:p>
        </p:txBody>
      </p:sp>
      <p:sp>
        <p:nvSpPr>
          <p:cNvPr id="9" name="Rectangle 8"/>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0" name="Rectangle 9"/>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1" name="Rounded Rectangle 10"/>
          <p:cNvSpPr/>
          <p:nvPr/>
        </p:nvSpPr>
        <p:spPr>
          <a:xfrm>
            <a:off x="548640" y="1828800"/>
            <a:ext cx="3566160" cy="16916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400" b="1" i="0">
                <a:solidFill>
                  <a:srgbClr val="0E7490"/>
                </a:solidFill>
                <a:latin typeface="Arial"/>
              </a:rPr>
              <a:t>Translator</a:t>
            </a:r>
          </a:p>
          <a:p>
            <a:pPr algn="l">
              <a:lnSpc>
                <a:spcPct val="112000"/>
              </a:lnSpc>
              <a:spcBef>
                <a:spcPts val="600"/>
              </a:spcBef>
            </a:pPr>
            <a:r>
              <a:rPr sz="1900" b="0" i="0">
                <a:solidFill>
                  <a:srgbClr val="0F172A"/>
                </a:solidFill>
                <a:latin typeface="Arial"/>
              </a:rPr>
              <a:t>text → another language</a:t>
            </a:r>
          </a:p>
          <a:p>
            <a:pPr algn="l">
              <a:lnSpc>
                <a:spcPct val="112000"/>
              </a:lnSpc>
              <a:spcBef>
                <a:spcPts val="600"/>
              </a:spcBef>
            </a:pPr>
            <a:r>
              <a:rPr sz="1600" b="1" i="0">
                <a:solidFill>
                  <a:srgbClr val="475569"/>
                </a:solidFill>
                <a:latin typeface="Arial"/>
              </a:rPr>
              <a:t>expert model</a:t>
            </a:r>
          </a:p>
        </p:txBody>
      </p:sp>
      <p:sp>
        <p:nvSpPr>
          <p:cNvPr id="12" name="Rounded Rectangle 11"/>
          <p:cNvSpPr/>
          <p:nvPr/>
        </p:nvSpPr>
        <p:spPr>
          <a:xfrm>
            <a:off x="4297679" y="1828800"/>
            <a:ext cx="3566160" cy="16916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400" b="1" i="0">
                <a:solidFill>
                  <a:srgbClr val="0E7490"/>
                </a:solidFill>
                <a:latin typeface="Arial"/>
              </a:rPr>
              <a:t>Language Detector</a:t>
            </a:r>
          </a:p>
          <a:p>
            <a:pPr algn="l">
              <a:lnSpc>
                <a:spcPct val="112000"/>
              </a:lnSpc>
              <a:spcBef>
                <a:spcPts val="600"/>
              </a:spcBef>
            </a:pPr>
            <a:r>
              <a:rPr sz="1900" b="0" i="0">
                <a:solidFill>
                  <a:srgbClr val="0F172A"/>
                </a:solidFill>
                <a:latin typeface="Arial"/>
              </a:rPr>
              <a:t>which language is this?</a:t>
            </a:r>
          </a:p>
          <a:p>
            <a:pPr algn="l">
              <a:lnSpc>
                <a:spcPct val="112000"/>
              </a:lnSpc>
              <a:spcBef>
                <a:spcPts val="600"/>
              </a:spcBef>
            </a:pPr>
            <a:r>
              <a:rPr sz="1600" b="1" i="0">
                <a:solidFill>
                  <a:srgbClr val="475569"/>
                </a:solidFill>
                <a:latin typeface="Arial"/>
              </a:rPr>
              <a:t>expert model</a:t>
            </a:r>
          </a:p>
        </p:txBody>
      </p:sp>
      <p:sp>
        <p:nvSpPr>
          <p:cNvPr id="13" name="Rounded Rectangle 12"/>
          <p:cNvSpPr/>
          <p:nvPr/>
        </p:nvSpPr>
        <p:spPr>
          <a:xfrm>
            <a:off x="8046719" y="1828800"/>
            <a:ext cx="3566160" cy="16916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400" b="1" i="0">
                <a:solidFill>
                  <a:srgbClr val="0E7490"/>
                </a:solidFill>
                <a:latin typeface="Arial"/>
              </a:rPr>
              <a:t>Summarizer</a:t>
            </a:r>
          </a:p>
          <a:p>
            <a:pPr algn="l">
              <a:lnSpc>
                <a:spcPct val="112000"/>
              </a:lnSpc>
              <a:spcBef>
                <a:spcPts val="600"/>
              </a:spcBef>
            </a:pPr>
            <a:r>
              <a:rPr sz="1900" b="0" i="0">
                <a:solidFill>
                  <a:srgbClr val="0F172A"/>
                </a:solidFill>
                <a:latin typeface="Arial"/>
              </a:rPr>
              <a:t>key points, tldr, teaser, headline</a:t>
            </a:r>
          </a:p>
          <a:p>
            <a:pPr algn="l">
              <a:lnSpc>
                <a:spcPct val="112000"/>
              </a:lnSpc>
              <a:spcBef>
                <a:spcPts val="600"/>
              </a:spcBef>
            </a:pPr>
            <a:r>
              <a:rPr sz="1600" b="1" i="0">
                <a:solidFill>
                  <a:srgbClr val="475569"/>
                </a:solidFill>
                <a:latin typeface="Arial"/>
              </a:rPr>
              <a:t>Gemini Nano</a:t>
            </a:r>
          </a:p>
        </p:txBody>
      </p:sp>
      <p:sp>
        <p:nvSpPr>
          <p:cNvPr id="14" name="Rounded Rectangle 13"/>
          <p:cNvSpPr/>
          <p:nvPr/>
        </p:nvSpPr>
        <p:spPr>
          <a:xfrm>
            <a:off x="548640" y="3703320"/>
            <a:ext cx="3566160" cy="16916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400" b="1" i="0">
                <a:solidFill>
                  <a:srgbClr val="0E7490"/>
                </a:solidFill>
                <a:latin typeface="Arial"/>
              </a:rPr>
              <a:t>Writer / Rewriter</a:t>
            </a:r>
          </a:p>
          <a:p>
            <a:pPr algn="l">
              <a:lnSpc>
                <a:spcPct val="112000"/>
              </a:lnSpc>
              <a:spcBef>
                <a:spcPts val="600"/>
              </a:spcBef>
            </a:pPr>
            <a:r>
              <a:rPr sz="1900" b="0" i="0">
                <a:solidFill>
                  <a:srgbClr val="0F172A"/>
                </a:solidFill>
                <a:latin typeface="Arial"/>
              </a:rPr>
              <a:t>draft or rework text</a:t>
            </a:r>
          </a:p>
          <a:p>
            <a:pPr algn="l">
              <a:lnSpc>
                <a:spcPct val="112000"/>
              </a:lnSpc>
              <a:spcBef>
                <a:spcPts val="600"/>
              </a:spcBef>
            </a:pPr>
            <a:r>
              <a:rPr sz="1600" b="1" i="0">
                <a:solidFill>
                  <a:srgbClr val="475569"/>
                </a:solidFill>
                <a:latin typeface="Arial"/>
              </a:rPr>
              <a:t>Gemini Nano</a:t>
            </a:r>
          </a:p>
        </p:txBody>
      </p:sp>
      <p:sp>
        <p:nvSpPr>
          <p:cNvPr id="15" name="Rounded Rectangle 14"/>
          <p:cNvSpPr/>
          <p:nvPr/>
        </p:nvSpPr>
        <p:spPr>
          <a:xfrm>
            <a:off x="4297679" y="3703320"/>
            <a:ext cx="3566160" cy="16916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400" b="1" i="0">
                <a:solidFill>
                  <a:srgbClr val="0E7490"/>
                </a:solidFill>
                <a:latin typeface="Arial"/>
              </a:rPr>
              <a:t>Proofreader</a:t>
            </a:r>
          </a:p>
          <a:p>
            <a:pPr algn="l">
              <a:lnSpc>
                <a:spcPct val="112000"/>
              </a:lnSpc>
              <a:spcBef>
                <a:spcPts val="600"/>
              </a:spcBef>
            </a:pPr>
            <a:r>
              <a:rPr sz="1900" b="0" i="0">
                <a:solidFill>
                  <a:srgbClr val="0F172A"/>
                </a:solidFill>
                <a:latin typeface="Arial"/>
              </a:rPr>
              <a:t>grammar and spelling fixes</a:t>
            </a:r>
          </a:p>
          <a:p>
            <a:pPr algn="l">
              <a:lnSpc>
                <a:spcPct val="112000"/>
              </a:lnSpc>
              <a:spcBef>
                <a:spcPts val="600"/>
              </a:spcBef>
            </a:pPr>
            <a:r>
              <a:rPr sz="1600" b="1" i="0">
                <a:solidFill>
                  <a:srgbClr val="475569"/>
                </a:solidFill>
                <a:latin typeface="Arial"/>
              </a:rPr>
              <a:t>Gemini Nano</a:t>
            </a:r>
          </a:p>
        </p:txBody>
      </p:sp>
      <p:sp>
        <p:nvSpPr>
          <p:cNvPr id="16" name="Rounded Rectangle 15"/>
          <p:cNvSpPr/>
          <p:nvPr/>
        </p:nvSpPr>
        <p:spPr>
          <a:xfrm>
            <a:off x="8046720" y="3703320"/>
            <a:ext cx="3593592" cy="1691640"/>
          </a:xfrm>
          <a:prstGeom prst="roundRect">
            <a:avLst>
              <a:gd name="adj" fmla="val 6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200" b="1" i="0">
                <a:solidFill>
                  <a:srgbClr val="0E7490"/>
                </a:solidFill>
                <a:latin typeface="Arial"/>
              </a:rPr>
              <a:t>Same shape for all</a:t>
            </a:r>
          </a:p>
          <a:p>
            <a:pPr algn="l">
              <a:lnSpc>
                <a:spcPct val="112000"/>
              </a:lnSpc>
              <a:spcBef>
                <a:spcPts val="600"/>
              </a:spcBef>
            </a:pPr>
            <a:r>
              <a:rPr sz="1900" b="0" i="0">
                <a:solidFill>
                  <a:srgbClr val="0F172A"/>
                </a:solidFill>
                <a:latin typeface="Arial"/>
              </a:rPr>
              <a:t>create() → use → destroy()</a:t>
            </a:r>
          </a:p>
          <a:p>
            <a:pPr algn="l">
              <a:lnSpc>
                <a:spcPct val="112000"/>
              </a:lnSpc>
              <a:spcBef>
                <a:spcPts val="600"/>
              </a:spcBef>
            </a:pPr>
            <a:r>
              <a:rPr sz="1600" b="0" i="0">
                <a:solidFill>
                  <a:srgbClr val="475569"/>
                </a:solidFill>
                <a:latin typeface="Arial"/>
              </a:rPr>
              <a:t>Translator &amp; Language Detector: desktop only</a:t>
            </a:r>
          </a:p>
        </p:txBody>
      </p:sp>
      <p:sp>
        <p:nvSpPr>
          <p:cNvPr id="17" name="TextBox 16"/>
          <p:cNvSpPr txBox="1"/>
          <p:nvPr/>
        </p:nvSpPr>
        <p:spPr>
          <a:xfrm>
            <a:off x="548640" y="5715000"/>
            <a:ext cx="10972800" cy="548640"/>
          </a:xfrm>
          <a:prstGeom prst="rect">
            <a:avLst/>
          </a:prstGeom>
          <a:noFill/>
        </p:spPr>
        <p:txBody>
          <a:bodyPr wrap="square" lIns="0" rIns="0" tIns="18288" bIns="18288" anchor="t">
            <a:spAutoFit/>
          </a:bodyPr>
          <a:lstStyle/>
          <a:p>
            <a:pPr algn="l">
              <a:lnSpc>
                <a:spcPct val="112000"/>
              </a:lnSpc>
            </a:pPr>
            <a:r>
              <a:rPr sz="1700" b="0" i="0">
                <a:solidFill>
                  <a:srgbClr val="475569"/>
                </a:solidFill>
                <a:latin typeface="Arial"/>
              </a:rPr>
              <a:t>Foundation-model APIs run on Windows 10/11, macOS 13+, Linux and Chromebook Plus — not on Chrome for Android or iOS.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5 · STATUS</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Task API status, October 2026</a:t>
            </a:r>
          </a:p>
        </p:txBody>
      </p:sp>
      <p:sp>
        <p:nvSpPr>
          <p:cNvPr id="4" name="TextBox 3"/>
          <p:cNvSpPr txBox="1"/>
          <p:nvPr/>
        </p:nvSpPr>
        <p:spPr>
          <a:xfrm>
            <a:off x="548640" y="6400800"/>
            <a:ext cx="10241280" cy="274320"/>
          </a:xfrm>
          <a:prstGeom prst="rect">
            <a:avLst/>
          </a:prstGeom>
          <a:noFill/>
        </p:spPr>
        <p:txBody>
          <a:bodyPr wrap="square" lIns="0" rIns="0" tIns="18288" bIns="18288" anchor="t">
            <a:spAutoFit/>
          </a:bodyPr>
          <a:lstStyle/>
          <a:p>
            <a:pPr algn="l">
              <a:lnSpc>
                <a:spcPct val="112000"/>
              </a:lnSpc>
            </a:pPr>
            <a:r>
              <a:rPr sz="1200" b="0" i="0">
                <a:solidFill>
                  <a:srgbClr val="475569"/>
                </a:solidFill>
                <a:latin typeface="Arial"/>
              </a:rPr>
              <a:t>Source: developer.chrome.com/docs/ai/built-in-apis, chromestatus.com, learn.microsoft.com/microsoft-edge — as of 16 Oct 2026</a:t>
            </a:r>
          </a:p>
        </p:txBody>
      </p:sp>
      <p:sp>
        <p:nvSpPr>
          <p:cNvPr id="5" name="TextBox 4"/>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9</a:t>
            </a:r>
          </a:p>
        </p:txBody>
      </p:sp>
      <p:sp>
        <p:nvSpPr>
          <p:cNvPr id="6" name="Rectangle 5"/>
          <p:cNvSpPr/>
          <p:nvPr/>
        </p:nvSpPr>
        <p:spPr>
          <a:xfrm>
            <a:off x="9692640" y="274320"/>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L5  Task APIs</a:t>
            </a:r>
          </a:p>
        </p:txBody>
      </p:sp>
      <p:sp>
        <p:nvSpPr>
          <p:cNvPr id="7" name="Rectangle 6"/>
          <p:cNvSpPr/>
          <p:nvPr/>
        </p:nvSpPr>
        <p:spPr>
          <a:xfrm>
            <a:off x="9692640" y="489203"/>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L4  Prompt API</a:t>
            </a:r>
          </a:p>
        </p:txBody>
      </p:sp>
      <p:sp>
        <p:nvSpPr>
          <p:cNvPr id="8" name="Rectangle 7"/>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9" name="Rectangle 8"/>
          <p:cNvSpPr/>
          <p:nvPr/>
        </p:nvSpPr>
        <p:spPr>
          <a:xfrm>
            <a:off x="9692640" y="918971"/>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L2  Compute APIs</a:t>
            </a:r>
          </a:p>
        </p:txBody>
      </p:sp>
      <p:sp>
        <p:nvSpPr>
          <p:cNvPr id="10" name="Rectangle 9"/>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1" name="Rectangle 10"/>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2" name="TextBox 11"/>
          <p:cNvSpPr txBox="1"/>
          <p:nvPr/>
        </p:nvSpPr>
        <p:spPr>
          <a:xfrm>
            <a:off x="548640" y="1737360"/>
            <a:ext cx="2743200" cy="365760"/>
          </a:xfrm>
          <a:prstGeom prst="rect">
            <a:avLst/>
          </a:prstGeom>
          <a:noFill/>
        </p:spPr>
        <p:txBody>
          <a:bodyPr wrap="square" lIns="0" rIns="0" tIns="18288" bIns="18288" anchor="t">
            <a:spAutoFit/>
          </a:bodyPr>
          <a:lstStyle/>
          <a:p>
            <a:pPr algn="l">
              <a:lnSpc>
                <a:spcPct val="112000"/>
              </a:lnSpc>
            </a:pPr>
            <a:r>
              <a:rPr sz="1700" b="1" i="0">
                <a:solidFill>
                  <a:srgbClr val="475569"/>
                </a:solidFill>
                <a:latin typeface="Arial"/>
              </a:rPr>
              <a:t>API</a:t>
            </a:r>
          </a:p>
        </p:txBody>
      </p:sp>
      <p:sp>
        <p:nvSpPr>
          <p:cNvPr id="13" name="TextBox 12"/>
          <p:cNvSpPr txBox="1"/>
          <p:nvPr/>
        </p:nvSpPr>
        <p:spPr>
          <a:xfrm>
            <a:off x="3383280" y="1737360"/>
            <a:ext cx="3840480" cy="365760"/>
          </a:xfrm>
          <a:prstGeom prst="rect">
            <a:avLst/>
          </a:prstGeom>
          <a:noFill/>
        </p:spPr>
        <p:txBody>
          <a:bodyPr wrap="square" lIns="0" rIns="0" tIns="18288" bIns="18288" anchor="t">
            <a:spAutoFit/>
          </a:bodyPr>
          <a:lstStyle/>
          <a:p>
            <a:pPr algn="l">
              <a:lnSpc>
                <a:spcPct val="112000"/>
              </a:lnSpc>
            </a:pPr>
            <a:r>
              <a:rPr sz="1700" b="1" i="0">
                <a:solidFill>
                  <a:srgbClr val="475569"/>
                </a:solidFill>
                <a:latin typeface="Arial"/>
              </a:rPr>
              <a:t>Chrome</a:t>
            </a:r>
          </a:p>
        </p:txBody>
      </p:sp>
      <p:sp>
        <p:nvSpPr>
          <p:cNvPr id="14" name="TextBox 13"/>
          <p:cNvSpPr txBox="1"/>
          <p:nvPr/>
        </p:nvSpPr>
        <p:spPr>
          <a:xfrm>
            <a:off x="7406640" y="1737360"/>
            <a:ext cx="4206240" cy="365760"/>
          </a:xfrm>
          <a:prstGeom prst="rect">
            <a:avLst/>
          </a:prstGeom>
          <a:noFill/>
        </p:spPr>
        <p:txBody>
          <a:bodyPr wrap="square" lIns="0" rIns="0" tIns="18288" bIns="18288" anchor="t">
            <a:spAutoFit/>
          </a:bodyPr>
          <a:lstStyle/>
          <a:p>
            <a:pPr algn="l">
              <a:lnSpc>
                <a:spcPct val="112000"/>
              </a:lnSpc>
            </a:pPr>
            <a:r>
              <a:rPr sz="1700" b="1" i="0">
                <a:solidFill>
                  <a:srgbClr val="475569"/>
                </a:solidFill>
                <a:latin typeface="Arial"/>
              </a:rPr>
              <a:t>Edge</a:t>
            </a:r>
          </a:p>
        </p:txBody>
      </p:sp>
      <p:sp>
        <p:nvSpPr>
          <p:cNvPr id="15" name="Rectangle 14"/>
          <p:cNvSpPr/>
          <p:nvPr/>
        </p:nvSpPr>
        <p:spPr>
          <a:xfrm>
            <a:off x="457200" y="2075688"/>
            <a:ext cx="11274552" cy="58521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8640" y="2148840"/>
            <a:ext cx="2743200" cy="411480"/>
          </a:xfrm>
          <a:prstGeom prst="rect">
            <a:avLst/>
          </a:prstGeom>
          <a:noFill/>
        </p:spPr>
        <p:txBody>
          <a:bodyPr wrap="square" lIns="0" rIns="0" tIns="18288" bIns="18288" anchor="ctr">
            <a:spAutoFit/>
          </a:bodyPr>
          <a:lstStyle/>
          <a:p>
            <a:pPr algn="l">
              <a:lnSpc>
                <a:spcPct val="112000"/>
              </a:lnSpc>
            </a:pPr>
            <a:r>
              <a:rPr sz="1900" b="1" i="0">
                <a:solidFill>
                  <a:srgbClr val="0F172A"/>
                </a:solidFill>
                <a:latin typeface="Arial"/>
              </a:rPr>
              <a:t>Translator</a:t>
            </a:r>
          </a:p>
        </p:txBody>
      </p:sp>
      <p:sp>
        <p:nvSpPr>
          <p:cNvPr id="17" name="Rounded Rectangle 16"/>
          <p:cNvSpPr/>
          <p:nvPr/>
        </p:nvSpPr>
        <p:spPr>
          <a:xfrm>
            <a:off x="3383280" y="2167128"/>
            <a:ext cx="160020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Stable · 138</a:t>
            </a:r>
          </a:p>
        </p:txBody>
      </p:sp>
      <p:sp>
        <p:nvSpPr>
          <p:cNvPr id="18" name="TextBox 17"/>
          <p:cNvSpPr txBox="1"/>
          <p:nvPr/>
        </p:nvSpPr>
        <p:spPr>
          <a:xfrm>
            <a:off x="5120640" y="2148840"/>
            <a:ext cx="219456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desktop only</a:t>
            </a:r>
          </a:p>
        </p:txBody>
      </p:sp>
      <p:sp>
        <p:nvSpPr>
          <p:cNvPr id="19" name="Rounded Rectangle 18"/>
          <p:cNvSpPr/>
          <p:nvPr/>
        </p:nvSpPr>
        <p:spPr>
          <a:xfrm>
            <a:off x="7406640" y="2167128"/>
            <a:ext cx="160020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Stable · 148</a:t>
            </a:r>
          </a:p>
        </p:txBody>
      </p:sp>
      <p:sp>
        <p:nvSpPr>
          <p:cNvPr id="20" name="TextBox 19"/>
          <p:cNvSpPr txBox="1"/>
          <p:nvPr/>
        </p:nvSpPr>
        <p:spPr>
          <a:xfrm>
            <a:off x="9144000" y="2148840"/>
            <a:ext cx="256032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145+ languages</a:t>
            </a:r>
          </a:p>
        </p:txBody>
      </p:sp>
      <p:sp>
        <p:nvSpPr>
          <p:cNvPr id="21" name="TextBox 20"/>
          <p:cNvSpPr txBox="1"/>
          <p:nvPr/>
        </p:nvSpPr>
        <p:spPr>
          <a:xfrm>
            <a:off x="548640" y="2770632"/>
            <a:ext cx="2743200" cy="411480"/>
          </a:xfrm>
          <a:prstGeom prst="rect">
            <a:avLst/>
          </a:prstGeom>
          <a:noFill/>
        </p:spPr>
        <p:txBody>
          <a:bodyPr wrap="square" lIns="0" rIns="0" tIns="18288" bIns="18288" anchor="ctr">
            <a:spAutoFit/>
          </a:bodyPr>
          <a:lstStyle/>
          <a:p>
            <a:pPr algn="l">
              <a:lnSpc>
                <a:spcPct val="112000"/>
              </a:lnSpc>
            </a:pPr>
            <a:r>
              <a:rPr sz="1900" b="1" i="0">
                <a:solidFill>
                  <a:srgbClr val="0F172A"/>
                </a:solidFill>
                <a:latin typeface="Arial"/>
              </a:rPr>
              <a:t>Language Detector</a:t>
            </a:r>
          </a:p>
        </p:txBody>
      </p:sp>
      <p:sp>
        <p:nvSpPr>
          <p:cNvPr id="22" name="Rounded Rectangle 21"/>
          <p:cNvSpPr/>
          <p:nvPr/>
        </p:nvSpPr>
        <p:spPr>
          <a:xfrm>
            <a:off x="3383280" y="2788920"/>
            <a:ext cx="160020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Stable · 138</a:t>
            </a:r>
          </a:p>
        </p:txBody>
      </p:sp>
      <p:sp>
        <p:nvSpPr>
          <p:cNvPr id="23" name="TextBox 22"/>
          <p:cNvSpPr txBox="1"/>
          <p:nvPr/>
        </p:nvSpPr>
        <p:spPr>
          <a:xfrm>
            <a:off x="5120640" y="2770632"/>
            <a:ext cx="219456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desktop only</a:t>
            </a:r>
          </a:p>
        </p:txBody>
      </p:sp>
      <p:sp>
        <p:nvSpPr>
          <p:cNvPr id="24" name="Rounded Rectangle 23"/>
          <p:cNvSpPr/>
          <p:nvPr/>
        </p:nvSpPr>
        <p:spPr>
          <a:xfrm>
            <a:off x="7406640" y="2788920"/>
            <a:ext cx="160020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Stable · 148</a:t>
            </a:r>
          </a:p>
        </p:txBody>
      </p:sp>
      <p:sp>
        <p:nvSpPr>
          <p:cNvPr id="25" name="TextBox 24"/>
          <p:cNvSpPr txBox="1"/>
          <p:nvPr/>
        </p:nvSpPr>
        <p:spPr>
          <a:xfrm>
            <a:off x="9144000" y="2770632"/>
            <a:ext cx="256032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
            </a:r>
          </a:p>
        </p:txBody>
      </p:sp>
      <p:sp>
        <p:nvSpPr>
          <p:cNvPr id="26" name="Rectangle 25"/>
          <p:cNvSpPr/>
          <p:nvPr/>
        </p:nvSpPr>
        <p:spPr>
          <a:xfrm>
            <a:off x="457200" y="3319272"/>
            <a:ext cx="11274552" cy="58521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3392424"/>
            <a:ext cx="2743200" cy="411480"/>
          </a:xfrm>
          <a:prstGeom prst="rect">
            <a:avLst/>
          </a:prstGeom>
          <a:noFill/>
        </p:spPr>
        <p:txBody>
          <a:bodyPr wrap="square" lIns="0" rIns="0" tIns="18288" bIns="18288" anchor="ctr">
            <a:spAutoFit/>
          </a:bodyPr>
          <a:lstStyle/>
          <a:p>
            <a:pPr algn="l">
              <a:lnSpc>
                <a:spcPct val="112000"/>
              </a:lnSpc>
            </a:pPr>
            <a:r>
              <a:rPr sz="1900" b="1" i="0">
                <a:solidFill>
                  <a:srgbClr val="0F172A"/>
                </a:solidFill>
                <a:latin typeface="Arial"/>
              </a:rPr>
              <a:t>Summarizer</a:t>
            </a:r>
          </a:p>
        </p:txBody>
      </p:sp>
      <p:sp>
        <p:nvSpPr>
          <p:cNvPr id="28" name="Rounded Rectangle 27"/>
          <p:cNvSpPr/>
          <p:nvPr/>
        </p:nvSpPr>
        <p:spPr>
          <a:xfrm>
            <a:off x="3383280" y="3410712"/>
            <a:ext cx="160020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Stable · 138</a:t>
            </a:r>
          </a:p>
        </p:txBody>
      </p:sp>
      <p:sp>
        <p:nvSpPr>
          <p:cNvPr id="29" name="TextBox 28"/>
          <p:cNvSpPr txBox="1"/>
          <p:nvPr/>
        </p:nvSpPr>
        <p:spPr>
          <a:xfrm>
            <a:off x="5120640" y="3392424"/>
            <a:ext cx="219456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
            </a:r>
          </a:p>
        </p:txBody>
      </p:sp>
      <p:sp>
        <p:nvSpPr>
          <p:cNvPr id="30" name="Rounded Rectangle 29"/>
          <p:cNvSpPr/>
          <p:nvPr/>
        </p:nvSpPr>
        <p:spPr>
          <a:xfrm>
            <a:off x="7406640" y="3410712"/>
            <a:ext cx="1600200" cy="347472"/>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Preview</a:t>
            </a:r>
          </a:p>
        </p:txBody>
      </p:sp>
      <p:sp>
        <p:nvSpPr>
          <p:cNvPr id="31" name="TextBox 30"/>
          <p:cNvSpPr txBox="1"/>
          <p:nvPr/>
        </p:nvSpPr>
        <p:spPr>
          <a:xfrm>
            <a:off x="9144000" y="3392424"/>
            <a:ext cx="256032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on by default in Canary/Dev</a:t>
            </a:r>
          </a:p>
        </p:txBody>
      </p:sp>
      <p:sp>
        <p:nvSpPr>
          <p:cNvPr id="32" name="TextBox 31"/>
          <p:cNvSpPr txBox="1"/>
          <p:nvPr/>
        </p:nvSpPr>
        <p:spPr>
          <a:xfrm>
            <a:off x="548640" y="4014216"/>
            <a:ext cx="2743200" cy="411480"/>
          </a:xfrm>
          <a:prstGeom prst="rect">
            <a:avLst/>
          </a:prstGeom>
          <a:noFill/>
        </p:spPr>
        <p:txBody>
          <a:bodyPr wrap="square" lIns="0" rIns="0" tIns="18288" bIns="18288" anchor="ctr">
            <a:spAutoFit/>
          </a:bodyPr>
          <a:lstStyle/>
          <a:p>
            <a:pPr algn="l">
              <a:lnSpc>
                <a:spcPct val="112000"/>
              </a:lnSpc>
            </a:pPr>
            <a:r>
              <a:rPr sz="1900" b="1" i="0">
                <a:solidFill>
                  <a:srgbClr val="0F172A"/>
                </a:solidFill>
                <a:latin typeface="Arial"/>
              </a:rPr>
              <a:t>Writer / Rewriter</a:t>
            </a:r>
          </a:p>
        </p:txBody>
      </p:sp>
      <p:sp>
        <p:nvSpPr>
          <p:cNvPr id="33" name="Rounded Rectangle 32"/>
          <p:cNvSpPr/>
          <p:nvPr/>
        </p:nvSpPr>
        <p:spPr>
          <a:xfrm>
            <a:off x="3383280" y="4032504"/>
            <a:ext cx="1600200" cy="347472"/>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Flag</a:t>
            </a:r>
          </a:p>
        </p:txBody>
      </p:sp>
      <p:sp>
        <p:nvSpPr>
          <p:cNvPr id="34" name="TextBox 33"/>
          <p:cNvSpPr txBox="1"/>
          <p:nvPr/>
        </p:nvSpPr>
        <p:spPr>
          <a:xfrm>
            <a:off x="5120640" y="4014216"/>
            <a:ext cx="219456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origin trial ended</a:t>
            </a:r>
          </a:p>
        </p:txBody>
      </p:sp>
      <p:sp>
        <p:nvSpPr>
          <p:cNvPr id="35" name="Rounded Rectangle 34"/>
          <p:cNvSpPr/>
          <p:nvPr/>
        </p:nvSpPr>
        <p:spPr>
          <a:xfrm>
            <a:off x="7406640" y="4032504"/>
            <a:ext cx="1600200" cy="347472"/>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Preview</a:t>
            </a:r>
          </a:p>
        </p:txBody>
      </p:sp>
      <p:sp>
        <p:nvSpPr>
          <p:cNvPr id="36" name="TextBox 35"/>
          <p:cNvSpPr txBox="1"/>
          <p:nvPr/>
        </p:nvSpPr>
        <p:spPr>
          <a:xfrm>
            <a:off x="9144000" y="4014216"/>
            <a:ext cx="256032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Canary/Dev, flag</a:t>
            </a:r>
          </a:p>
        </p:txBody>
      </p:sp>
      <p:sp>
        <p:nvSpPr>
          <p:cNvPr id="37" name="Rectangle 36"/>
          <p:cNvSpPr/>
          <p:nvPr/>
        </p:nvSpPr>
        <p:spPr>
          <a:xfrm>
            <a:off x="457200" y="4562856"/>
            <a:ext cx="11274552" cy="58521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48640" y="4636008"/>
            <a:ext cx="2743200" cy="411480"/>
          </a:xfrm>
          <a:prstGeom prst="rect">
            <a:avLst/>
          </a:prstGeom>
          <a:noFill/>
        </p:spPr>
        <p:txBody>
          <a:bodyPr wrap="square" lIns="0" rIns="0" tIns="18288" bIns="18288" anchor="ctr">
            <a:spAutoFit/>
          </a:bodyPr>
          <a:lstStyle/>
          <a:p>
            <a:pPr algn="l">
              <a:lnSpc>
                <a:spcPct val="112000"/>
              </a:lnSpc>
            </a:pPr>
            <a:r>
              <a:rPr sz="1900" b="1" i="0">
                <a:solidFill>
                  <a:srgbClr val="0F172A"/>
                </a:solidFill>
                <a:latin typeface="Arial"/>
              </a:rPr>
              <a:t>Proofreader</a:t>
            </a:r>
          </a:p>
        </p:txBody>
      </p:sp>
      <p:sp>
        <p:nvSpPr>
          <p:cNvPr id="39" name="Rounded Rectangle 38"/>
          <p:cNvSpPr/>
          <p:nvPr/>
        </p:nvSpPr>
        <p:spPr>
          <a:xfrm>
            <a:off x="3383280" y="4654296"/>
            <a:ext cx="1600200" cy="347472"/>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Flag</a:t>
            </a:r>
          </a:p>
        </p:txBody>
      </p:sp>
      <p:sp>
        <p:nvSpPr>
          <p:cNvPr id="40" name="TextBox 39"/>
          <p:cNvSpPr txBox="1"/>
          <p:nvPr/>
        </p:nvSpPr>
        <p:spPr>
          <a:xfrm>
            <a:off x="5120640" y="4636008"/>
            <a:ext cx="219456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origin trial ended</a:t>
            </a:r>
          </a:p>
        </p:txBody>
      </p:sp>
      <p:sp>
        <p:nvSpPr>
          <p:cNvPr id="41" name="Rounded Rectangle 40"/>
          <p:cNvSpPr/>
          <p:nvPr/>
        </p:nvSpPr>
        <p:spPr>
          <a:xfrm>
            <a:off x="7406640" y="4654296"/>
            <a:ext cx="1600200" cy="347472"/>
          </a:xfrm>
          <a:prstGeom prst="roundRect">
            <a:avLst>
              <a:gd name="adj" fmla="val 5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475569"/>
                </a:solidFill>
                <a:latin typeface="Arial"/>
              </a:rPr>
              <a:t>—</a:t>
            </a:r>
          </a:p>
        </p:txBody>
      </p:sp>
      <p:sp>
        <p:nvSpPr>
          <p:cNvPr id="42" name="TextBox 41"/>
          <p:cNvSpPr txBox="1"/>
          <p:nvPr/>
        </p:nvSpPr>
        <p:spPr>
          <a:xfrm>
            <a:off x="9144000" y="4636008"/>
            <a:ext cx="256032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not listed</a:t>
            </a:r>
          </a:p>
        </p:txBody>
      </p:sp>
      <p:sp>
        <p:nvSpPr>
          <p:cNvPr id="43" name="TextBox 42"/>
          <p:cNvSpPr txBox="1"/>
          <p:nvPr/>
        </p:nvSpPr>
        <p:spPr>
          <a:xfrm>
            <a:off x="548640" y="5257800"/>
            <a:ext cx="2743200" cy="411480"/>
          </a:xfrm>
          <a:prstGeom prst="rect">
            <a:avLst/>
          </a:prstGeom>
          <a:noFill/>
        </p:spPr>
        <p:txBody>
          <a:bodyPr wrap="square" lIns="0" rIns="0" tIns="18288" bIns="18288" anchor="ctr">
            <a:spAutoFit/>
          </a:bodyPr>
          <a:lstStyle/>
          <a:p>
            <a:pPr algn="l">
              <a:lnSpc>
                <a:spcPct val="112000"/>
              </a:lnSpc>
            </a:pPr>
            <a:r>
              <a:rPr sz="1900" b="1" i="0">
                <a:solidFill>
                  <a:srgbClr val="0F172A"/>
                </a:solidFill>
                <a:latin typeface="Arial"/>
              </a:rPr>
              <a:t>Speech, on-device</a:t>
            </a:r>
          </a:p>
        </p:txBody>
      </p:sp>
      <p:sp>
        <p:nvSpPr>
          <p:cNvPr id="44" name="Rounded Rectangle 43"/>
          <p:cNvSpPr/>
          <p:nvPr/>
        </p:nvSpPr>
        <p:spPr>
          <a:xfrm>
            <a:off x="3383280" y="5276088"/>
            <a:ext cx="160020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Stable · 139</a:t>
            </a:r>
          </a:p>
        </p:txBody>
      </p:sp>
      <p:sp>
        <p:nvSpPr>
          <p:cNvPr id="45" name="TextBox 44"/>
          <p:cNvSpPr txBox="1"/>
          <p:nvPr/>
        </p:nvSpPr>
        <p:spPr>
          <a:xfrm>
            <a:off x="5120640" y="5257800"/>
            <a:ext cx="219456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processLocally</a:t>
            </a:r>
          </a:p>
        </p:txBody>
      </p:sp>
      <p:sp>
        <p:nvSpPr>
          <p:cNvPr id="46" name="Rounded Rectangle 45"/>
          <p:cNvSpPr/>
          <p:nvPr/>
        </p:nvSpPr>
        <p:spPr>
          <a:xfrm>
            <a:off x="7406640" y="5276088"/>
            <a:ext cx="1600200" cy="347472"/>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Preview</a:t>
            </a:r>
          </a:p>
        </p:txBody>
      </p:sp>
      <p:sp>
        <p:nvSpPr>
          <p:cNvPr id="47" name="TextBox 46"/>
          <p:cNvSpPr txBox="1"/>
          <p:nvPr/>
        </p:nvSpPr>
        <p:spPr>
          <a:xfrm>
            <a:off x="9144000" y="5257800"/>
            <a:ext cx="2560320" cy="411480"/>
          </a:xfrm>
          <a:prstGeom prst="rect">
            <a:avLst/>
          </a:prstGeom>
          <a:noFill/>
        </p:spPr>
        <p:txBody>
          <a:bodyPr wrap="square" lIns="0" rIns="0" tIns="18288" bIns="18288" anchor="ctr">
            <a:spAutoFit/>
          </a:bodyPr>
          <a:lstStyle/>
          <a:p>
            <a:pPr algn="l">
              <a:lnSpc>
                <a:spcPct val="112000"/>
              </a:lnSpc>
            </a:pPr>
            <a:r>
              <a:rPr sz="1500" b="0" i="0">
                <a:solidFill>
                  <a:srgbClr val="475569"/>
                </a:solidFill>
                <a:latin typeface="Arial"/>
              </a:rPr>
              <a:t>Canary/Dev</a:t>
            </a:r>
          </a:p>
        </p:txBody>
      </p:sp>
      <p:sp>
        <p:nvSpPr>
          <p:cNvPr id="48" name="TextBox 47"/>
          <p:cNvSpPr txBox="1"/>
          <p:nvPr/>
        </p:nvSpPr>
        <p:spPr>
          <a:xfrm>
            <a:off x="548640" y="5943600"/>
            <a:ext cx="10972800" cy="365760"/>
          </a:xfrm>
          <a:prstGeom prst="rect">
            <a:avLst/>
          </a:prstGeom>
          <a:noFill/>
        </p:spPr>
        <p:txBody>
          <a:bodyPr wrap="square" lIns="0" rIns="0" tIns="18288" bIns="18288" anchor="t">
            <a:spAutoFit/>
          </a:bodyPr>
          <a:lstStyle/>
          <a:p>
            <a:pPr algn="l">
              <a:lnSpc>
                <a:spcPct val="112000"/>
              </a:lnSpc>
            </a:pPr>
            <a:r>
              <a:rPr sz="1500" b="0" i="0">
                <a:solidFill>
                  <a:srgbClr val="475569"/>
                </a:solidFill>
                <a:latin typeface="Arial"/>
              </a:rPr>
              <a:t>Firefox and Safari: no Translator, Language Detector or Summarizer (MDN browser-compat-data). Positions: slide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5 · CODE</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Translate and summarize</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10</a:t>
            </a:r>
          </a:p>
        </p:txBody>
      </p:sp>
      <p:sp>
        <p:nvSpPr>
          <p:cNvPr id="5" name="Rectangle 4"/>
          <p:cNvSpPr/>
          <p:nvPr/>
        </p:nvSpPr>
        <p:spPr>
          <a:xfrm>
            <a:off x="9692640" y="274320"/>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L5  Task APIs</a:t>
            </a:r>
          </a:p>
        </p:txBody>
      </p:sp>
      <p:sp>
        <p:nvSpPr>
          <p:cNvPr id="6" name="Rectangle 5"/>
          <p:cNvSpPr/>
          <p:nvPr/>
        </p:nvSpPr>
        <p:spPr>
          <a:xfrm>
            <a:off x="9692640" y="489203"/>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L4  Prompt API</a:t>
            </a:r>
          </a:p>
        </p:txBody>
      </p:sp>
      <p:sp>
        <p:nvSpPr>
          <p:cNvPr id="7" name="Rectangle 6"/>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8" name="Rectangle 7"/>
          <p:cNvSpPr/>
          <p:nvPr/>
        </p:nvSpPr>
        <p:spPr>
          <a:xfrm>
            <a:off x="9692640" y="918971"/>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L2  Compute APIs</a:t>
            </a:r>
          </a:p>
        </p:txBody>
      </p:sp>
      <p:sp>
        <p:nvSpPr>
          <p:cNvPr id="9" name="Rectangle 8"/>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0" name="Rectangle 9"/>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1" name="Rounded Rectangle 10"/>
          <p:cNvSpPr/>
          <p:nvPr/>
        </p:nvSpPr>
        <p:spPr>
          <a:xfrm>
            <a:off x="548640" y="1691640"/>
            <a:ext cx="5440680" cy="42062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400" b="0" i="0">
                <a:solidFill>
                  <a:srgbClr val="94A3B8"/>
                </a:solidFill>
                <a:latin typeface="Consolas"/>
              </a:rPr>
              <a:t>// Translator — Chrome 138, Edge 148</a:t>
            </a:r>
          </a:p>
          <a:p>
            <a:pPr algn="l">
              <a:lnSpc>
                <a:spcPct val="110000"/>
              </a:lnSpc>
            </a:pPr>
            <a:r>
              <a:rPr sz="1400" b="0" i="0">
                <a:solidFill>
                  <a:srgbClr val="67E8F9"/>
                </a:solidFill>
                <a:latin typeface="Consolas"/>
              </a:rPr>
              <a:t>const</a:t>
            </a:r>
            <a:r>
              <a:rPr sz="1400" b="0" i="0">
                <a:solidFill>
                  <a:srgbClr val="E2E8F0"/>
                </a:solidFill>
                <a:latin typeface="Consolas"/>
              </a:rPr>
              <a:t> translator = </a:t>
            </a:r>
            <a:r>
              <a:rPr sz="1400" b="0" i="0">
                <a:solidFill>
                  <a:srgbClr val="67E8F9"/>
                </a:solidFill>
                <a:latin typeface="Consolas"/>
              </a:rPr>
              <a:t>await</a:t>
            </a:r>
            <a:r>
              <a:rPr sz="1400" b="0" i="0">
                <a:solidFill>
                  <a:srgbClr val="E2E8F0"/>
                </a:solidFill>
                <a:latin typeface="Consolas"/>
              </a:rPr>
              <a:t> Translator.create({</a:t>
            </a:r>
          </a:p>
          <a:p>
            <a:pPr algn="l">
              <a:lnSpc>
                <a:spcPct val="110000"/>
              </a:lnSpc>
            </a:pPr>
            <a:r>
              <a:rPr sz="1400" b="0" i="0">
                <a:solidFill>
                  <a:srgbClr val="E2E8F0"/>
                </a:solidFill>
                <a:latin typeface="Consolas"/>
              </a:rPr>
              <a:t>  sourceLanguage: </a:t>
            </a:r>
            <a:r>
              <a:rPr sz="1400" b="0" i="0">
                <a:solidFill>
                  <a:srgbClr val="FCD34D"/>
                </a:solidFill>
                <a:latin typeface="Consolas"/>
              </a:rPr>
              <a:t>'es'</a:t>
            </a:r>
            <a:r>
              <a:rPr sz="1400" b="0" i="0">
                <a:solidFill>
                  <a:srgbClr val="E2E8F0"/>
                </a:solidFill>
                <a:latin typeface="Consolas"/>
              </a:rPr>
              <a:t>,</a:t>
            </a:r>
          </a:p>
          <a:p>
            <a:pPr algn="l">
              <a:lnSpc>
                <a:spcPct val="110000"/>
              </a:lnSpc>
            </a:pPr>
            <a:r>
              <a:rPr sz="1400" b="0" i="0">
                <a:solidFill>
                  <a:srgbClr val="E2E8F0"/>
                </a:solidFill>
                <a:latin typeface="Consolas"/>
              </a:rPr>
              <a:t>  targetLanguage: </a:t>
            </a:r>
            <a:r>
              <a:rPr sz="1400" b="0" i="0">
                <a:solidFill>
                  <a:srgbClr val="FCD34D"/>
                </a:solidFill>
                <a:latin typeface="Consolas"/>
              </a:rPr>
              <a:t>'fr'</a:t>
            </a:r>
            <a:r>
              <a:rPr sz="1400" b="0" i="0">
                <a:solidFill>
                  <a:srgbClr val="E2E8F0"/>
                </a:solidFill>
                <a:latin typeface="Consolas"/>
              </a:rPr>
              <a:t>,</a:t>
            </a:r>
          </a:p>
          <a:p>
            <a:pPr algn="l">
              <a:lnSpc>
                <a:spcPct val="110000"/>
              </a:lnSpc>
            </a:pPr>
            <a:r>
              <a:rPr sz="1400" b="0" i="0">
                <a:solidFill>
                  <a:srgbClr val="E2E8F0"/>
                </a:solidFill>
                <a:latin typeface="Consolas"/>
              </a:rPr>
              <a:t>});</a:t>
            </a:r>
          </a:p>
          <a:p>
            <a:pPr algn="l">
              <a:lnSpc>
                <a:spcPct val="110000"/>
              </a:lnSpc>
            </a:pPr>
            <a:r>
              <a:rPr sz="1400" b="0" i="0">
                <a:solidFill>
                  <a:srgbClr val="67E8F9"/>
                </a:solidFill>
                <a:latin typeface="Consolas"/>
              </a:rPr>
              <a:t>await</a:t>
            </a:r>
            <a:r>
              <a:rPr sz="1400" b="0" i="0">
                <a:solidFill>
                  <a:srgbClr val="E2E8F0"/>
                </a:solidFill>
                <a:latin typeface="Consolas"/>
              </a:rPr>
              <a:t> translator.translate(</a:t>
            </a:r>
          </a:p>
          <a:p>
            <a:pPr algn="l">
              <a:lnSpc>
                <a:spcPct val="110000"/>
              </a:lnSpc>
            </a:pPr>
            <a:r>
              <a:rPr sz="1400" b="0" i="0">
                <a:solidFill>
                  <a:srgbClr val="E2E8F0"/>
                </a:solidFill>
                <a:latin typeface="Consolas"/>
              </a:rPr>
              <a:t>  </a:t>
            </a:r>
            <a:r>
              <a:rPr sz="1400" b="0" i="0">
                <a:solidFill>
                  <a:srgbClr val="FCD34D"/>
                </a:solidFill>
                <a:latin typeface="Consolas"/>
              </a:rPr>
              <a:t>'Where is the next bus stop, please?'</a:t>
            </a:r>
            <a:r>
              <a:rPr sz="1400" b="0" i="0">
                <a:solidFill>
                  <a:srgbClr val="E2E8F0"/>
                </a:solidFill>
                <a:latin typeface="Consolas"/>
              </a:rPr>
              <a:t>);</a:t>
            </a:r>
          </a:p>
        </p:txBody>
      </p:sp>
      <p:sp>
        <p:nvSpPr>
          <p:cNvPr id="12" name="Rounded Rectangle 11"/>
          <p:cNvSpPr/>
          <p:nvPr/>
        </p:nvSpPr>
        <p:spPr>
          <a:xfrm>
            <a:off x="6199632" y="1691640"/>
            <a:ext cx="5440680" cy="42062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400" b="0" i="0">
                <a:solidFill>
                  <a:srgbClr val="94A3B8"/>
                </a:solidFill>
                <a:latin typeface="Consolas"/>
              </a:rPr>
              <a:t>// Summarizer — Chrome 138</a:t>
            </a:r>
          </a:p>
          <a:p>
            <a:pPr algn="l">
              <a:lnSpc>
                <a:spcPct val="110000"/>
              </a:lnSpc>
            </a:pPr>
            <a:r>
              <a:rPr sz="1400" b="0" i="0">
                <a:solidFill>
                  <a:srgbClr val="67E8F9"/>
                </a:solidFill>
                <a:latin typeface="Consolas"/>
              </a:rPr>
              <a:t>const</a:t>
            </a:r>
            <a:r>
              <a:rPr sz="1400" b="0" i="0">
                <a:solidFill>
                  <a:srgbClr val="E2E8F0"/>
                </a:solidFill>
                <a:latin typeface="Consolas"/>
              </a:rPr>
              <a:t> summarizer = </a:t>
            </a:r>
            <a:r>
              <a:rPr sz="1400" b="0" i="0">
                <a:solidFill>
                  <a:srgbClr val="67E8F9"/>
                </a:solidFill>
                <a:latin typeface="Consolas"/>
              </a:rPr>
              <a:t>await</a:t>
            </a:r>
            <a:r>
              <a:rPr sz="1400" b="0" i="0">
                <a:solidFill>
                  <a:srgbClr val="E2E8F0"/>
                </a:solidFill>
                <a:latin typeface="Consolas"/>
              </a:rPr>
              <a:t> Summarizer.create({</a:t>
            </a:r>
          </a:p>
          <a:p>
            <a:pPr algn="l">
              <a:lnSpc>
                <a:spcPct val="110000"/>
              </a:lnSpc>
            </a:pPr>
            <a:r>
              <a:rPr sz="1400" b="0" i="0">
                <a:solidFill>
                  <a:srgbClr val="E2E8F0"/>
                </a:solidFill>
                <a:latin typeface="Consolas"/>
              </a:rPr>
              <a:t>  type: </a:t>
            </a:r>
            <a:r>
              <a:rPr sz="1400" b="0" i="0">
                <a:solidFill>
                  <a:srgbClr val="FCD34D"/>
                </a:solidFill>
                <a:latin typeface="Consolas"/>
              </a:rPr>
              <a:t>'key-points'</a:t>
            </a:r>
            <a:r>
              <a:rPr sz="1400" b="0" i="0">
                <a:solidFill>
                  <a:srgbClr val="E2E8F0"/>
                </a:solidFill>
                <a:latin typeface="Consolas"/>
              </a:rPr>
              <a:t>, </a:t>
            </a:r>
            <a:r>
              <a:rPr sz="1400" b="0" i="0">
                <a:solidFill>
                  <a:srgbClr val="94A3B8"/>
                </a:solidFill>
                <a:latin typeface="Consolas"/>
              </a:rPr>
              <a:t>// or 'tldr'…</a:t>
            </a:r>
          </a:p>
          <a:p>
            <a:pPr algn="l">
              <a:lnSpc>
                <a:spcPct val="110000"/>
              </a:lnSpc>
            </a:pPr>
            <a:r>
              <a:rPr sz="1400" b="0" i="0">
                <a:solidFill>
                  <a:srgbClr val="E2E8F0"/>
                </a:solidFill>
                <a:latin typeface="Consolas"/>
              </a:rPr>
              <a:t>  format: </a:t>
            </a:r>
            <a:r>
              <a:rPr sz="1400" b="0" i="0">
                <a:solidFill>
                  <a:srgbClr val="FCD34D"/>
                </a:solidFill>
                <a:latin typeface="Consolas"/>
              </a:rPr>
              <a:t>'markdown'</a:t>
            </a:r>
            <a:r>
              <a:rPr sz="1400" b="0" i="0">
                <a:solidFill>
                  <a:srgbClr val="E2E8F0"/>
                </a:solidFill>
                <a:latin typeface="Consolas"/>
              </a:rPr>
              <a:t>,</a:t>
            </a:r>
          </a:p>
          <a:p>
            <a:pPr algn="l">
              <a:lnSpc>
                <a:spcPct val="110000"/>
              </a:lnSpc>
            </a:pPr>
            <a:r>
              <a:rPr sz="1400" b="0" i="0">
                <a:solidFill>
                  <a:srgbClr val="E2E8F0"/>
                </a:solidFill>
                <a:latin typeface="Consolas"/>
              </a:rPr>
              <a:t>  length: </a:t>
            </a:r>
            <a:r>
              <a:rPr sz="1400" b="0" i="0">
                <a:solidFill>
                  <a:srgbClr val="FCD34D"/>
                </a:solidFill>
                <a:latin typeface="Consolas"/>
              </a:rPr>
              <a:t>'medium'</a:t>
            </a:r>
            <a:r>
              <a:rPr sz="1400" b="0" i="0">
                <a:solidFill>
                  <a:srgbClr val="E2E8F0"/>
                </a:solidFill>
                <a:latin typeface="Consolas"/>
              </a:rPr>
              <a:t>,</a:t>
            </a:r>
          </a:p>
          <a:p>
            <a:pPr algn="l">
              <a:lnSpc>
                <a:spcPct val="110000"/>
              </a:lnSpc>
            </a:pPr>
            <a:r>
              <a:rPr sz="1400" b="0" i="0">
                <a:solidFill>
                  <a:srgbClr val="E2E8F0"/>
                </a:solidFill>
                <a:latin typeface="Consolas"/>
              </a:rPr>
              <a:t>});</a:t>
            </a:r>
          </a:p>
          <a:p>
            <a:pPr algn="l">
              <a:lnSpc>
                <a:spcPct val="110000"/>
              </a:lnSpc>
            </a:pPr>
            <a:r>
              <a:rPr sz="1400" b="0" i="0">
                <a:solidFill>
                  <a:srgbClr val="67E8F9"/>
                </a:solidFill>
                <a:latin typeface="Consolas"/>
              </a:rPr>
              <a:t>const</a:t>
            </a:r>
            <a:r>
              <a:rPr sz="1400" b="0" i="0">
                <a:solidFill>
                  <a:srgbClr val="E2E8F0"/>
                </a:solidFill>
                <a:latin typeface="Consolas"/>
              </a:rPr>
              <a:t> summary = </a:t>
            </a:r>
            <a:r>
              <a:rPr sz="1400" b="0" i="0">
                <a:solidFill>
                  <a:srgbClr val="67E8F9"/>
                </a:solidFill>
                <a:latin typeface="Consolas"/>
              </a:rPr>
              <a:t>await</a:t>
            </a:r>
            <a:r>
              <a:rPr sz="1400" b="0" i="0">
                <a:solidFill>
                  <a:srgbClr val="E2E8F0"/>
                </a:solidFill>
                <a:latin typeface="Consolas"/>
              </a:rPr>
              <a:t> summarizer.summarize(</a:t>
            </a:r>
          </a:p>
          <a:p>
            <a:pPr algn="l">
              <a:lnSpc>
                <a:spcPct val="110000"/>
              </a:lnSpc>
            </a:pPr>
            <a:r>
              <a:rPr sz="1400" b="0" i="0">
                <a:solidFill>
                  <a:srgbClr val="E2E8F0"/>
                </a:solidFill>
                <a:latin typeface="Consolas"/>
              </a:rPr>
              <a:t>  longText,</a:t>
            </a:r>
          </a:p>
          <a:p>
            <a:pPr algn="l">
              <a:lnSpc>
                <a:spcPct val="110000"/>
              </a:lnSpc>
            </a:pPr>
            <a:r>
              <a:rPr sz="1400" b="0" i="0">
                <a:solidFill>
                  <a:srgbClr val="E2E8F0"/>
                </a:solidFill>
                <a:latin typeface="Consolas"/>
              </a:rPr>
              <a:t>  { context: </a:t>
            </a:r>
            <a:r>
              <a:rPr sz="1400" b="0" i="0">
                <a:solidFill>
                  <a:srgbClr val="FCD34D"/>
                </a:solidFill>
                <a:latin typeface="Consolas"/>
              </a:rPr>
              <a:t>'For a tech-savvy audience.'</a:t>
            </a:r>
            <a:r>
              <a:rPr sz="1400" b="0" i="0">
                <a:solidFill>
                  <a:srgbClr val="E2E8F0"/>
                </a:solidFill>
                <a:latin typeface="Consolas"/>
              </a:rPr>
              <a:t> });</a:t>
            </a:r>
          </a:p>
        </p:txBody>
      </p:sp>
      <p:sp>
        <p:nvSpPr>
          <p:cNvPr id="13" name="TextBox 12"/>
          <p:cNvSpPr txBox="1"/>
          <p:nvPr/>
        </p:nvSpPr>
        <p:spPr>
          <a:xfrm>
            <a:off x="548640" y="6035040"/>
            <a:ext cx="10972800" cy="365760"/>
          </a:xfrm>
          <a:prstGeom prst="rect">
            <a:avLst/>
          </a:prstGeom>
          <a:noFill/>
        </p:spPr>
        <p:txBody>
          <a:bodyPr wrap="square" lIns="0" rIns="0" tIns="18288" bIns="18288" anchor="t">
            <a:spAutoFit/>
          </a:bodyPr>
          <a:lstStyle/>
          <a:p>
            <a:pPr algn="l">
              <a:lnSpc>
                <a:spcPct val="112000"/>
              </a:lnSpc>
            </a:pPr>
            <a:r>
              <a:rPr sz="1500" b="0" i="0">
                <a:solidFill>
                  <a:srgbClr val="475569"/>
                </a:solidFill>
                <a:latin typeface="Arial"/>
              </a:rPr>
              <a:t>Snippets follow the examples on developer.chrome.com/docs/ai. Check </a:t>
            </a:r>
            <a:r>
              <a:rPr sz="1500" b="0" i="0">
                <a:solidFill>
                  <a:srgbClr val="0E7490"/>
                </a:solidFill>
                <a:latin typeface="Consolas"/>
              </a:rPr>
              <a:t>availability()</a:t>
            </a:r>
            <a:r>
              <a:rPr sz="1500" b="0" i="0">
                <a:solidFill>
                  <a:srgbClr val="475569"/>
                </a:solidFill>
                <a:latin typeface="Arial"/>
              </a:rPr>
              <a:t> first — the model may need a download.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4</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L4 · Prompt API in four steps</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11</a:t>
            </a:r>
          </a:p>
        </p:txBody>
      </p:sp>
      <p:sp>
        <p:nvSpPr>
          <p:cNvPr id="5" name="Rectangle 4"/>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6" name="Rectangle 5"/>
          <p:cNvSpPr/>
          <p:nvPr/>
        </p:nvSpPr>
        <p:spPr>
          <a:xfrm>
            <a:off x="9692640" y="489203"/>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L4  Prompt API</a:t>
            </a:r>
          </a:p>
        </p:txBody>
      </p:sp>
      <p:sp>
        <p:nvSpPr>
          <p:cNvPr id="7" name="Rectangle 6"/>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8" name="Rectangle 7"/>
          <p:cNvSpPr/>
          <p:nvPr/>
        </p:nvSpPr>
        <p:spPr>
          <a:xfrm>
            <a:off x="9692640" y="918971"/>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L2  Compute APIs</a:t>
            </a:r>
          </a:p>
        </p:txBody>
      </p:sp>
      <p:sp>
        <p:nvSpPr>
          <p:cNvPr id="9" name="Rectangle 8"/>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0" name="Rectangle 9"/>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1" name="Rounded Rectangle 10"/>
          <p:cNvSpPr/>
          <p:nvPr/>
        </p:nvSpPr>
        <p:spPr>
          <a:xfrm>
            <a:off x="548640" y="1691640"/>
            <a:ext cx="6675120" cy="44348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450" b="0" i="0">
                <a:solidFill>
                  <a:srgbClr val="67E8F9"/>
                </a:solidFill>
                <a:latin typeface="Consolas"/>
              </a:rPr>
              <a:t>if</a:t>
            </a:r>
            <a:r>
              <a:rPr sz="1450" b="0" i="0">
                <a:solidFill>
                  <a:srgbClr val="E2E8F0"/>
                </a:solidFill>
                <a:latin typeface="Consolas"/>
              </a:rPr>
              <a:t> (!(</a:t>
            </a:r>
            <a:r>
              <a:rPr sz="1450" b="0" i="0">
                <a:solidFill>
                  <a:srgbClr val="FCD34D"/>
                </a:solidFill>
                <a:latin typeface="Consolas"/>
              </a:rPr>
              <a:t>'LanguageModel'</a:t>
            </a:r>
            <a:r>
              <a:rPr sz="1450" b="0" i="0">
                <a:solidFill>
                  <a:srgbClr val="E2E8F0"/>
                </a:solidFill>
                <a:latin typeface="Consolas"/>
              </a:rPr>
              <a:t> </a:t>
            </a:r>
            <a:r>
              <a:rPr sz="1450" b="0" i="0">
                <a:solidFill>
                  <a:srgbClr val="67E8F9"/>
                </a:solidFill>
                <a:latin typeface="Consolas"/>
              </a:rPr>
              <a:t>in</a:t>
            </a:r>
            <a:r>
              <a:rPr sz="1450" b="0" i="0">
                <a:solidFill>
                  <a:srgbClr val="E2E8F0"/>
                </a:solidFill>
                <a:latin typeface="Consolas"/>
              </a:rPr>
              <a:t> self)) </a:t>
            </a:r>
            <a:r>
              <a:rPr sz="1450" b="0" i="0">
                <a:solidFill>
                  <a:srgbClr val="67E8F9"/>
                </a:solidFill>
                <a:latin typeface="Consolas"/>
              </a:rPr>
              <a:t>return</a:t>
            </a:r>
            <a:r>
              <a:rPr sz="1450" b="0" i="0">
                <a:solidFill>
                  <a:srgbClr val="E2E8F0"/>
                </a:solidFill>
                <a:latin typeface="Consolas"/>
              </a:rPr>
              <a:t> useFallback();</a:t>
            </a:r>
          </a:p>
          <a:p>
            <a:pPr algn="l">
              <a:lnSpc>
                <a:spcPct val="110000"/>
              </a:lnSpc>
            </a:pPr>
            <a:r>
              <a:rPr sz="1450" b="0" i="0">
                <a:solidFill>
                  <a:srgbClr val="67E8F9"/>
                </a:solidFill>
                <a:latin typeface="Consolas"/>
              </a:rPr>
              <a:t>const</a:t>
            </a:r>
            <a:r>
              <a:rPr sz="1450" b="0" i="0">
                <a:solidFill>
                  <a:srgbClr val="E2E8F0"/>
                </a:solidFill>
                <a:latin typeface="Consolas"/>
              </a:rPr>
              <a:t> status = </a:t>
            </a:r>
            <a:r>
              <a:rPr sz="1450" b="0" i="0">
                <a:solidFill>
                  <a:srgbClr val="67E8F9"/>
                </a:solidFill>
                <a:latin typeface="Consolas"/>
              </a:rPr>
              <a:t>await</a:t>
            </a:r>
            <a:r>
              <a:rPr sz="1450" b="0" i="0">
                <a:solidFill>
                  <a:srgbClr val="E2E8F0"/>
                </a:solidFill>
                <a:latin typeface="Consolas"/>
              </a:rPr>
              <a:t> LanguageModel.availability();</a:t>
            </a:r>
          </a:p>
          <a:p>
            <a:pPr algn="l">
              <a:lnSpc>
                <a:spcPct val="110000"/>
              </a:lnSpc>
            </a:pPr>
            <a:r>
              <a:rPr sz="1450" b="0" i="0">
                <a:solidFill>
                  <a:srgbClr val="67E8F9"/>
                </a:solidFill>
                <a:latin typeface="Consolas"/>
              </a:rPr>
              <a:t>if</a:t>
            </a:r>
            <a:r>
              <a:rPr sz="1450" b="0" i="0">
                <a:solidFill>
                  <a:srgbClr val="E2E8F0"/>
                </a:solidFill>
                <a:latin typeface="Consolas"/>
              </a:rPr>
              <a:t> (status === </a:t>
            </a:r>
            <a:r>
              <a:rPr sz="1450" b="0" i="0">
                <a:solidFill>
                  <a:srgbClr val="FCD34D"/>
                </a:solidFill>
                <a:latin typeface="Consolas"/>
              </a:rPr>
              <a:t>'unavailable'</a:t>
            </a:r>
            <a:r>
              <a:rPr sz="1450" b="0" i="0">
                <a:solidFill>
                  <a:srgbClr val="E2E8F0"/>
                </a:solidFill>
                <a:latin typeface="Consolas"/>
              </a:rPr>
              <a:t>) </a:t>
            </a:r>
            <a:r>
              <a:rPr sz="1450" b="0" i="0">
                <a:solidFill>
                  <a:srgbClr val="67E8F9"/>
                </a:solidFill>
                <a:latin typeface="Consolas"/>
              </a:rPr>
              <a:t>return</a:t>
            </a:r>
            <a:r>
              <a:rPr sz="1450" b="0" i="0">
                <a:solidFill>
                  <a:srgbClr val="E2E8F0"/>
                </a:solidFill>
                <a:latin typeface="Consolas"/>
              </a:rPr>
              <a:t> useFallback();</a:t>
            </a:r>
          </a:p>
          <a:p>
            <a:pPr algn="l">
              <a:lnSpc>
                <a:spcPct val="110000"/>
              </a:lnSpc>
            </a:pPr>
            <a:r>
              <a:rPr sz="1450" b="0" i="0">
                <a:solidFill>
                  <a:srgbClr val="67E8F9"/>
                </a:solidFill>
                <a:latin typeface="Consolas"/>
              </a:rPr>
              <a:t>const</a:t>
            </a:r>
            <a:r>
              <a:rPr sz="1450" b="0" i="0">
                <a:solidFill>
                  <a:srgbClr val="E2E8F0"/>
                </a:solidFill>
                <a:latin typeface="Consolas"/>
              </a:rPr>
              <a:t> session = </a:t>
            </a:r>
            <a:r>
              <a:rPr sz="1450" b="0" i="0">
                <a:solidFill>
                  <a:srgbClr val="67E8F9"/>
                </a:solidFill>
                <a:latin typeface="Consolas"/>
              </a:rPr>
              <a:t>await</a:t>
            </a:r>
            <a:r>
              <a:rPr sz="1450" b="0" i="0">
                <a:solidFill>
                  <a:srgbClr val="E2E8F0"/>
                </a:solidFill>
                <a:latin typeface="Consolas"/>
              </a:rPr>
              <a:t> LanguageModel.create({</a:t>
            </a:r>
          </a:p>
          <a:p>
            <a:pPr algn="l">
              <a:lnSpc>
                <a:spcPct val="110000"/>
              </a:lnSpc>
            </a:pPr>
            <a:r>
              <a:rPr sz="1450" b="0" i="0">
                <a:solidFill>
                  <a:srgbClr val="E2E8F0"/>
                </a:solidFill>
                <a:latin typeface="Consolas"/>
              </a:rPr>
              <a:t>  monitor(m) {</a:t>
            </a:r>
          </a:p>
          <a:p>
            <a:pPr algn="l">
              <a:lnSpc>
                <a:spcPct val="110000"/>
              </a:lnSpc>
            </a:pPr>
            <a:r>
              <a:rPr sz="1450" b="0" i="0">
                <a:solidFill>
                  <a:srgbClr val="E2E8F0"/>
                </a:solidFill>
                <a:latin typeface="Consolas"/>
              </a:rPr>
              <a:t>    m.addEventListener(</a:t>
            </a:r>
            <a:r>
              <a:rPr sz="1450" b="0" i="0">
                <a:solidFill>
                  <a:srgbClr val="FCD34D"/>
                </a:solidFill>
                <a:latin typeface="Consolas"/>
              </a:rPr>
              <a:t>'downloadprogress'</a:t>
            </a:r>
            <a:r>
              <a:rPr sz="1450" b="0" i="0">
                <a:solidFill>
                  <a:srgbClr val="E2E8F0"/>
                </a:solidFill>
                <a:latin typeface="Consolas"/>
              </a:rPr>
              <a:t>,</a:t>
            </a:r>
          </a:p>
          <a:p>
            <a:pPr algn="l">
              <a:lnSpc>
                <a:spcPct val="110000"/>
              </a:lnSpc>
            </a:pPr>
            <a:r>
              <a:rPr sz="1450" b="0" i="0">
                <a:solidFill>
                  <a:srgbClr val="E2E8F0"/>
                </a:solidFill>
                <a:latin typeface="Consolas"/>
              </a:rPr>
              <a:t>      (e) =&gt; showProgress(e.loaded));</a:t>
            </a:r>
          </a:p>
          <a:p>
            <a:pPr algn="l">
              <a:lnSpc>
                <a:spcPct val="110000"/>
              </a:lnSpc>
            </a:pPr>
            <a:r>
              <a:rPr sz="1450" b="0" i="0">
                <a:solidFill>
                  <a:srgbClr val="E2E8F0"/>
                </a:solidFill>
                <a:latin typeface="Consolas"/>
              </a:rPr>
              <a:t>  },</a:t>
            </a:r>
          </a:p>
          <a:p>
            <a:pPr algn="l">
              <a:lnSpc>
                <a:spcPct val="110000"/>
              </a:lnSpc>
            </a:pPr>
            <a:r>
              <a:rPr sz="1450" b="0" i="0">
                <a:solidFill>
                  <a:srgbClr val="E2E8F0"/>
                </a:solidFill>
                <a:latin typeface="Consolas"/>
              </a:rPr>
              <a:t>});</a:t>
            </a:r>
          </a:p>
          <a:p>
            <a:pPr algn="l">
              <a:lnSpc>
                <a:spcPct val="110000"/>
              </a:lnSpc>
            </a:pPr>
            <a:r>
              <a:rPr sz="1450" b="0" i="0">
                <a:solidFill>
                  <a:srgbClr val="67E8F9"/>
                </a:solidFill>
                <a:latin typeface="Consolas"/>
              </a:rPr>
              <a:t>for</a:t>
            </a:r>
            <a:r>
              <a:rPr sz="1450" b="0" i="0">
                <a:solidFill>
                  <a:srgbClr val="E2E8F0"/>
                </a:solidFill>
                <a:latin typeface="Consolas"/>
              </a:rPr>
              <a:t> </a:t>
            </a:r>
            <a:r>
              <a:rPr sz="1450" b="0" i="0">
                <a:solidFill>
                  <a:srgbClr val="67E8F9"/>
                </a:solidFill>
                <a:latin typeface="Consolas"/>
              </a:rPr>
              <a:t>await</a:t>
            </a:r>
            <a:r>
              <a:rPr sz="1450" b="0" i="0">
                <a:solidFill>
                  <a:srgbClr val="E2E8F0"/>
                </a:solidFill>
                <a:latin typeface="Consolas"/>
              </a:rPr>
              <a:t> (</a:t>
            </a:r>
            <a:r>
              <a:rPr sz="1450" b="0" i="0">
                <a:solidFill>
                  <a:srgbClr val="67E8F9"/>
                </a:solidFill>
                <a:latin typeface="Consolas"/>
              </a:rPr>
              <a:t>const</a:t>
            </a:r>
            <a:r>
              <a:rPr sz="1450" b="0" i="0">
                <a:solidFill>
                  <a:srgbClr val="E2E8F0"/>
                </a:solidFill>
                <a:latin typeface="Consolas"/>
              </a:rPr>
              <a:t> c </a:t>
            </a:r>
            <a:r>
              <a:rPr sz="1450" b="0" i="0">
                <a:solidFill>
                  <a:srgbClr val="67E8F9"/>
                </a:solidFill>
                <a:latin typeface="Consolas"/>
              </a:rPr>
              <a:t>of</a:t>
            </a:r>
            <a:r>
              <a:rPr sz="1450" b="0" i="0">
                <a:solidFill>
                  <a:srgbClr val="E2E8F0"/>
                </a:solidFill>
                <a:latin typeface="Consolas"/>
              </a:rPr>
              <a:t> session.promptStreaming(text))</a:t>
            </a:r>
          </a:p>
          <a:p>
            <a:pPr algn="l">
              <a:lnSpc>
                <a:spcPct val="110000"/>
              </a:lnSpc>
            </a:pPr>
            <a:r>
              <a:rPr sz="1450" b="0" i="0">
                <a:solidFill>
                  <a:srgbClr val="E2E8F0"/>
                </a:solidFill>
                <a:latin typeface="Consolas"/>
              </a:rPr>
              <a:t>  output.append(c);</a:t>
            </a:r>
          </a:p>
        </p:txBody>
      </p:sp>
      <p:sp>
        <p:nvSpPr>
          <p:cNvPr id="12" name="Oval 11"/>
          <p:cNvSpPr/>
          <p:nvPr/>
        </p:nvSpPr>
        <p:spPr>
          <a:xfrm>
            <a:off x="7498079" y="1691640"/>
            <a:ext cx="566928" cy="566928"/>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98079" y="1691640"/>
            <a:ext cx="566928" cy="566928"/>
          </a:xfrm>
          <a:prstGeom prst="rect">
            <a:avLst/>
          </a:prstGeom>
          <a:noFill/>
        </p:spPr>
        <p:txBody>
          <a:bodyPr wrap="square" lIns="0" rIns="0" tIns="18288" bIns="18288" anchor="ctr">
            <a:spAutoFit/>
          </a:bodyPr>
          <a:lstStyle/>
          <a:p>
            <a:pPr algn="ctr">
              <a:lnSpc>
                <a:spcPct val="112000"/>
              </a:lnSpc>
            </a:pPr>
            <a:r>
              <a:rPr sz="2200" b="1" i="0">
                <a:solidFill>
                  <a:srgbClr val="FFFFFF"/>
                </a:solidFill>
                <a:latin typeface="Arial"/>
              </a:rPr>
              <a:t>1</a:t>
            </a:r>
          </a:p>
        </p:txBody>
      </p:sp>
      <p:sp>
        <p:nvSpPr>
          <p:cNvPr id="14" name="TextBox 13"/>
          <p:cNvSpPr txBox="1"/>
          <p:nvPr/>
        </p:nvSpPr>
        <p:spPr>
          <a:xfrm>
            <a:off x="8229600" y="1645920"/>
            <a:ext cx="3474720" cy="1005840"/>
          </a:xfrm>
          <a:prstGeom prst="rect">
            <a:avLst/>
          </a:prstGeom>
          <a:noFill/>
        </p:spPr>
        <p:txBody>
          <a:bodyPr wrap="square" lIns="0" rIns="0" tIns="18288" bIns="18288" anchor="t">
            <a:spAutoFit/>
          </a:bodyPr>
          <a:lstStyle/>
          <a:p>
            <a:pPr algn="l">
              <a:lnSpc>
                <a:spcPct val="108000"/>
              </a:lnSpc>
            </a:pPr>
            <a:r>
              <a:rPr sz="2100" b="1" i="0">
                <a:solidFill>
                  <a:srgbClr val="0F172A"/>
                </a:solidFill>
                <a:latin typeface="Arial"/>
              </a:rPr>
              <a:t>Detect</a:t>
            </a:r>
          </a:p>
          <a:p>
            <a:pPr algn="l">
              <a:lnSpc>
                <a:spcPct val="108000"/>
              </a:lnSpc>
            </a:pPr>
            <a:r>
              <a:rPr sz="1600" b="0" i="0">
                <a:solidFill>
                  <a:srgbClr val="475569"/>
                </a:solidFill>
                <a:latin typeface="Arial"/>
              </a:rPr>
              <a:t>'LanguageModel' in self — never throws</a:t>
            </a:r>
          </a:p>
        </p:txBody>
      </p:sp>
      <p:sp>
        <p:nvSpPr>
          <p:cNvPr id="15" name="Oval 14"/>
          <p:cNvSpPr/>
          <p:nvPr/>
        </p:nvSpPr>
        <p:spPr>
          <a:xfrm>
            <a:off x="7498079" y="2816352"/>
            <a:ext cx="566928" cy="566928"/>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79" y="2816352"/>
            <a:ext cx="566928" cy="566928"/>
          </a:xfrm>
          <a:prstGeom prst="rect">
            <a:avLst/>
          </a:prstGeom>
          <a:noFill/>
        </p:spPr>
        <p:txBody>
          <a:bodyPr wrap="square" lIns="0" rIns="0" tIns="18288" bIns="18288" anchor="ctr">
            <a:spAutoFit/>
          </a:bodyPr>
          <a:lstStyle/>
          <a:p>
            <a:pPr algn="ctr">
              <a:lnSpc>
                <a:spcPct val="112000"/>
              </a:lnSpc>
            </a:pPr>
            <a:r>
              <a:rPr sz="2200" b="1" i="0">
                <a:solidFill>
                  <a:srgbClr val="FFFFFF"/>
                </a:solidFill>
                <a:latin typeface="Arial"/>
              </a:rPr>
              <a:t>2</a:t>
            </a:r>
          </a:p>
        </p:txBody>
      </p:sp>
      <p:sp>
        <p:nvSpPr>
          <p:cNvPr id="17" name="TextBox 16"/>
          <p:cNvSpPr txBox="1"/>
          <p:nvPr/>
        </p:nvSpPr>
        <p:spPr>
          <a:xfrm>
            <a:off x="8229600" y="2770632"/>
            <a:ext cx="3474720" cy="1005840"/>
          </a:xfrm>
          <a:prstGeom prst="rect">
            <a:avLst/>
          </a:prstGeom>
          <a:noFill/>
        </p:spPr>
        <p:txBody>
          <a:bodyPr wrap="square" lIns="0" rIns="0" tIns="18288" bIns="18288" anchor="t">
            <a:spAutoFit/>
          </a:bodyPr>
          <a:lstStyle/>
          <a:p>
            <a:pPr algn="l">
              <a:lnSpc>
                <a:spcPct val="108000"/>
              </a:lnSpc>
            </a:pPr>
            <a:r>
              <a:rPr sz="2100" b="1" i="0">
                <a:solidFill>
                  <a:srgbClr val="0F172A"/>
                </a:solidFill>
                <a:latin typeface="Arial"/>
              </a:rPr>
              <a:t>Ask</a:t>
            </a:r>
          </a:p>
          <a:p>
            <a:pPr algn="l">
              <a:lnSpc>
                <a:spcPct val="108000"/>
              </a:lnSpc>
            </a:pPr>
            <a:r>
              <a:rPr sz="1600" b="0" i="0">
                <a:solidFill>
                  <a:srgbClr val="475569"/>
                </a:solidFill>
                <a:latin typeface="Arial"/>
              </a:rPr>
              <a:t>availability() with the same options you'll use</a:t>
            </a:r>
          </a:p>
        </p:txBody>
      </p:sp>
      <p:sp>
        <p:nvSpPr>
          <p:cNvPr id="18" name="Oval 17"/>
          <p:cNvSpPr/>
          <p:nvPr/>
        </p:nvSpPr>
        <p:spPr>
          <a:xfrm>
            <a:off x="7498079" y="3941064"/>
            <a:ext cx="566928" cy="566928"/>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79" y="3941064"/>
            <a:ext cx="566928" cy="566928"/>
          </a:xfrm>
          <a:prstGeom prst="rect">
            <a:avLst/>
          </a:prstGeom>
          <a:noFill/>
        </p:spPr>
        <p:txBody>
          <a:bodyPr wrap="square" lIns="0" rIns="0" tIns="18288" bIns="18288" anchor="ctr">
            <a:spAutoFit/>
          </a:bodyPr>
          <a:lstStyle/>
          <a:p>
            <a:pPr algn="ctr">
              <a:lnSpc>
                <a:spcPct val="112000"/>
              </a:lnSpc>
            </a:pPr>
            <a:r>
              <a:rPr sz="2200" b="1" i="0">
                <a:solidFill>
                  <a:srgbClr val="FFFFFF"/>
                </a:solidFill>
                <a:latin typeface="Arial"/>
              </a:rPr>
              <a:t>3</a:t>
            </a:r>
          </a:p>
        </p:txBody>
      </p:sp>
      <p:sp>
        <p:nvSpPr>
          <p:cNvPr id="20" name="TextBox 19"/>
          <p:cNvSpPr txBox="1"/>
          <p:nvPr/>
        </p:nvSpPr>
        <p:spPr>
          <a:xfrm>
            <a:off x="8229600" y="3895344"/>
            <a:ext cx="3474720" cy="1005840"/>
          </a:xfrm>
          <a:prstGeom prst="rect">
            <a:avLst/>
          </a:prstGeom>
          <a:noFill/>
        </p:spPr>
        <p:txBody>
          <a:bodyPr wrap="square" lIns="0" rIns="0" tIns="18288" bIns="18288" anchor="t">
            <a:spAutoFit/>
          </a:bodyPr>
          <a:lstStyle/>
          <a:p>
            <a:pPr algn="l">
              <a:lnSpc>
                <a:spcPct val="108000"/>
              </a:lnSpc>
            </a:pPr>
            <a:r>
              <a:rPr sz="2100" b="1" i="0">
                <a:solidFill>
                  <a:srgbClr val="0F172A"/>
                </a:solidFill>
                <a:latin typeface="Arial"/>
              </a:rPr>
              <a:t>Create</a:t>
            </a:r>
          </a:p>
          <a:p>
            <a:pPr algn="l">
              <a:lnSpc>
                <a:spcPct val="108000"/>
              </a:lnSpc>
            </a:pPr>
            <a:r>
              <a:rPr sz="1600" b="0" i="0">
                <a:solidFill>
                  <a:srgbClr val="475569"/>
                </a:solidFill>
                <a:latin typeface="Arial"/>
              </a:rPr>
              <a:t>create() may trigger the model download</a:t>
            </a:r>
          </a:p>
        </p:txBody>
      </p:sp>
      <p:sp>
        <p:nvSpPr>
          <p:cNvPr id="21" name="Oval 20"/>
          <p:cNvSpPr/>
          <p:nvPr/>
        </p:nvSpPr>
        <p:spPr>
          <a:xfrm>
            <a:off x="7498079" y="5065776"/>
            <a:ext cx="566928" cy="566928"/>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98079" y="5065776"/>
            <a:ext cx="566928" cy="566928"/>
          </a:xfrm>
          <a:prstGeom prst="rect">
            <a:avLst/>
          </a:prstGeom>
          <a:noFill/>
        </p:spPr>
        <p:txBody>
          <a:bodyPr wrap="square" lIns="0" rIns="0" tIns="18288" bIns="18288" anchor="ctr">
            <a:spAutoFit/>
          </a:bodyPr>
          <a:lstStyle/>
          <a:p>
            <a:pPr algn="ctr">
              <a:lnSpc>
                <a:spcPct val="112000"/>
              </a:lnSpc>
            </a:pPr>
            <a:r>
              <a:rPr sz="2200" b="1" i="0">
                <a:solidFill>
                  <a:srgbClr val="FFFFFF"/>
                </a:solidFill>
                <a:latin typeface="Arial"/>
              </a:rPr>
              <a:t>4</a:t>
            </a:r>
          </a:p>
        </p:txBody>
      </p:sp>
      <p:sp>
        <p:nvSpPr>
          <p:cNvPr id="23" name="TextBox 22"/>
          <p:cNvSpPr txBox="1"/>
          <p:nvPr/>
        </p:nvSpPr>
        <p:spPr>
          <a:xfrm>
            <a:off x="8229600" y="5020056"/>
            <a:ext cx="3474720" cy="1005840"/>
          </a:xfrm>
          <a:prstGeom prst="rect">
            <a:avLst/>
          </a:prstGeom>
          <a:noFill/>
        </p:spPr>
        <p:txBody>
          <a:bodyPr wrap="square" lIns="0" rIns="0" tIns="18288" bIns="18288" anchor="t">
            <a:spAutoFit/>
          </a:bodyPr>
          <a:lstStyle/>
          <a:p>
            <a:pPr algn="l">
              <a:lnSpc>
                <a:spcPct val="108000"/>
              </a:lnSpc>
            </a:pPr>
            <a:r>
              <a:rPr sz="2100" b="1" i="0">
                <a:solidFill>
                  <a:srgbClr val="0F172A"/>
                </a:solidFill>
                <a:latin typeface="Arial"/>
              </a:rPr>
              <a:t>Prompt</a:t>
            </a:r>
          </a:p>
          <a:p>
            <a:pPr algn="l">
              <a:lnSpc>
                <a:spcPct val="108000"/>
              </a:lnSpc>
            </a:pPr>
            <a:r>
              <a:rPr sz="1600" b="0" i="0">
                <a:solidFill>
                  <a:srgbClr val="475569"/>
                </a:solidFill>
                <a:latin typeface="Arial"/>
              </a:rPr>
              <a:t>prompt() or promptStreaming(); destroy() when done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4 · STATUS</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Prompt API: status and hardware</a:t>
            </a:r>
          </a:p>
        </p:txBody>
      </p:sp>
      <p:sp>
        <p:nvSpPr>
          <p:cNvPr id="4" name="TextBox 3"/>
          <p:cNvSpPr txBox="1"/>
          <p:nvPr/>
        </p:nvSpPr>
        <p:spPr>
          <a:xfrm>
            <a:off x="548640" y="6400800"/>
            <a:ext cx="10241280" cy="274320"/>
          </a:xfrm>
          <a:prstGeom prst="rect">
            <a:avLst/>
          </a:prstGeom>
          <a:noFill/>
        </p:spPr>
        <p:txBody>
          <a:bodyPr wrap="square" lIns="0" rIns="0" tIns="18288" bIns="18288" anchor="t">
            <a:spAutoFit/>
          </a:bodyPr>
          <a:lstStyle/>
          <a:p>
            <a:pPr algn="l">
              <a:lnSpc>
                <a:spcPct val="112000"/>
              </a:lnSpc>
            </a:pPr>
            <a:r>
              <a:rPr sz="1200" b="0" i="0">
                <a:solidFill>
                  <a:srgbClr val="475569"/>
                </a:solidFill>
                <a:latin typeface="Arial"/>
              </a:rPr>
              <a:t>Source: chromestatus.com, developer.chrome.com/docs/ai, learn.microsoft.com (Edge Prompt API) — as of 16 Oct 2026</a:t>
            </a:r>
          </a:p>
        </p:txBody>
      </p:sp>
      <p:sp>
        <p:nvSpPr>
          <p:cNvPr id="5" name="TextBox 4"/>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12</a:t>
            </a:r>
          </a:p>
        </p:txBody>
      </p:sp>
      <p:sp>
        <p:nvSpPr>
          <p:cNvPr id="6" name="Rectangle 5"/>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7" name="Rectangle 6"/>
          <p:cNvSpPr/>
          <p:nvPr/>
        </p:nvSpPr>
        <p:spPr>
          <a:xfrm>
            <a:off x="9692640" y="489203"/>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L4  Prompt API</a:t>
            </a:r>
          </a:p>
        </p:txBody>
      </p:sp>
      <p:sp>
        <p:nvSpPr>
          <p:cNvPr id="8" name="Rectangle 7"/>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9" name="Rectangle 8"/>
          <p:cNvSpPr/>
          <p:nvPr/>
        </p:nvSpPr>
        <p:spPr>
          <a:xfrm>
            <a:off x="9692640" y="918971"/>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L2  Compute APIs</a:t>
            </a:r>
          </a:p>
        </p:txBody>
      </p:sp>
      <p:sp>
        <p:nvSpPr>
          <p:cNvPr id="10" name="Rectangle 9"/>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1" name="Rectangle 10"/>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2" name="TextBox 11"/>
          <p:cNvSpPr txBox="1"/>
          <p:nvPr/>
        </p:nvSpPr>
        <p:spPr>
          <a:xfrm>
            <a:off x="548640" y="1691640"/>
            <a:ext cx="2011680" cy="41148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Chrome</a:t>
            </a:r>
          </a:p>
        </p:txBody>
      </p:sp>
      <p:sp>
        <p:nvSpPr>
          <p:cNvPr id="13" name="Rounded Rectangle 12"/>
          <p:cNvSpPr/>
          <p:nvPr/>
        </p:nvSpPr>
        <p:spPr>
          <a:xfrm>
            <a:off x="2011680" y="1719072"/>
            <a:ext cx="173736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Stable · 148</a:t>
            </a:r>
          </a:p>
        </p:txBody>
      </p:sp>
      <p:sp>
        <p:nvSpPr>
          <p:cNvPr id="14" name="TextBox 13"/>
          <p:cNvSpPr txBox="1"/>
          <p:nvPr/>
        </p:nvSpPr>
        <p:spPr>
          <a:xfrm>
            <a:off x="3931920" y="1691640"/>
            <a:ext cx="5486400" cy="411480"/>
          </a:xfrm>
          <a:prstGeom prst="rect">
            <a:avLst/>
          </a:prstGeom>
          <a:noFill/>
        </p:spPr>
        <p:txBody>
          <a:bodyPr wrap="square" lIns="0" rIns="0" tIns="18288" bIns="18288" anchor="ctr">
            <a:spAutoFit/>
          </a:bodyPr>
          <a:lstStyle/>
          <a:p>
            <a:pPr algn="l">
              <a:lnSpc>
                <a:spcPct val="112000"/>
              </a:lnSpc>
            </a:pPr>
            <a:r>
              <a:rPr sz="1700" b="0" i="0">
                <a:solidFill>
                  <a:srgbClr val="475569"/>
                </a:solidFill>
                <a:latin typeface="Arial"/>
              </a:rPr>
              <a:t>on the web · Extensions since 138</a:t>
            </a:r>
          </a:p>
        </p:txBody>
      </p:sp>
      <p:sp>
        <p:nvSpPr>
          <p:cNvPr id="15" name="TextBox 14"/>
          <p:cNvSpPr txBox="1"/>
          <p:nvPr/>
        </p:nvSpPr>
        <p:spPr>
          <a:xfrm>
            <a:off x="548640" y="2240280"/>
            <a:ext cx="2011680" cy="41148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Edge</a:t>
            </a:r>
          </a:p>
        </p:txBody>
      </p:sp>
      <p:sp>
        <p:nvSpPr>
          <p:cNvPr id="16" name="Rounded Rectangle 15"/>
          <p:cNvSpPr/>
          <p:nvPr/>
        </p:nvSpPr>
        <p:spPr>
          <a:xfrm>
            <a:off x="2011680" y="2267712"/>
            <a:ext cx="1737360" cy="347472"/>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Preview</a:t>
            </a:r>
          </a:p>
        </p:txBody>
      </p:sp>
      <p:sp>
        <p:nvSpPr>
          <p:cNvPr id="17" name="TextBox 16"/>
          <p:cNvSpPr txBox="1"/>
          <p:nvPr/>
        </p:nvSpPr>
        <p:spPr>
          <a:xfrm>
            <a:off x="3931920" y="2240280"/>
            <a:ext cx="5486400" cy="411480"/>
          </a:xfrm>
          <a:prstGeom prst="rect">
            <a:avLst/>
          </a:prstGeom>
          <a:noFill/>
        </p:spPr>
        <p:txBody>
          <a:bodyPr wrap="square" lIns="0" rIns="0" tIns="18288" bIns="18288" anchor="ctr">
            <a:spAutoFit/>
          </a:bodyPr>
          <a:lstStyle/>
          <a:p>
            <a:pPr algn="l">
              <a:lnSpc>
                <a:spcPct val="112000"/>
              </a:lnSpc>
            </a:pPr>
            <a:r>
              <a:rPr sz="1700" b="0" i="0">
                <a:solidFill>
                  <a:srgbClr val="475569"/>
                </a:solidFill>
                <a:latin typeface="Arial"/>
              </a:rPr>
              <a:t>Canary/Dev from 138, Phi-4-mini</a:t>
            </a:r>
          </a:p>
        </p:txBody>
      </p:sp>
      <p:sp>
        <p:nvSpPr>
          <p:cNvPr id="18" name="TextBox 17"/>
          <p:cNvSpPr txBox="1"/>
          <p:nvPr/>
        </p:nvSpPr>
        <p:spPr>
          <a:xfrm>
            <a:off x="548640" y="2788920"/>
            <a:ext cx="2011680" cy="41148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Sampling</a:t>
            </a:r>
          </a:p>
        </p:txBody>
      </p:sp>
      <p:sp>
        <p:nvSpPr>
          <p:cNvPr id="19" name="Rounded Rectangle 18"/>
          <p:cNvSpPr/>
          <p:nvPr/>
        </p:nvSpPr>
        <p:spPr>
          <a:xfrm>
            <a:off x="2011680" y="2816352"/>
            <a:ext cx="1737360" cy="347472"/>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Origin trial</a:t>
            </a:r>
          </a:p>
        </p:txBody>
      </p:sp>
      <p:sp>
        <p:nvSpPr>
          <p:cNvPr id="20" name="TextBox 19"/>
          <p:cNvSpPr txBox="1"/>
          <p:nvPr/>
        </p:nvSpPr>
        <p:spPr>
          <a:xfrm>
            <a:off x="3931920" y="2788920"/>
            <a:ext cx="5486400" cy="411480"/>
          </a:xfrm>
          <a:prstGeom prst="rect">
            <a:avLst/>
          </a:prstGeom>
          <a:noFill/>
        </p:spPr>
        <p:txBody>
          <a:bodyPr wrap="square" lIns="0" rIns="0" tIns="18288" bIns="18288" anchor="ctr">
            <a:spAutoFit/>
          </a:bodyPr>
          <a:lstStyle/>
          <a:p>
            <a:pPr algn="l">
              <a:lnSpc>
                <a:spcPct val="112000"/>
              </a:lnSpc>
            </a:pPr>
            <a:r>
              <a:rPr sz="1700" b="0" i="0">
                <a:solidFill>
                  <a:srgbClr val="475569"/>
                </a:solidFill>
                <a:latin typeface="Arial"/>
              </a:rPr>
              <a:t>temperature/topK on the web: OT from Chrome 148</a:t>
            </a:r>
          </a:p>
        </p:txBody>
      </p:sp>
      <p:sp>
        <p:nvSpPr>
          <p:cNvPr id="21" name="Rounded Rectangle 20"/>
          <p:cNvSpPr/>
          <p:nvPr/>
        </p:nvSpPr>
        <p:spPr>
          <a:xfrm>
            <a:off x="548640" y="3383280"/>
            <a:ext cx="5440680" cy="28346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100" b="1" i="0">
                <a:solidFill>
                  <a:srgbClr val="0E7490"/>
                </a:solidFill>
                <a:latin typeface="Arial"/>
              </a:rPr>
              <a:t>Chrome (Gemini Nano)</a:t>
            </a:r>
          </a:p>
          <a:p>
            <a:pPr algn="l">
              <a:lnSpc>
                <a:spcPct val="112000"/>
              </a:lnSpc>
              <a:spcBef>
                <a:spcPts val="600"/>
              </a:spcBef>
            </a:pPr>
            <a:r>
              <a:rPr sz="1700" b="0" i="0">
                <a:solidFill>
                  <a:srgbClr val="0F172A"/>
                </a:solidFill>
                <a:latin typeface="Arial"/>
              </a:rPr>
              <a:t>≥ 22 GB free disk on the profile volume</a:t>
            </a:r>
          </a:p>
          <a:p>
            <a:pPr algn="l">
              <a:lnSpc>
                <a:spcPct val="112000"/>
              </a:lnSpc>
              <a:spcBef>
                <a:spcPts val="600"/>
              </a:spcBef>
            </a:pPr>
            <a:r>
              <a:rPr sz="1700" b="0" i="0">
                <a:solidFill>
                  <a:srgbClr val="0F172A"/>
                </a:solidFill>
                <a:latin typeface="Arial"/>
              </a:rPr>
              <a:t>GPU with more than 4 GB VRAM, or CPU with 16 GB RAM and 4 cores</a:t>
            </a:r>
          </a:p>
          <a:p>
            <a:pPr algn="l">
              <a:lnSpc>
                <a:spcPct val="112000"/>
              </a:lnSpc>
              <a:spcBef>
                <a:spcPts val="600"/>
              </a:spcBef>
            </a:pPr>
            <a:r>
              <a:rPr sz="1700" b="0" i="0">
                <a:solidFill>
                  <a:srgbClr val="0F172A"/>
                </a:solidFill>
                <a:latin typeface="Arial"/>
              </a:rPr>
              <a:t>Windows 10/11, macOS 13+, Linux, Chromebook Plus</a:t>
            </a:r>
          </a:p>
          <a:p>
            <a:pPr algn="l">
              <a:lnSpc>
                <a:spcPct val="112000"/>
              </a:lnSpc>
              <a:spcBef>
                <a:spcPts val="600"/>
              </a:spcBef>
            </a:pPr>
            <a:r>
              <a:rPr sz="1700" b="0" i="0">
                <a:solidFill>
                  <a:srgbClr val="0F172A"/>
                </a:solidFill>
                <a:latin typeface="Arial"/>
              </a:rPr>
              <a:t>Audio input needs a GPU</a:t>
            </a:r>
          </a:p>
        </p:txBody>
      </p:sp>
      <p:sp>
        <p:nvSpPr>
          <p:cNvPr id="22" name="Rounded Rectangle 21"/>
          <p:cNvSpPr/>
          <p:nvPr/>
        </p:nvSpPr>
        <p:spPr>
          <a:xfrm>
            <a:off x="6199632" y="3383280"/>
            <a:ext cx="5440680" cy="28346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100" b="1" i="0">
                <a:solidFill>
                  <a:srgbClr val="0E7490"/>
                </a:solidFill>
                <a:latin typeface="Arial"/>
              </a:rPr>
              <a:t>Edge (Phi-4-mini)</a:t>
            </a:r>
          </a:p>
          <a:p>
            <a:pPr algn="l">
              <a:lnSpc>
                <a:spcPct val="112000"/>
              </a:lnSpc>
              <a:spcBef>
                <a:spcPts val="600"/>
              </a:spcBef>
            </a:pPr>
            <a:r>
              <a:rPr sz="1700" b="0" i="0">
                <a:solidFill>
                  <a:srgbClr val="0F172A"/>
                </a:solidFill>
                <a:latin typeface="Arial"/>
              </a:rPr>
              <a:t>≥ 20 GB free disk</a:t>
            </a:r>
          </a:p>
          <a:p>
            <a:pPr algn="l">
              <a:lnSpc>
                <a:spcPct val="112000"/>
              </a:lnSpc>
              <a:spcBef>
                <a:spcPts val="600"/>
              </a:spcBef>
            </a:pPr>
            <a:r>
              <a:rPr sz="1700" b="0" i="0">
                <a:solidFill>
                  <a:srgbClr val="0F172A"/>
                </a:solidFill>
                <a:latin typeface="Arial"/>
              </a:rPr>
              <a:t>GPU with 5.5 GB VRAM or more</a:t>
            </a:r>
          </a:p>
          <a:p>
            <a:pPr algn="l">
              <a:lnSpc>
                <a:spcPct val="112000"/>
              </a:lnSpc>
              <a:spcBef>
                <a:spcPts val="600"/>
              </a:spcBef>
            </a:pPr>
            <a:r>
              <a:rPr sz="1700" b="0" i="0">
                <a:solidFill>
                  <a:srgbClr val="0F172A"/>
                </a:solidFill>
                <a:latin typeface="Arial"/>
              </a:rPr>
              <a:t>Windows 10/11, macOS 13.3+</a:t>
            </a:r>
          </a:p>
          <a:p>
            <a:pPr algn="l">
              <a:lnSpc>
                <a:spcPct val="112000"/>
              </a:lnSpc>
              <a:spcBef>
                <a:spcPts val="600"/>
              </a:spcBef>
            </a:pPr>
            <a:r>
              <a:rPr sz="1700" b="0" i="0">
                <a:solidFill>
                  <a:srgbClr val="0F172A"/>
                </a:solidFill>
                <a:latin typeface="Arial"/>
              </a:rPr>
              <a:t>Aion-1.0-Instruct preview from Edge 150 for weaker devices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4 · EDGE</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Same API, different model</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13</a:t>
            </a:r>
          </a:p>
        </p:txBody>
      </p:sp>
      <p:sp>
        <p:nvSpPr>
          <p:cNvPr id="5" name="Rectangle 4"/>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6" name="Rectangle 5"/>
          <p:cNvSpPr/>
          <p:nvPr/>
        </p:nvSpPr>
        <p:spPr>
          <a:xfrm>
            <a:off x="9692640" y="489203"/>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L4  Prompt API</a:t>
            </a:r>
          </a:p>
        </p:txBody>
      </p:sp>
      <p:sp>
        <p:nvSpPr>
          <p:cNvPr id="7" name="Rectangle 6"/>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8" name="Rectangle 7"/>
          <p:cNvSpPr/>
          <p:nvPr/>
        </p:nvSpPr>
        <p:spPr>
          <a:xfrm>
            <a:off x="9692640" y="918971"/>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L2  Compute APIs</a:t>
            </a:r>
          </a:p>
        </p:txBody>
      </p:sp>
      <p:sp>
        <p:nvSpPr>
          <p:cNvPr id="9" name="Rectangle 8"/>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0" name="Rectangle 9"/>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1" name="Rounded Rectangle 10"/>
          <p:cNvSpPr/>
          <p:nvPr/>
        </p:nvSpPr>
        <p:spPr>
          <a:xfrm>
            <a:off x="548640" y="1691640"/>
            <a:ext cx="2971800" cy="28346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600" b="1" i="0">
                <a:solidFill>
                  <a:srgbClr val="0E7490"/>
                </a:solidFill>
                <a:latin typeface="Arial"/>
              </a:rPr>
              <a:t>Chrome</a:t>
            </a:r>
          </a:p>
          <a:p>
            <a:pPr algn="l">
              <a:lnSpc>
                <a:spcPct val="112000"/>
              </a:lnSpc>
              <a:spcBef>
                <a:spcPts val="600"/>
              </a:spcBef>
            </a:pPr>
            <a:r>
              <a:rPr sz="1700" b="0" i="0">
                <a:solidFill>
                  <a:srgbClr val="0F172A"/>
                </a:solidFill>
                <a:latin typeface="Arial"/>
              </a:rPr>
              <a:t>Gemini Nano</a:t>
            </a:r>
          </a:p>
          <a:p>
            <a:pPr algn="l">
              <a:lnSpc>
                <a:spcPct val="112000"/>
              </a:lnSpc>
              <a:spcBef>
                <a:spcPts val="600"/>
              </a:spcBef>
            </a:pPr>
            <a:r>
              <a:rPr sz="1700" b="0" i="0">
                <a:solidFill>
                  <a:srgbClr val="0F172A"/>
                </a:solidFill>
                <a:latin typeface="Arial"/>
              </a:rPr>
              <a:t>Stable on the web in Chrome 148</a:t>
            </a:r>
          </a:p>
          <a:p>
            <a:pPr algn="l">
              <a:lnSpc>
                <a:spcPct val="112000"/>
              </a:lnSpc>
              <a:spcBef>
                <a:spcPts val="600"/>
              </a:spcBef>
            </a:pPr>
            <a:r>
              <a:rPr sz="1700" b="0" i="0">
                <a:solidFill>
                  <a:srgbClr val="0F172A"/>
                </a:solidFill>
                <a:latin typeface="Arial"/>
              </a:rPr>
              <a:t>Text, image and audio input</a:t>
            </a:r>
          </a:p>
        </p:txBody>
      </p:sp>
      <p:sp>
        <p:nvSpPr>
          <p:cNvPr id="12" name="Rounded Rectangle 11"/>
          <p:cNvSpPr/>
          <p:nvPr/>
        </p:nvSpPr>
        <p:spPr>
          <a:xfrm>
            <a:off x="3703320" y="1691640"/>
            <a:ext cx="2971800" cy="28346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600" b="1" i="0">
                <a:solidFill>
                  <a:srgbClr val="0E7490"/>
                </a:solidFill>
                <a:latin typeface="Arial"/>
              </a:rPr>
              <a:t>Edge</a:t>
            </a:r>
          </a:p>
          <a:p>
            <a:pPr algn="l">
              <a:lnSpc>
                <a:spcPct val="112000"/>
              </a:lnSpc>
              <a:spcBef>
                <a:spcPts val="600"/>
              </a:spcBef>
            </a:pPr>
            <a:r>
              <a:rPr sz="1700" b="0" i="0">
                <a:solidFill>
                  <a:srgbClr val="0F172A"/>
                </a:solidFill>
                <a:latin typeface="Arial"/>
              </a:rPr>
              <a:t>Phi-4-mini (4B parameters)</a:t>
            </a:r>
          </a:p>
          <a:p>
            <a:pPr algn="l">
              <a:lnSpc>
                <a:spcPct val="112000"/>
              </a:lnSpc>
              <a:spcBef>
                <a:spcPts val="600"/>
              </a:spcBef>
            </a:pPr>
            <a:r>
              <a:rPr sz="1700" b="0" i="0">
                <a:solidFill>
                  <a:srgbClr val="0F172A"/>
                </a:solidFill>
                <a:latin typeface="Arial"/>
              </a:rPr>
              <a:t>Dev preview, Canary/Dev 138+</a:t>
            </a:r>
          </a:p>
          <a:p>
            <a:pPr algn="l">
              <a:lnSpc>
                <a:spcPct val="112000"/>
              </a:lnSpc>
              <a:spcBef>
                <a:spcPts val="600"/>
              </a:spcBef>
            </a:pPr>
            <a:r>
              <a:rPr sz="1700" b="0" i="0">
                <a:solidFill>
                  <a:srgbClr val="0F172A"/>
                </a:solidFill>
                <a:latin typeface="Arial"/>
              </a:rPr>
              <a:t>Aion-1.0-Instruct preview in Edge 150</a:t>
            </a:r>
          </a:p>
        </p:txBody>
      </p:sp>
      <p:sp>
        <p:nvSpPr>
          <p:cNvPr id="13" name="Rounded Rectangle 12"/>
          <p:cNvSpPr/>
          <p:nvPr/>
        </p:nvSpPr>
        <p:spPr>
          <a:xfrm>
            <a:off x="6903720" y="1691640"/>
            <a:ext cx="4736592" cy="274320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800" b="0" i="0">
                <a:solidFill>
                  <a:srgbClr val="94A3B8"/>
                </a:solidFill>
                <a:latin typeface="Consolas"/>
              </a:rPr>
              <a:t>// same code, Chrome and Edge</a:t>
            </a:r>
          </a:p>
          <a:p>
            <a:pPr algn="l">
              <a:lnSpc>
                <a:spcPct val="110000"/>
              </a:lnSpc>
            </a:pPr>
            <a:r>
              <a:rPr sz="1800" b="0" i="0">
                <a:solidFill>
                  <a:srgbClr val="67E8F9"/>
                </a:solidFill>
                <a:latin typeface="Consolas"/>
              </a:rPr>
              <a:t>const</a:t>
            </a:r>
            <a:r>
              <a:rPr sz="1800" b="0" i="0">
                <a:solidFill>
                  <a:srgbClr val="E2E8F0"/>
                </a:solidFill>
                <a:latin typeface="Consolas"/>
              </a:rPr>
              <a:t> s = </a:t>
            </a:r>
            <a:r>
              <a:rPr sz="1800" b="0" i="0">
                <a:solidFill>
                  <a:srgbClr val="67E8F9"/>
                </a:solidFill>
                <a:latin typeface="Consolas"/>
              </a:rPr>
              <a:t>await</a:t>
            </a:r>
            <a:r>
              <a:rPr sz="1800" b="0" i="0">
                <a:solidFill>
                  <a:srgbClr val="E2E8F0"/>
                </a:solidFill>
                <a:latin typeface="Consolas"/>
              </a:rPr>
              <a:t> LanguageModel</a:t>
            </a:r>
          </a:p>
          <a:p>
            <a:pPr algn="l">
              <a:lnSpc>
                <a:spcPct val="110000"/>
              </a:lnSpc>
            </a:pPr>
            <a:r>
              <a:rPr sz="1800" b="0" i="0">
                <a:solidFill>
                  <a:srgbClr val="E2E8F0"/>
                </a:solidFill>
                <a:latin typeface="Consolas"/>
              </a:rPr>
              <a:t>  .create();</a:t>
            </a:r>
          </a:p>
          <a:p>
            <a:pPr algn="l">
              <a:lnSpc>
                <a:spcPct val="110000"/>
              </a:lnSpc>
            </a:pPr>
            <a:r>
              <a:rPr sz="1800" b="0" i="0">
                <a:solidFill>
                  <a:srgbClr val="67E8F9"/>
                </a:solidFill>
                <a:latin typeface="Consolas"/>
              </a:rPr>
              <a:t>const</a:t>
            </a:r>
            <a:r>
              <a:rPr sz="1800" b="0" i="0">
                <a:solidFill>
                  <a:srgbClr val="E2E8F0"/>
                </a:solidFill>
                <a:latin typeface="Consolas"/>
              </a:rPr>
              <a:t> out = </a:t>
            </a:r>
            <a:r>
              <a:rPr sz="1800" b="0" i="0">
                <a:solidFill>
                  <a:srgbClr val="67E8F9"/>
                </a:solidFill>
                <a:latin typeface="Consolas"/>
              </a:rPr>
              <a:t>await</a:t>
            </a:r>
            <a:r>
              <a:rPr sz="1800" b="0" i="0">
                <a:solidFill>
                  <a:srgbClr val="E2E8F0"/>
                </a:solidFill>
                <a:latin typeface="Consolas"/>
              </a:rPr>
              <a:t> s.prompt(</a:t>
            </a:r>
          </a:p>
          <a:p>
            <a:pPr algn="l">
              <a:lnSpc>
                <a:spcPct val="110000"/>
              </a:lnSpc>
            </a:pPr>
            <a:r>
              <a:rPr sz="1800" b="0" i="0">
                <a:solidFill>
                  <a:srgbClr val="E2E8F0"/>
                </a:solidFill>
                <a:latin typeface="Consolas"/>
              </a:rPr>
              <a:t>  </a:t>
            </a:r>
            <a:r>
              <a:rPr sz="1800" b="0" i="0">
                <a:solidFill>
                  <a:srgbClr val="FCD34D"/>
                </a:solidFill>
                <a:latin typeface="Consolas"/>
              </a:rPr>
              <a:t>'Summarize: '</a:t>
            </a:r>
            <a:r>
              <a:rPr sz="1800" b="0" i="0">
                <a:solidFill>
                  <a:srgbClr val="E2E8F0"/>
                </a:solidFill>
                <a:latin typeface="Consolas"/>
              </a:rPr>
              <a:t> + text);</a:t>
            </a:r>
          </a:p>
        </p:txBody>
      </p:sp>
      <p:sp>
        <p:nvSpPr>
          <p:cNvPr id="14" name="Rounded Rectangle 13"/>
          <p:cNvSpPr/>
          <p:nvPr/>
        </p:nvSpPr>
        <p:spPr>
          <a:xfrm>
            <a:off x="548640" y="4709160"/>
            <a:ext cx="11091672" cy="146304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60" y="4800600"/>
            <a:ext cx="10607040" cy="1280160"/>
          </a:xfrm>
          <a:prstGeom prst="rect">
            <a:avLst/>
          </a:prstGeom>
          <a:noFill/>
        </p:spPr>
        <p:txBody>
          <a:bodyPr wrap="square" lIns="0" rIns="0" tIns="18288" bIns="18288" anchor="ctr">
            <a:spAutoFit/>
          </a:bodyPr>
          <a:lstStyle/>
          <a:p>
            <a:pPr algn="l">
              <a:lnSpc>
                <a:spcPct val="112000"/>
              </a:lnSpc>
            </a:pPr>
            <a:r>
              <a:rPr sz="2100" b="1" i="0">
                <a:solidFill>
                  <a:srgbClr val="0E7490"/>
                </a:solidFill>
                <a:latin typeface="Arial"/>
              </a:rPr>
              <a:t>Write once, model varies. </a:t>
            </a:r>
          </a:p>
          <a:p>
            <a:pPr algn="l">
              <a:lnSpc>
                <a:spcPct val="112000"/>
              </a:lnSpc>
              <a:spcBef>
                <a:spcPts val="400"/>
              </a:spcBef>
            </a:pPr>
            <a:r>
              <a:rPr sz="1800" b="0" i="0">
                <a:solidFill>
                  <a:srgbClr val="0F172A"/>
                </a:solidFill>
                <a:latin typeface="Arial"/>
              </a:rPr>
              <a:t>Answers, quality, speed and languages differ by browser. Test prompts on both and keep outputs short and structured. Interoperability is exactly the concern Mozilla and WebKit raised.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STANDARDS, HONESTLY</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Who's on board? Standards and browser positions</a:t>
            </a:r>
          </a:p>
        </p:txBody>
      </p:sp>
      <p:sp>
        <p:nvSpPr>
          <p:cNvPr id="4" name="TextBox 3"/>
          <p:cNvSpPr txBox="1"/>
          <p:nvPr/>
        </p:nvSpPr>
        <p:spPr>
          <a:xfrm>
            <a:off x="548640" y="6400800"/>
            <a:ext cx="10241280" cy="274320"/>
          </a:xfrm>
          <a:prstGeom prst="rect">
            <a:avLst/>
          </a:prstGeom>
          <a:noFill/>
        </p:spPr>
        <p:txBody>
          <a:bodyPr wrap="square" lIns="0" rIns="0" tIns="18288" bIns="18288" anchor="t">
            <a:spAutoFit/>
          </a:bodyPr>
          <a:lstStyle/>
          <a:p>
            <a:pPr algn="l">
              <a:lnSpc>
                <a:spcPct val="112000"/>
              </a:lnSpc>
            </a:pPr>
            <a:r>
              <a:rPr sz="1200" b="0" i="0">
                <a:solidFill>
                  <a:srgbClr val="475569"/>
                </a:solidFill>
                <a:latin typeface="Arial"/>
              </a:rPr>
              <a:t>Source: W3C WebML WG/CG charters, github.com/mozilla/standards-positions, github.com/WebKit/standards-positions — as of 16 Oct 2026</a:t>
            </a:r>
          </a:p>
        </p:txBody>
      </p:sp>
      <p:sp>
        <p:nvSpPr>
          <p:cNvPr id="5" name="TextBox 4"/>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14</a:t>
            </a:r>
          </a:p>
        </p:txBody>
      </p:sp>
      <p:sp>
        <p:nvSpPr>
          <p:cNvPr id="6" name="TextBox 5"/>
          <p:cNvSpPr txBox="1"/>
          <p:nvPr/>
        </p:nvSpPr>
        <p:spPr>
          <a:xfrm>
            <a:off x="548640" y="1691640"/>
            <a:ext cx="2743200" cy="365760"/>
          </a:xfrm>
          <a:prstGeom prst="rect">
            <a:avLst/>
          </a:prstGeom>
          <a:noFill/>
        </p:spPr>
        <p:txBody>
          <a:bodyPr wrap="square" lIns="0" rIns="0" tIns="18288" bIns="18288" anchor="t">
            <a:spAutoFit/>
          </a:bodyPr>
          <a:lstStyle/>
          <a:p>
            <a:pPr algn="l">
              <a:lnSpc>
                <a:spcPct val="112000"/>
              </a:lnSpc>
            </a:pPr>
            <a:r>
              <a:rPr sz="1700" b="1" i="0">
                <a:solidFill>
                  <a:srgbClr val="475569"/>
                </a:solidFill>
                <a:latin typeface="Arial"/>
              </a:rPr>
              <a:t>API</a:t>
            </a:r>
          </a:p>
        </p:txBody>
      </p:sp>
      <p:sp>
        <p:nvSpPr>
          <p:cNvPr id="7" name="TextBox 6"/>
          <p:cNvSpPr txBox="1"/>
          <p:nvPr/>
        </p:nvSpPr>
        <p:spPr>
          <a:xfrm>
            <a:off x="3291840" y="1691640"/>
            <a:ext cx="2743200" cy="365760"/>
          </a:xfrm>
          <a:prstGeom prst="rect">
            <a:avLst/>
          </a:prstGeom>
          <a:noFill/>
        </p:spPr>
        <p:txBody>
          <a:bodyPr wrap="square" lIns="0" rIns="0" tIns="18288" bIns="18288" anchor="t">
            <a:spAutoFit/>
          </a:bodyPr>
          <a:lstStyle/>
          <a:p>
            <a:pPr algn="l">
              <a:lnSpc>
                <a:spcPct val="112000"/>
              </a:lnSpc>
            </a:pPr>
            <a:r>
              <a:rPr sz="1700" b="1" i="0">
                <a:solidFill>
                  <a:srgbClr val="475569"/>
                </a:solidFill>
                <a:latin typeface="Arial"/>
              </a:rPr>
              <a:t>Where it's specified</a:t>
            </a:r>
          </a:p>
        </p:txBody>
      </p:sp>
      <p:sp>
        <p:nvSpPr>
          <p:cNvPr id="8" name="TextBox 7"/>
          <p:cNvSpPr txBox="1"/>
          <p:nvPr/>
        </p:nvSpPr>
        <p:spPr>
          <a:xfrm>
            <a:off x="6858000" y="1691640"/>
            <a:ext cx="2743200" cy="365760"/>
          </a:xfrm>
          <a:prstGeom prst="rect">
            <a:avLst/>
          </a:prstGeom>
          <a:noFill/>
        </p:spPr>
        <p:txBody>
          <a:bodyPr wrap="square" lIns="0" rIns="0" tIns="18288" bIns="18288" anchor="t">
            <a:spAutoFit/>
          </a:bodyPr>
          <a:lstStyle/>
          <a:p>
            <a:pPr algn="l">
              <a:lnSpc>
                <a:spcPct val="112000"/>
              </a:lnSpc>
            </a:pPr>
            <a:r>
              <a:rPr sz="1700" b="1" i="0">
                <a:solidFill>
                  <a:srgbClr val="475569"/>
                </a:solidFill>
                <a:latin typeface="Arial"/>
              </a:rPr>
              <a:t>Mozilla</a:t>
            </a:r>
          </a:p>
        </p:txBody>
      </p:sp>
      <p:sp>
        <p:nvSpPr>
          <p:cNvPr id="9" name="TextBox 8"/>
          <p:cNvSpPr txBox="1"/>
          <p:nvPr/>
        </p:nvSpPr>
        <p:spPr>
          <a:xfrm>
            <a:off x="9235440" y="1691640"/>
            <a:ext cx="2743200" cy="365760"/>
          </a:xfrm>
          <a:prstGeom prst="rect">
            <a:avLst/>
          </a:prstGeom>
          <a:noFill/>
        </p:spPr>
        <p:txBody>
          <a:bodyPr wrap="square" lIns="0" rIns="0" tIns="18288" bIns="18288" anchor="t">
            <a:spAutoFit/>
          </a:bodyPr>
          <a:lstStyle/>
          <a:p>
            <a:pPr algn="l">
              <a:lnSpc>
                <a:spcPct val="112000"/>
              </a:lnSpc>
            </a:pPr>
            <a:r>
              <a:rPr sz="1700" b="1" i="0">
                <a:solidFill>
                  <a:srgbClr val="475569"/>
                </a:solidFill>
                <a:latin typeface="Arial"/>
              </a:rPr>
              <a:t>WebKit</a:t>
            </a:r>
          </a:p>
        </p:txBody>
      </p:sp>
      <p:sp>
        <p:nvSpPr>
          <p:cNvPr id="10" name="Rectangle 9"/>
          <p:cNvSpPr/>
          <p:nvPr/>
        </p:nvSpPr>
        <p:spPr>
          <a:xfrm>
            <a:off x="457200" y="2103120"/>
            <a:ext cx="11274552" cy="65836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2194560"/>
            <a:ext cx="2743200" cy="45720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WebNN</a:t>
            </a:r>
          </a:p>
        </p:txBody>
      </p:sp>
      <p:sp>
        <p:nvSpPr>
          <p:cNvPr id="12" name="TextBox 11"/>
          <p:cNvSpPr txBox="1"/>
          <p:nvPr/>
        </p:nvSpPr>
        <p:spPr>
          <a:xfrm>
            <a:off x="3291840" y="2194560"/>
            <a:ext cx="3474720" cy="457200"/>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W3C Working Group · Candidate Rec.</a:t>
            </a:r>
          </a:p>
        </p:txBody>
      </p:sp>
      <p:sp>
        <p:nvSpPr>
          <p:cNvPr id="13" name="Rounded Rectangle 12"/>
          <p:cNvSpPr/>
          <p:nvPr/>
        </p:nvSpPr>
        <p:spPr>
          <a:xfrm>
            <a:off x="6858000" y="2249424"/>
            <a:ext cx="164592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Positive</a:t>
            </a:r>
          </a:p>
        </p:txBody>
      </p:sp>
      <p:sp>
        <p:nvSpPr>
          <p:cNvPr id="14" name="Rounded Rectangle 13"/>
          <p:cNvSpPr/>
          <p:nvPr/>
        </p:nvSpPr>
        <p:spPr>
          <a:xfrm>
            <a:off x="9235440" y="2249424"/>
            <a:ext cx="1645920" cy="347472"/>
          </a:xfrm>
          <a:prstGeom prst="roundRect">
            <a:avLst>
              <a:gd name="adj" fmla="val 5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475569"/>
                </a:solidFill>
                <a:latin typeface="Arial"/>
              </a:rPr>
              <a:t>No position</a:t>
            </a:r>
          </a:p>
        </p:txBody>
      </p:sp>
      <p:sp>
        <p:nvSpPr>
          <p:cNvPr id="15" name="TextBox 14"/>
          <p:cNvSpPr txBox="1"/>
          <p:nvPr/>
        </p:nvSpPr>
        <p:spPr>
          <a:xfrm>
            <a:off x="548640" y="2907791"/>
            <a:ext cx="2743200" cy="45720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Prompt API</a:t>
            </a:r>
          </a:p>
        </p:txBody>
      </p:sp>
      <p:sp>
        <p:nvSpPr>
          <p:cNvPr id="16" name="TextBox 15"/>
          <p:cNvSpPr txBox="1"/>
          <p:nvPr/>
        </p:nvSpPr>
        <p:spPr>
          <a:xfrm>
            <a:off x="3291840" y="2907791"/>
            <a:ext cx="3474720" cy="457200"/>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WebML Community Group</a:t>
            </a:r>
          </a:p>
        </p:txBody>
      </p:sp>
      <p:sp>
        <p:nvSpPr>
          <p:cNvPr id="17" name="Rounded Rectangle 16"/>
          <p:cNvSpPr/>
          <p:nvPr/>
        </p:nvSpPr>
        <p:spPr>
          <a:xfrm>
            <a:off x="6858000" y="2962656"/>
            <a:ext cx="1645920" cy="347472"/>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Negative</a:t>
            </a:r>
          </a:p>
        </p:txBody>
      </p:sp>
      <p:sp>
        <p:nvSpPr>
          <p:cNvPr id="18" name="Rounded Rectangle 17"/>
          <p:cNvSpPr/>
          <p:nvPr/>
        </p:nvSpPr>
        <p:spPr>
          <a:xfrm>
            <a:off x="9235440" y="2962656"/>
            <a:ext cx="1645920" cy="347472"/>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Oppose</a:t>
            </a:r>
          </a:p>
        </p:txBody>
      </p:sp>
      <p:sp>
        <p:nvSpPr>
          <p:cNvPr id="19" name="Rectangle 18"/>
          <p:cNvSpPr/>
          <p:nvPr/>
        </p:nvSpPr>
        <p:spPr>
          <a:xfrm>
            <a:off x="457200" y="3529584"/>
            <a:ext cx="11274552" cy="65836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48640" y="3621024"/>
            <a:ext cx="2743200" cy="45720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Writing Assistance</a:t>
            </a:r>
          </a:p>
        </p:txBody>
      </p:sp>
      <p:sp>
        <p:nvSpPr>
          <p:cNvPr id="21" name="TextBox 20"/>
          <p:cNvSpPr txBox="1"/>
          <p:nvPr/>
        </p:nvSpPr>
        <p:spPr>
          <a:xfrm>
            <a:off x="3291840" y="3621024"/>
            <a:ext cx="3474720" cy="457200"/>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WebML Community Group</a:t>
            </a:r>
          </a:p>
        </p:txBody>
      </p:sp>
      <p:sp>
        <p:nvSpPr>
          <p:cNvPr id="22" name="Rounded Rectangle 21"/>
          <p:cNvSpPr/>
          <p:nvPr/>
        </p:nvSpPr>
        <p:spPr>
          <a:xfrm>
            <a:off x="6858000" y="3675887"/>
            <a:ext cx="1645920" cy="347472"/>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Negative</a:t>
            </a:r>
          </a:p>
        </p:txBody>
      </p:sp>
      <p:sp>
        <p:nvSpPr>
          <p:cNvPr id="23" name="Rounded Rectangle 22"/>
          <p:cNvSpPr/>
          <p:nvPr/>
        </p:nvSpPr>
        <p:spPr>
          <a:xfrm>
            <a:off x="9235440" y="3675887"/>
            <a:ext cx="1645920" cy="347472"/>
          </a:xfrm>
          <a:prstGeom prst="roundRect">
            <a:avLst>
              <a:gd name="adj" fmla="val 5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475569"/>
                </a:solidFill>
                <a:latin typeface="Arial"/>
              </a:rPr>
              <a:t>Open</a:t>
            </a:r>
          </a:p>
        </p:txBody>
      </p:sp>
      <p:sp>
        <p:nvSpPr>
          <p:cNvPr id="24" name="TextBox 23"/>
          <p:cNvSpPr txBox="1"/>
          <p:nvPr/>
        </p:nvSpPr>
        <p:spPr>
          <a:xfrm>
            <a:off x="548640" y="4334256"/>
            <a:ext cx="2743200" cy="45720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Language Detector</a:t>
            </a:r>
          </a:p>
        </p:txBody>
      </p:sp>
      <p:sp>
        <p:nvSpPr>
          <p:cNvPr id="25" name="TextBox 24"/>
          <p:cNvSpPr txBox="1"/>
          <p:nvPr/>
        </p:nvSpPr>
        <p:spPr>
          <a:xfrm>
            <a:off x="3291840" y="4334256"/>
            <a:ext cx="3474720" cy="457200"/>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WebML Community Group</a:t>
            </a:r>
          </a:p>
        </p:txBody>
      </p:sp>
      <p:sp>
        <p:nvSpPr>
          <p:cNvPr id="26" name="Rounded Rectangle 25"/>
          <p:cNvSpPr/>
          <p:nvPr/>
        </p:nvSpPr>
        <p:spPr>
          <a:xfrm>
            <a:off x="6858000" y="4389120"/>
            <a:ext cx="1645920" cy="347472"/>
          </a:xfrm>
          <a:prstGeom prst="roundRect">
            <a:avLst>
              <a:gd name="adj" fmla="val 5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475569"/>
                </a:solidFill>
                <a:latin typeface="Arial"/>
              </a:rPr>
              <a:t>Open</a:t>
            </a:r>
          </a:p>
        </p:txBody>
      </p:sp>
      <p:sp>
        <p:nvSpPr>
          <p:cNvPr id="27" name="Rounded Rectangle 26"/>
          <p:cNvSpPr/>
          <p:nvPr/>
        </p:nvSpPr>
        <p:spPr>
          <a:xfrm>
            <a:off x="9235440" y="4389120"/>
            <a:ext cx="1645920" cy="347472"/>
          </a:xfrm>
          <a:prstGeom prst="roundRect">
            <a:avLst>
              <a:gd name="adj" fmla="val 5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475569"/>
                </a:solidFill>
                <a:latin typeface="Arial"/>
              </a:rPr>
              <a:t>—</a:t>
            </a:r>
          </a:p>
        </p:txBody>
      </p:sp>
      <p:sp>
        <p:nvSpPr>
          <p:cNvPr id="28" name="Rectangle 27"/>
          <p:cNvSpPr/>
          <p:nvPr/>
        </p:nvSpPr>
        <p:spPr>
          <a:xfrm>
            <a:off x="457200" y="4956048"/>
            <a:ext cx="11274552" cy="65836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48640" y="5047488"/>
            <a:ext cx="2743200" cy="45720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WebMCP</a:t>
            </a:r>
          </a:p>
        </p:txBody>
      </p:sp>
      <p:sp>
        <p:nvSpPr>
          <p:cNvPr id="30" name="TextBox 29"/>
          <p:cNvSpPr txBox="1"/>
          <p:nvPr/>
        </p:nvSpPr>
        <p:spPr>
          <a:xfrm>
            <a:off x="3291840" y="5047488"/>
            <a:ext cx="3474720" cy="457200"/>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WebML Community Group</a:t>
            </a:r>
          </a:p>
        </p:txBody>
      </p:sp>
      <p:sp>
        <p:nvSpPr>
          <p:cNvPr id="31" name="Rounded Rectangle 30"/>
          <p:cNvSpPr/>
          <p:nvPr/>
        </p:nvSpPr>
        <p:spPr>
          <a:xfrm>
            <a:off x="6858000" y="5102351"/>
            <a:ext cx="1645920" cy="347472"/>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Neutral</a:t>
            </a:r>
          </a:p>
        </p:txBody>
      </p:sp>
      <p:sp>
        <p:nvSpPr>
          <p:cNvPr id="32" name="Rounded Rectangle 31"/>
          <p:cNvSpPr/>
          <p:nvPr/>
        </p:nvSpPr>
        <p:spPr>
          <a:xfrm>
            <a:off x="9235440" y="5102351"/>
            <a:ext cx="1645920" cy="347472"/>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Oppose</a:t>
            </a:r>
          </a:p>
        </p:txBody>
      </p:sp>
      <p:sp>
        <p:nvSpPr>
          <p:cNvPr id="33" name="TextBox 32"/>
          <p:cNvSpPr txBox="1"/>
          <p:nvPr/>
        </p:nvSpPr>
        <p:spPr>
          <a:xfrm>
            <a:off x="548640" y="5806440"/>
            <a:ext cx="10972800" cy="502920"/>
          </a:xfrm>
          <a:prstGeom prst="rect">
            <a:avLst/>
          </a:prstGeom>
          <a:noFill/>
        </p:spPr>
        <p:txBody>
          <a:bodyPr wrap="square" lIns="0" rIns="0" tIns="18288" bIns="18288" anchor="t">
            <a:spAutoFit/>
          </a:bodyPr>
          <a:lstStyle/>
          <a:p>
            <a:pPr algn="l">
              <a:lnSpc>
                <a:spcPct val="112000"/>
              </a:lnSpc>
            </a:pPr>
            <a:r>
              <a:rPr sz="1700" b="0" i="0">
                <a:solidFill>
                  <a:srgbClr val="475569"/>
                </a:solidFill>
                <a:latin typeface="Arial"/>
              </a:rPr>
              <a:t>Community Group = incubation. Only WebNN is on the Recommendation track (target: Q1 2027).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3</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L3 · Frameworks: bring a model</a:t>
            </a:r>
          </a:p>
        </p:txBody>
      </p:sp>
      <p:sp>
        <p:nvSpPr>
          <p:cNvPr id="4" name="TextBox 3"/>
          <p:cNvSpPr txBox="1"/>
          <p:nvPr/>
        </p:nvSpPr>
        <p:spPr>
          <a:xfrm>
            <a:off x="548640" y="6400800"/>
            <a:ext cx="10241280" cy="274320"/>
          </a:xfrm>
          <a:prstGeom prst="rect">
            <a:avLst/>
          </a:prstGeom>
          <a:noFill/>
        </p:spPr>
        <p:txBody>
          <a:bodyPr wrap="square" lIns="0" rIns="0" tIns="18288" bIns="18288" anchor="t">
            <a:spAutoFit/>
          </a:bodyPr>
          <a:lstStyle/>
          <a:p>
            <a:pPr algn="l">
              <a:lnSpc>
                <a:spcPct val="112000"/>
              </a:lnSpc>
            </a:pPr>
            <a:r>
              <a:rPr sz="1200" b="0" i="0">
                <a:solidFill>
                  <a:srgbClr val="475569"/>
                </a:solidFill>
                <a:latin typeface="Arial"/>
              </a:rPr>
              <a:t>Source: npm registry, GitHub releases — versions as of 16 Oct 2026</a:t>
            </a:r>
          </a:p>
        </p:txBody>
      </p:sp>
      <p:sp>
        <p:nvSpPr>
          <p:cNvPr id="5" name="TextBox 4"/>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15</a:t>
            </a:r>
          </a:p>
        </p:txBody>
      </p:sp>
      <p:sp>
        <p:nvSpPr>
          <p:cNvPr id="6" name="Rectangle 5"/>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7" name="Rectangle 6"/>
          <p:cNvSpPr/>
          <p:nvPr/>
        </p:nvSpPr>
        <p:spPr>
          <a:xfrm>
            <a:off x="9692640" y="489203"/>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L4  Prompt API</a:t>
            </a:r>
          </a:p>
        </p:txBody>
      </p:sp>
      <p:sp>
        <p:nvSpPr>
          <p:cNvPr id="8" name="Rectangle 7"/>
          <p:cNvSpPr/>
          <p:nvPr/>
        </p:nvSpPr>
        <p:spPr>
          <a:xfrm>
            <a:off x="9692640" y="704088"/>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L3  Frameworks</a:t>
            </a:r>
          </a:p>
        </p:txBody>
      </p:sp>
      <p:sp>
        <p:nvSpPr>
          <p:cNvPr id="9" name="Rectangle 8"/>
          <p:cNvSpPr/>
          <p:nvPr/>
        </p:nvSpPr>
        <p:spPr>
          <a:xfrm>
            <a:off x="9692640" y="918971"/>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L2  Compute APIs</a:t>
            </a:r>
          </a:p>
        </p:txBody>
      </p:sp>
      <p:sp>
        <p:nvSpPr>
          <p:cNvPr id="10" name="Rectangle 9"/>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1" name="Rectangle 10"/>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2" name="Rounded Rectangle 11"/>
          <p:cNvSpPr/>
          <p:nvPr/>
        </p:nvSpPr>
        <p:spPr>
          <a:xfrm>
            <a:off x="548640" y="1691640"/>
            <a:ext cx="2633472" cy="35661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000" b="1" i="0">
                <a:solidFill>
                  <a:srgbClr val="0E7490"/>
                </a:solidFill>
                <a:latin typeface="Arial"/>
              </a:rPr>
              <a:t>Transformers.js 4.3.1</a:t>
            </a:r>
          </a:p>
          <a:p>
            <a:pPr algn="l">
              <a:lnSpc>
                <a:spcPct val="112000"/>
              </a:lnSpc>
              <a:spcBef>
                <a:spcPts val="600"/>
              </a:spcBef>
            </a:pPr>
            <a:r>
              <a:rPr sz="1700" b="0" i="0">
                <a:solidFill>
                  <a:srgbClr val="0F172A"/>
                </a:solidFill>
                <a:latin typeface="Arial"/>
              </a:rPr>
              <a:t>Hugging Face pipelines on ONNX Runtime Web</a:t>
            </a:r>
          </a:p>
          <a:p>
            <a:pPr algn="l">
              <a:lnSpc>
                <a:spcPct val="112000"/>
              </a:lnSpc>
              <a:spcBef>
                <a:spcPts val="600"/>
              </a:spcBef>
            </a:pPr>
            <a:r>
              <a:rPr sz="1700" b="0" i="0">
                <a:solidFill>
                  <a:srgbClr val="0F172A"/>
                </a:solidFill>
                <a:latin typeface="Arial"/>
              </a:rPr>
              <a:t>wasm · webgpu · webnn</a:t>
            </a:r>
          </a:p>
          <a:p>
            <a:pPr algn="l">
              <a:lnSpc>
                <a:spcPct val="112000"/>
              </a:lnSpc>
              <a:spcBef>
                <a:spcPts val="600"/>
              </a:spcBef>
            </a:pPr>
            <a:r>
              <a:rPr sz="1700" b="0" i="0">
                <a:solidFill>
                  <a:srgbClr val="0F172A"/>
                </a:solidFill>
                <a:latin typeface="Arial"/>
              </a:rPr>
              <a:t>4,272 models on the Hub</a:t>
            </a:r>
          </a:p>
        </p:txBody>
      </p:sp>
      <p:sp>
        <p:nvSpPr>
          <p:cNvPr id="13" name="Rounded Rectangle 12"/>
          <p:cNvSpPr/>
          <p:nvPr/>
        </p:nvSpPr>
        <p:spPr>
          <a:xfrm>
            <a:off x="3364992" y="1691640"/>
            <a:ext cx="2633472" cy="35661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000" b="1" i="0">
                <a:solidFill>
                  <a:srgbClr val="0E7490"/>
                </a:solidFill>
                <a:latin typeface="Arial"/>
              </a:rPr>
              <a:t>ONNX Runtime Web 1.30</a:t>
            </a:r>
          </a:p>
          <a:p>
            <a:pPr algn="l">
              <a:lnSpc>
                <a:spcPct val="112000"/>
              </a:lnSpc>
              <a:spcBef>
                <a:spcPts val="600"/>
              </a:spcBef>
            </a:pPr>
            <a:r>
              <a:rPr sz="1700" b="0" i="0">
                <a:solidFill>
                  <a:srgbClr val="0F172A"/>
                </a:solidFill>
                <a:latin typeface="Arial"/>
              </a:rPr>
              <a:t>Run any ONNX model</a:t>
            </a:r>
          </a:p>
          <a:p>
            <a:pPr algn="l">
              <a:lnSpc>
                <a:spcPct val="112000"/>
              </a:lnSpc>
              <a:spcBef>
                <a:spcPts val="600"/>
              </a:spcBef>
            </a:pPr>
            <a:r>
              <a:rPr sz="1700" b="0" i="0">
                <a:solidFill>
                  <a:srgbClr val="0F172A"/>
                </a:solidFill>
                <a:latin typeface="Arial"/>
              </a:rPr>
              <a:t>EPs: wasm, webgpu, webnn</a:t>
            </a:r>
          </a:p>
          <a:p>
            <a:pPr algn="l">
              <a:lnSpc>
                <a:spcPct val="112000"/>
              </a:lnSpc>
              <a:spcBef>
                <a:spcPts val="600"/>
              </a:spcBef>
            </a:pPr>
            <a:r>
              <a:rPr sz="1700" b="0" i="0">
                <a:solidFill>
                  <a:srgbClr val="0F172A"/>
                </a:solidFill>
                <a:latin typeface="Arial"/>
              </a:rPr>
              <a:t>The engine under Transformers.js</a:t>
            </a:r>
          </a:p>
        </p:txBody>
      </p:sp>
      <p:sp>
        <p:nvSpPr>
          <p:cNvPr id="14" name="Rounded Rectangle 13"/>
          <p:cNvSpPr/>
          <p:nvPr/>
        </p:nvSpPr>
        <p:spPr>
          <a:xfrm>
            <a:off x="6181344" y="1691640"/>
            <a:ext cx="2633472" cy="35661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000" b="1" i="0">
                <a:solidFill>
                  <a:srgbClr val="0E7490"/>
                </a:solidFill>
                <a:latin typeface="Arial"/>
              </a:rPr>
              <a:t>WebLLM 0.2.86</a:t>
            </a:r>
          </a:p>
          <a:p>
            <a:pPr algn="l">
              <a:lnSpc>
                <a:spcPct val="112000"/>
              </a:lnSpc>
              <a:spcBef>
                <a:spcPts val="600"/>
              </a:spcBef>
            </a:pPr>
            <a:r>
              <a:rPr sz="1700" b="0" i="0">
                <a:solidFill>
                  <a:srgbClr val="0F172A"/>
                </a:solidFill>
                <a:latin typeface="Arial"/>
              </a:rPr>
              <a:t>LLM chat engine (MLC)</a:t>
            </a:r>
          </a:p>
          <a:p>
            <a:pPr algn="l">
              <a:lnSpc>
                <a:spcPct val="112000"/>
              </a:lnSpc>
              <a:spcBef>
                <a:spcPts val="600"/>
              </a:spcBef>
            </a:pPr>
            <a:r>
              <a:rPr sz="1700" b="0" i="0">
                <a:solidFill>
                  <a:srgbClr val="0F172A"/>
                </a:solidFill>
                <a:latin typeface="Arial"/>
              </a:rPr>
              <a:t>WebGPU only</a:t>
            </a:r>
          </a:p>
          <a:p>
            <a:pPr algn="l">
              <a:lnSpc>
                <a:spcPct val="112000"/>
              </a:lnSpc>
              <a:spcBef>
                <a:spcPts val="600"/>
              </a:spcBef>
            </a:pPr>
            <a:r>
              <a:rPr sz="1700" b="0" i="0">
                <a:solidFill>
                  <a:srgbClr val="0F172A"/>
                </a:solidFill>
                <a:latin typeface="Arial"/>
              </a:rPr>
              <a:t>Llama-3.2-1B q4f16 ≈ 879 MB</a:t>
            </a:r>
          </a:p>
        </p:txBody>
      </p:sp>
      <p:sp>
        <p:nvSpPr>
          <p:cNvPr id="15" name="Rounded Rectangle 14"/>
          <p:cNvSpPr/>
          <p:nvPr/>
        </p:nvSpPr>
        <p:spPr>
          <a:xfrm>
            <a:off x="8997696" y="1691640"/>
            <a:ext cx="2633472" cy="35661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000" b="1" i="0">
                <a:solidFill>
                  <a:srgbClr val="0E7490"/>
                </a:solidFill>
                <a:latin typeface="Arial"/>
              </a:rPr>
              <a:t>LiteRT.js 2.5.3</a:t>
            </a:r>
          </a:p>
          <a:p>
            <a:pPr algn="l">
              <a:lnSpc>
                <a:spcPct val="112000"/>
              </a:lnSpc>
              <a:spcBef>
                <a:spcPts val="600"/>
              </a:spcBef>
            </a:pPr>
            <a:r>
              <a:rPr sz="1700" b="0" i="0">
                <a:solidFill>
                  <a:srgbClr val="0F172A"/>
                </a:solidFill>
                <a:latin typeface="Arial"/>
              </a:rPr>
              <a:t>Google's LiteRT (ex-TFLite) for the web</a:t>
            </a:r>
          </a:p>
          <a:p>
            <a:pPr algn="l">
              <a:lnSpc>
                <a:spcPct val="112000"/>
              </a:lnSpc>
              <a:spcBef>
                <a:spcPts val="600"/>
              </a:spcBef>
            </a:pPr>
            <a:r>
              <a:rPr sz="1700" b="0" i="0">
                <a:solidFill>
                  <a:srgbClr val="0F172A"/>
                </a:solidFill>
                <a:latin typeface="Arial"/>
              </a:rPr>
              <a:t>WebGPU / WASM</a:t>
            </a:r>
          </a:p>
          <a:p>
            <a:pPr algn="l">
              <a:lnSpc>
                <a:spcPct val="112000"/>
              </a:lnSpc>
              <a:spcBef>
                <a:spcPts val="600"/>
              </a:spcBef>
            </a:pPr>
            <a:r>
              <a:rPr sz="1700" b="0" i="0">
                <a:solidFill>
                  <a:srgbClr val="0F172A"/>
                </a:solidFill>
                <a:latin typeface="Arial"/>
              </a:rPr>
              <a:t>+ MediaPipe tasks-genai 0.10.29</a:t>
            </a:r>
          </a:p>
        </p:txBody>
      </p:sp>
      <p:sp>
        <p:nvSpPr>
          <p:cNvPr id="16" name="Rounded Rectangle 15"/>
          <p:cNvSpPr/>
          <p:nvPr/>
        </p:nvSpPr>
        <p:spPr>
          <a:xfrm>
            <a:off x="548640" y="5486400"/>
            <a:ext cx="11091672" cy="73152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5486400"/>
            <a:ext cx="10698480" cy="731520"/>
          </a:xfrm>
          <a:prstGeom prst="rect">
            <a:avLst/>
          </a:prstGeom>
          <a:noFill/>
        </p:spPr>
        <p:txBody>
          <a:bodyPr wrap="square" lIns="0" rIns="0" tIns="18288" bIns="18288" anchor="ctr">
            <a:spAutoFit/>
          </a:bodyPr>
          <a:lstStyle/>
          <a:p>
            <a:pPr algn="l">
              <a:lnSpc>
                <a:spcPct val="112000"/>
              </a:lnSpc>
            </a:pPr>
            <a:r>
              <a:rPr sz="1800" b="1" i="0">
                <a:solidFill>
                  <a:srgbClr val="0F172A"/>
                </a:solidFill>
                <a:latin typeface="Arial"/>
              </a:rPr>
              <a:t>TensorFlow.js: </a:t>
            </a:r>
            <a:r>
              <a:rPr sz="1800" b="0" i="0">
                <a:solidFill>
                  <a:srgbClr val="0F172A"/>
                </a:solidFill>
                <a:latin typeface="Arial"/>
              </a:rPr>
              <a:t>last release 4.22.0 in October 2024 — maintenance mode in practice. Start new work elsewhere.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3 · TRANSFORMERS.JS</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Transformers.js 4.3: what's new</a:t>
            </a:r>
          </a:p>
        </p:txBody>
      </p:sp>
      <p:sp>
        <p:nvSpPr>
          <p:cNvPr id="4" name="TextBox 3"/>
          <p:cNvSpPr txBox="1"/>
          <p:nvPr/>
        </p:nvSpPr>
        <p:spPr>
          <a:xfrm>
            <a:off x="548640" y="6400800"/>
            <a:ext cx="10241280" cy="274320"/>
          </a:xfrm>
          <a:prstGeom prst="rect">
            <a:avLst/>
          </a:prstGeom>
          <a:noFill/>
        </p:spPr>
        <p:txBody>
          <a:bodyPr wrap="square" lIns="0" rIns="0" tIns="18288" bIns="18288" anchor="t">
            <a:spAutoFit/>
          </a:bodyPr>
          <a:lstStyle/>
          <a:p>
            <a:pPr algn="l">
              <a:lnSpc>
                <a:spcPct val="112000"/>
              </a:lnSpc>
            </a:pPr>
            <a:r>
              <a:rPr sz="1200" b="0" i="0">
                <a:solidFill>
                  <a:srgbClr val="475569"/>
                </a:solidFill>
                <a:latin typeface="Arial"/>
              </a:rPr>
              <a:t>Source: github.com/huggingface/transformers.js releases 4.0.0 and 4.3.1, src/utils/devices.js, dtypes.js — read 16 Oct 2026</a:t>
            </a:r>
          </a:p>
        </p:txBody>
      </p:sp>
      <p:sp>
        <p:nvSpPr>
          <p:cNvPr id="5" name="TextBox 4"/>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16</a:t>
            </a:r>
          </a:p>
        </p:txBody>
      </p:sp>
      <p:sp>
        <p:nvSpPr>
          <p:cNvPr id="6" name="Rectangle 5"/>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7" name="Rectangle 6"/>
          <p:cNvSpPr/>
          <p:nvPr/>
        </p:nvSpPr>
        <p:spPr>
          <a:xfrm>
            <a:off x="9692640" y="489203"/>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L4  Prompt API</a:t>
            </a:r>
          </a:p>
        </p:txBody>
      </p:sp>
      <p:sp>
        <p:nvSpPr>
          <p:cNvPr id="8" name="Rectangle 7"/>
          <p:cNvSpPr/>
          <p:nvPr/>
        </p:nvSpPr>
        <p:spPr>
          <a:xfrm>
            <a:off x="9692640" y="704088"/>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L3  Frameworks</a:t>
            </a:r>
          </a:p>
        </p:txBody>
      </p:sp>
      <p:sp>
        <p:nvSpPr>
          <p:cNvPr id="9" name="Rectangle 8"/>
          <p:cNvSpPr/>
          <p:nvPr/>
        </p:nvSpPr>
        <p:spPr>
          <a:xfrm>
            <a:off x="9692640" y="918971"/>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L2  Compute APIs</a:t>
            </a:r>
          </a:p>
        </p:txBody>
      </p:sp>
      <p:sp>
        <p:nvSpPr>
          <p:cNvPr id="10" name="Rectangle 9"/>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1" name="Rectangle 10"/>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2" name="TextBox 11"/>
          <p:cNvSpPr txBox="1"/>
          <p:nvPr/>
        </p:nvSpPr>
        <p:spPr>
          <a:xfrm>
            <a:off x="548640" y="1645920"/>
            <a:ext cx="3566160" cy="822960"/>
          </a:xfrm>
          <a:prstGeom prst="rect">
            <a:avLst/>
          </a:prstGeom>
          <a:noFill/>
        </p:spPr>
        <p:txBody>
          <a:bodyPr wrap="square" lIns="0" rIns="0" tIns="18288" bIns="18288" anchor="t">
            <a:spAutoFit/>
          </a:bodyPr>
          <a:lstStyle/>
          <a:p>
            <a:pPr algn="l">
              <a:lnSpc>
                <a:spcPct val="112000"/>
              </a:lnSpc>
            </a:pPr>
            <a:r>
              <a:rPr sz="4800" b="1" i="0">
                <a:solidFill>
                  <a:srgbClr val="0E7490"/>
                </a:solidFill>
                <a:latin typeface="Arial"/>
              </a:rPr>
              <a:t>4.3.1</a:t>
            </a:r>
          </a:p>
        </p:txBody>
      </p:sp>
      <p:sp>
        <p:nvSpPr>
          <p:cNvPr id="13" name="TextBox 12"/>
          <p:cNvSpPr txBox="1"/>
          <p:nvPr/>
        </p:nvSpPr>
        <p:spPr>
          <a:xfrm>
            <a:off x="548640" y="2468880"/>
            <a:ext cx="3566160" cy="640080"/>
          </a:xfrm>
          <a:prstGeom prst="rect">
            <a:avLst/>
          </a:prstGeom>
          <a:noFill/>
        </p:spPr>
        <p:txBody>
          <a:bodyPr wrap="square" lIns="0" rIns="0" tIns="18288" bIns="18288" anchor="t">
            <a:spAutoFit/>
          </a:bodyPr>
          <a:lstStyle/>
          <a:p>
            <a:pPr algn="l">
              <a:lnSpc>
                <a:spcPct val="112000"/>
              </a:lnSpc>
            </a:pPr>
            <a:r>
              <a:rPr sz="1700" b="0" i="0">
                <a:solidFill>
                  <a:srgbClr val="475569"/>
                </a:solidFill>
                <a:latin typeface="Arial"/>
              </a:rPr>
              <a:t>released 6 Oct 2026</a:t>
            </a:r>
          </a:p>
        </p:txBody>
      </p:sp>
      <p:sp>
        <p:nvSpPr>
          <p:cNvPr id="14" name="TextBox 13"/>
          <p:cNvSpPr txBox="1"/>
          <p:nvPr/>
        </p:nvSpPr>
        <p:spPr>
          <a:xfrm>
            <a:off x="4297679" y="1645920"/>
            <a:ext cx="3566160" cy="822960"/>
          </a:xfrm>
          <a:prstGeom prst="rect">
            <a:avLst/>
          </a:prstGeom>
          <a:noFill/>
        </p:spPr>
        <p:txBody>
          <a:bodyPr wrap="square" lIns="0" rIns="0" tIns="18288" bIns="18288" anchor="t">
            <a:spAutoFit/>
          </a:bodyPr>
          <a:lstStyle/>
          <a:p>
            <a:pPr algn="l">
              <a:lnSpc>
                <a:spcPct val="112000"/>
              </a:lnSpc>
            </a:pPr>
            <a:r>
              <a:rPr sz="4800" b="1" i="0">
                <a:solidFill>
                  <a:srgbClr val="0E7490"/>
                </a:solidFill>
                <a:latin typeface="Arial"/>
              </a:rPr>
              <a:t>4,272</a:t>
            </a:r>
          </a:p>
        </p:txBody>
      </p:sp>
      <p:sp>
        <p:nvSpPr>
          <p:cNvPr id="15" name="TextBox 14"/>
          <p:cNvSpPr txBox="1"/>
          <p:nvPr/>
        </p:nvSpPr>
        <p:spPr>
          <a:xfrm>
            <a:off x="4297679" y="2468880"/>
            <a:ext cx="3566160" cy="640080"/>
          </a:xfrm>
          <a:prstGeom prst="rect">
            <a:avLst/>
          </a:prstGeom>
          <a:noFill/>
        </p:spPr>
        <p:txBody>
          <a:bodyPr wrap="square" lIns="0" rIns="0" tIns="18288" bIns="18288" anchor="t">
            <a:spAutoFit/>
          </a:bodyPr>
          <a:lstStyle/>
          <a:p>
            <a:pPr algn="l">
              <a:lnSpc>
                <a:spcPct val="112000"/>
              </a:lnSpc>
            </a:pPr>
            <a:r>
              <a:rPr sz="1700" b="0" i="0">
                <a:solidFill>
                  <a:srgbClr val="475569"/>
                </a:solidFill>
                <a:latin typeface="Arial"/>
              </a:rPr>
              <a:t>models on the Hub (was 2.7K+)</a:t>
            </a:r>
          </a:p>
        </p:txBody>
      </p:sp>
      <p:sp>
        <p:nvSpPr>
          <p:cNvPr id="16" name="TextBox 15"/>
          <p:cNvSpPr txBox="1"/>
          <p:nvPr/>
        </p:nvSpPr>
        <p:spPr>
          <a:xfrm>
            <a:off x="8046719" y="1645920"/>
            <a:ext cx="3566160" cy="822960"/>
          </a:xfrm>
          <a:prstGeom prst="rect">
            <a:avLst/>
          </a:prstGeom>
          <a:noFill/>
        </p:spPr>
        <p:txBody>
          <a:bodyPr wrap="square" lIns="0" rIns="0" tIns="18288" bIns="18288" anchor="t">
            <a:spAutoFit/>
          </a:bodyPr>
          <a:lstStyle/>
          <a:p>
            <a:pPr algn="l">
              <a:lnSpc>
                <a:spcPct val="112000"/>
              </a:lnSpc>
            </a:pPr>
            <a:r>
              <a:rPr sz="4800" b="1" i="0">
                <a:solidFill>
                  <a:srgbClr val="0E7490"/>
                </a:solidFill>
                <a:latin typeface="Arial"/>
              </a:rPr>
              <a:t>~200</a:t>
            </a:r>
          </a:p>
        </p:txBody>
      </p:sp>
      <p:sp>
        <p:nvSpPr>
          <p:cNvPr id="17" name="TextBox 16"/>
          <p:cNvSpPr txBox="1"/>
          <p:nvPr/>
        </p:nvSpPr>
        <p:spPr>
          <a:xfrm>
            <a:off x="8046719" y="2468880"/>
            <a:ext cx="3566160" cy="640080"/>
          </a:xfrm>
          <a:prstGeom prst="rect">
            <a:avLst/>
          </a:prstGeom>
          <a:noFill/>
        </p:spPr>
        <p:txBody>
          <a:bodyPr wrap="square" lIns="0" rIns="0" tIns="18288" bIns="18288" anchor="t">
            <a:spAutoFit/>
          </a:bodyPr>
          <a:lstStyle/>
          <a:p>
            <a:pPr algn="l">
              <a:lnSpc>
                <a:spcPct val="112000"/>
              </a:lnSpc>
            </a:pPr>
            <a:r>
              <a:rPr sz="1700" b="0" i="0">
                <a:solidFill>
                  <a:srgbClr val="475569"/>
                </a:solidFill>
                <a:latin typeface="Arial"/>
              </a:rPr>
              <a:t>architectures tested on the new WebGPU runtime</a:t>
            </a:r>
          </a:p>
        </p:txBody>
      </p:sp>
      <p:sp>
        <p:nvSpPr>
          <p:cNvPr id="18" name="TextBox 17"/>
          <p:cNvSpPr txBox="1"/>
          <p:nvPr/>
        </p:nvSpPr>
        <p:spPr>
          <a:xfrm>
            <a:off x="548640" y="3291840"/>
            <a:ext cx="5486400" cy="2926080"/>
          </a:xfrm>
          <a:prstGeom prst="rect">
            <a:avLst/>
          </a:prstGeom>
          <a:noFill/>
        </p:spPr>
        <p:txBody>
          <a:bodyPr wrap="square" lIns="0" rIns="0" tIns="18288" bIns="18288" anchor="t">
            <a:spAutoFit/>
          </a:bodyPr>
          <a:lstStyle/>
          <a:p>
            <a:pPr algn="l">
              <a:lnSpc>
                <a:spcPct val="112000"/>
              </a:lnSpc>
            </a:pPr>
            <a:r>
              <a:rPr sz="1800" b="1" i="0">
                <a:solidFill>
                  <a:srgbClr val="0891B2"/>
                </a:solidFill>
                <a:latin typeface="Arial"/>
              </a:rPr>
              <a:t>▸  </a:t>
            </a:r>
            <a:r>
              <a:rPr sz="1800" b="0" i="0">
                <a:solidFill>
                  <a:srgbClr val="0F172A"/>
                </a:solidFill>
                <a:latin typeface="Arial"/>
              </a:rPr>
              <a:t>v4: WebGPU runtime in ONNX Runtime rewritten in C++</a:t>
            </a:r>
          </a:p>
          <a:p>
            <a:pPr algn="l">
              <a:lnSpc>
                <a:spcPct val="112000"/>
              </a:lnSpc>
              <a:spcBef>
                <a:spcPts val="800"/>
              </a:spcBef>
            </a:pPr>
            <a:r>
              <a:rPr sz="1800" b="1" i="0">
                <a:solidFill>
                  <a:srgbClr val="0891B2"/>
                </a:solidFill>
                <a:latin typeface="Arial"/>
              </a:rPr>
              <a:t>▸  </a:t>
            </a:r>
            <a:r>
              <a:rPr sz="1800" b="0" i="0">
                <a:solidFill>
                  <a:srgbClr val="0F172A"/>
                </a:solidFill>
                <a:latin typeface="Arial"/>
              </a:rPr>
              <a:t>ModelRegistry, standalone Tokenizers.js, monorepo</a:t>
            </a:r>
          </a:p>
          <a:p>
            <a:pPr algn="l">
              <a:lnSpc>
                <a:spcPct val="112000"/>
              </a:lnSpc>
              <a:spcBef>
                <a:spcPts val="800"/>
              </a:spcBef>
            </a:pPr>
            <a:r>
              <a:rPr sz="1800" b="1" i="0">
                <a:solidFill>
                  <a:srgbClr val="0891B2"/>
                </a:solidFill>
                <a:latin typeface="Arial"/>
              </a:rPr>
              <a:t>▸  </a:t>
            </a:r>
            <a:r>
              <a:rPr sz="1800" b="0" i="0">
                <a:solidFill>
                  <a:srgbClr val="0F172A"/>
                </a:solidFill>
                <a:latin typeface="Arial"/>
              </a:rPr>
              <a:t>Models cached in Cache Storage by default</a:t>
            </a:r>
          </a:p>
          <a:p>
            <a:pPr algn="l">
              <a:lnSpc>
                <a:spcPct val="112000"/>
              </a:lnSpc>
              <a:spcBef>
                <a:spcPts val="800"/>
              </a:spcBef>
            </a:pPr>
            <a:r>
              <a:rPr sz="1800" b="1" i="0">
                <a:solidFill>
                  <a:srgbClr val="0891B2"/>
                </a:solidFill>
                <a:latin typeface="Arial"/>
              </a:rPr>
              <a:t>▸  </a:t>
            </a:r>
            <a:r>
              <a:rPr sz="1800" b="0" i="0">
                <a:solidFill>
                  <a:srgbClr val="0F172A"/>
                </a:solidFill>
                <a:latin typeface="Arial"/>
              </a:rPr>
              <a:t>dtype per model file, e.g. encoder fp16 + decoder q4</a:t>
            </a:r>
          </a:p>
        </p:txBody>
      </p:sp>
      <p:sp>
        <p:nvSpPr>
          <p:cNvPr id="19" name="Rounded Rectangle 18"/>
          <p:cNvSpPr/>
          <p:nvPr/>
        </p:nvSpPr>
        <p:spPr>
          <a:xfrm>
            <a:off x="6263640" y="3246120"/>
            <a:ext cx="5376672" cy="29260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000" b="1" i="0">
                <a:solidFill>
                  <a:srgbClr val="0E7490"/>
                </a:solidFill>
                <a:latin typeface="Arial"/>
              </a:rPr>
              <a:t>device and dtype</a:t>
            </a:r>
          </a:p>
          <a:p>
            <a:pPr algn="l">
              <a:lnSpc>
                <a:spcPct val="112000"/>
              </a:lnSpc>
              <a:spcBef>
                <a:spcPts val="600"/>
              </a:spcBef>
            </a:pPr>
            <a:r>
              <a:rPr sz="1600" b="1" i="0">
                <a:solidFill>
                  <a:srgbClr val="0F172A"/>
                </a:solidFill>
                <a:latin typeface="Arial"/>
              </a:rPr>
              <a:t>device: </a:t>
            </a:r>
            <a:r>
              <a:rPr sz="1600" b="0" i="0">
                <a:solidFill>
                  <a:srgbClr val="0F172A"/>
                </a:solidFill>
                <a:latin typeface="Consolas"/>
              </a:rPr>
              <a:t>wasm · webgpu · webnn · webnn-npu · webnn-gpu · webnn-cpu · auto</a:t>
            </a:r>
          </a:p>
          <a:p>
            <a:pPr algn="l">
              <a:lnSpc>
                <a:spcPct val="112000"/>
              </a:lnSpc>
              <a:spcBef>
                <a:spcPts val="600"/>
              </a:spcBef>
            </a:pPr>
            <a:r>
              <a:rPr sz="1600" b="1" i="0">
                <a:solidFill>
                  <a:srgbClr val="0F172A"/>
                </a:solidFill>
                <a:latin typeface="Arial"/>
              </a:rPr>
              <a:t>dtype: </a:t>
            </a:r>
            <a:r>
              <a:rPr sz="1600" b="0" i="0">
                <a:solidFill>
                  <a:srgbClr val="0F172A"/>
                </a:solidFill>
                <a:latin typeface="Consolas"/>
              </a:rPr>
              <a:t>fp32 · fp16 · q8 · int8 · uint8 · q4 · bnb4 · q4f16</a:t>
            </a:r>
          </a:p>
          <a:p>
            <a:pPr algn="l">
              <a:lnSpc>
                <a:spcPct val="112000"/>
              </a:lnSpc>
              <a:spcBef>
                <a:spcPts val="600"/>
              </a:spcBef>
            </a:pPr>
            <a:r>
              <a:rPr sz="1600" b="1" i="0">
                <a:solidFill>
                  <a:srgbClr val="B91C1C"/>
                </a:solidFill>
                <a:latin typeface="Arial"/>
              </a:rPr>
              <a:t>Default: q8 on wasm, fp32 elsewhere. Gotcha: plain 'webnn' means deviceType cpu.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3 · CODE</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One option switches the backend</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17</a:t>
            </a:r>
          </a:p>
        </p:txBody>
      </p:sp>
      <p:sp>
        <p:nvSpPr>
          <p:cNvPr id="5" name="Rectangle 4"/>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6" name="Rectangle 5"/>
          <p:cNvSpPr/>
          <p:nvPr/>
        </p:nvSpPr>
        <p:spPr>
          <a:xfrm>
            <a:off x="9692640" y="489203"/>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L4  Prompt API</a:t>
            </a:r>
          </a:p>
        </p:txBody>
      </p:sp>
      <p:sp>
        <p:nvSpPr>
          <p:cNvPr id="7" name="Rectangle 6"/>
          <p:cNvSpPr/>
          <p:nvPr/>
        </p:nvSpPr>
        <p:spPr>
          <a:xfrm>
            <a:off x="9692640" y="704088"/>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L3  Frameworks</a:t>
            </a:r>
          </a:p>
        </p:txBody>
      </p:sp>
      <p:sp>
        <p:nvSpPr>
          <p:cNvPr id="8" name="Rectangle 7"/>
          <p:cNvSpPr/>
          <p:nvPr/>
        </p:nvSpPr>
        <p:spPr>
          <a:xfrm>
            <a:off x="9692640" y="918971"/>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L2  Compute APIs</a:t>
            </a:r>
          </a:p>
        </p:txBody>
      </p:sp>
      <p:sp>
        <p:nvSpPr>
          <p:cNvPr id="9" name="Rectangle 8"/>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0" name="Rectangle 9"/>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1" name="Rounded Rectangle 10"/>
          <p:cNvSpPr/>
          <p:nvPr/>
        </p:nvSpPr>
        <p:spPr>
          <a:xfrm>
            <a:off x="548640" y="1691640"/>
            <a:ext cx="6355080" cy="434340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300" b="1" i="0">
                <a:solidFill>
                  <a:srgbClr val="22D3EE"/>
                </a:solidFill>
                <a:latin typeface="Arial"/>
              </a:rPr>
              <a:t>Transformers.js — condensed from the demo's inference-worker.js</a:t>
            </a:r>
          </a:p>
          <a:p>
            <a:pPr algn="l">
              <a:lnSpc>
                <a:spcPct val="110000"/>
              </a:lnSpc>
            </a:pPr>
            <a:r>
              <a:rPr sz="1400" b="0" i="0">
                <a:solidFill>
                  <a:srgbClr val="67E8F9"/>
                </a:solidFill>
                <a:latin typeface="Consolas"/>
              </a:rPr>
              <a:t>import</a:t>
            </a:r>
            <a:r>
              <a:rPr sz="1400" b="0" i="0">
                <a:solidFill>
                  <a:srgbClr val="E2E8F0"/>
                </a:solidFill>
                <a:latin typeface="Consolas"/>
              </a:rPr>
              <a:t> { pipeline, env }</a:t>
            </a:r>
          </a:p>
          <a:p>
            <a:pPr algn="l">
              <a:lnSpc>
                <a:spcPct val="110000"/>
              </a:lnSpc>
            </a:pPr>
            <a:r>
              <a:rPr sz="1400" b="0" i="0">
                <a:solidFill>
                  <a:srgbClr val="E2E8F0"/>
                </a:solidFill>
                <a:latin typeface="Consolas"/>
              </a:rPr>
              <a:t>  </a:t>
            </a:r>
            <a:r>
              <a:rPr sz="1400" b="0" i="0">
                <a:solidFill>
                  <a:srgbClr val="67E8F9"/>
                </a:solidFill>
                <a:latin typeface="Consolas"/>
              </a:rPr>
              <a:t>from</a:t>
            </a:r>
            <a:r>
              <a:rPr sz="1400" b="0" i="0">
                <a:solidFill>
                  <a:srgbClr val="E2E8F0"/>
                </a:solidFill>
                <a:latin typeface="Consolas"/>
              </a:rPr>
              <a:t> </a:t>
            </a:r>
            <a:r>
              <a:rPr sz="1400" b="0" i="0">
                <a:solidFill>
                  <a:srgbClr val="FCD34D"/>
                </a:solidFill>
                <a:latin typeface="Consolas"/>
              </a:rPr>
              <a:t>'@huggingface/transformers'</a:t>
            </a:r>
            <a:r>
              <a:rPr sz="1400" b="0" i="0">
                <a:solidFill>
                  <a:srgbClr val="E2E8F0"/>
                </a:solidFill>
                <a:latin typeface="Consolas"/>
              </a:rPr>
              <a:t>;  </a:t>
            </a:r>
            <a:r>
              <a:rPr sz="1400" b="0" i="0">
                <a:solidFill>
                  <a:srgbClr val="94A3B8"/>
                </a:solidFill>
                <a:latin typeface="Consolas"/>
              </a:rPr>
              <a:t>// v4.3.1</a:t>
            </a:r>
          </a:p>
          <a:p>
            <a:pPr algn="l">
              <a:lnSpc>
                <a:spcPct val="110000"/>
              </a:lnSpc>
            </a:pPr>
            <a:r>
              <a:rPr sz="1400" b="0" i="0">
                <a:solidFill>
                  <a:srgbClr val="E2E8F0"/>
                </a:solidFill>
                <a:latin typeface="Consolas"/>
              </a:rPr>
              <a:t>env.useBrowserCache = </a:t>
            </a:r>
            <a:r>
              <a:rPr sz="1400" b="0" i="0">
                <a:solidFill>
                  <a:srgbClr val="67E8F9"/>
                </a:solidFill>
                <a:latin typeface="Consolas"/>
              </a:rPr>
              <a:t>true</a:t>
            </a:r>
            <a:r>
              <a:rPr sz="1400" b="0" i="0">
                <a:solidFill>
                  <a:srgbClr val="E2E8F0"/>
                </a:solidFill>
                <a:latin typeface="Consolas"/>
              </a:rPr>
              <a:t>;  </a:t>
            </a:r>
            <a:r>
              <a:rPr sz="1400" b="0" i="0">
                <a:solidFill>
                  <a:srgbClr val="94A3B8"/>
                </a:solidFill>
                <a:latin typeface="Consolas"/>
              </a:rPr>
              <a:t>// Cache Storage</a:t>
            </a:r>
          </a:p>
          <a:p>
            <a:pPr algn="l">
              <a:lnSpc>
                <a:spcPct val="110000"/>
              </a:lnSpc>
            </a:pPr>
            <a:r>
              <a:rPr sz="1400" b="0" i="0">
                <a:solidFill>
                  <a:srgbClr val="E2E8F0"/>
                </a:solidFill>
                <a:latin typeface="Consolas"/>
              </a:rPr>
              <a:t> </a:t>
            </a:r>
          </a:p>
          <a:p>
            <a:pPr algn="l">
              <a:lnSpc>
                <a:spcPct val="110000"/>
              </a:lnSpc>
            </a:pPr>
            <a:r>
              <a:rPr sz="1400" b="0" i="0">
                <a:solidFill>
                  <a:srgbClr val="67E8F9"/>
                </a:solidFill>
                <a:latin typeface="Consolas"/>
              </a:rPr>
              <a:t>const</a:t>
            </a:r>
            <a:r>
              <a:rPr sz="1400" b="0" i="0">
                <a:solidFill>
                  <a:srgbClr val="E2E8F0"/>
                </a:solidFill>
                <a:latin typeface="Consolas"/>
              </a:rPr>
              <a:t> classify = </a:t>
            </a:r>
            <a:r>
              <a:rPr sz="1400" b="0" i="0">
                <a:solidFill>
                  <a:srgbClr val="67E8F9"/>
                </a:solidFill>
                <a:latin typeface="Consolas"/>
              </a:rPr>
              <a:t>await</a:t>
            </a:r>
            <a:r>
              <a:rPr sz="1400" b="0" i="0">
                <a:solidFill>
                  <a:srgbClr val="E2E8F0"/>
                </a:solidFill>
                <a:latin typeface="Consolas"/>
              </a:rPr>
              <a:t> pipeline(</a:t>
            </a:r>
          </a:p>
          <a:p>
            <a:pPr algn="l">
              <a:lnSpc>
                <a:spcPct val="110000"/>
              </a:lnSpc>
            </a:pPr>
            <a:r>
              <a:rPr sz="1400" b="0" i="0">
                <a:solidFill>
                  <a:srgbClr val="E2E8F0"/>
                </a:solidFill>
                <a:latin typeface="Consolas"/>
              </a:rPr>
              <a:t>  </a:t>
            </a:r>
            <a:r>
              <a:rPr sz="1400" b="0" i="0">
                <a:solidFill>
                  <a:srgbClr val="FCD34D"/>
                </a:solidFill>
                <a:latin typeface="Consolas"/>
              </a:rPr>
              <a:t>'image-classification'</a:t>
            </a:r>
            <a:r>
              <a:rPr sz="1400" b="0" i="0">
                <a:solidFill>
                  <a:srgbClr val="E2E8F0"/>
                </a:solidFill>
                <a:latin typeface="Consolas"/>
              </a:rPr>
              <a:t>, </a:t>
            </a:r>
            <a:r>
              <a:rPr sz="1400" b="0" i="0">
                <a:solidFill>
                  <a:srgbClr val="FCD34D"/>
                </a:solidFill>
                <a:latin typeface="Consolas"/>
              </a:rPr>
              <a:t>'webnn/mobilenet-v2'</a:t>
            </a:r>
            <a:r>
              <a:rPr sz="1400" b="0" i="0">
                <a:solidFill>
                  <a:srgbClr val="E2E8F0"/>
                </a:solidFill>
                <a:latin typeface="Consolas"/>
              </a:rPr>
              <a:t>, {</a:t>
            </a:r>
          </a:p>
          <a:p>
            <a:pPr algn="l">
              <a:lnSpc>
                <a:spcPct val="110000"/>
              </a:lnSpc>
            </a:pPr>
            <a:r>
              <a:rPr sz="1400" b="0" i="0">
                <a:solidFill>
                  <a:srgbClr val="E2E8F0"/>
                </a:solidFill>
                <a:latin typeface="Consolas"/>
              </a:rPr>
              <a:t>    device: </a:t>
            </a:r>
            <a:r>
              <a:rPr sz="1400" b="0" i="0">
                <a:solidFill>
                  <a:srgbClr val="FCD34D"/>
                </a:solidFill>
                <a:latin typeface="Consolas"/>
              </a:rPr>
              <a:t>'webnn-npu'</a:t>
            </a:r>
            <a:r>
              <a:rPr sz="1400" b="0" i="0">
                <a:solidFill>
                  <a:srgbClr val="E2E8F0"/>
                </a:solidFill>
                <a:latin typeface="Consolas"/>
              </a:rPr>
              <a:t>,   </a:t>
            </a:r>
            <a:r>
              <a:rPr sz="1400" b="0" i="0">
                <a:solidFill>
                  <a:srgbClr val="94A3B8"/>
                </a:solidFill>
                <a:latin typeface="Consolas"/>
              </a:rPr>
              <a:t>// or 'webgpu', 'wasm'</a:t>
            </a:r>
          </a:p>
          <a:p>
            <a:pPr algn="l">
              <a:lnSpc>
                <a:spcPct val="110000"/>
              </a:lnSpc>
            </a:pPr>
            <a:r>
              <a:rPr sz="1400" b="0" i="0">
                <a:solidFill>
                  <a:srgbClr val="E2E8F0"/>
                </a:solidFill>
                <a:latin typeface="Consolas"/>
              </a:rPr>
              <a:t>    dtype: </a:t>
            </a:r>
            <a:r>
              <a:rPr sz="1400" b="0" i="0">
                <a:solidFill>
                  <a:srgbClr val="FCD34D"/>
                </a:solidFill>
                <a:latin typeface="Consolas"/>
              </a:rPr>
              <a:t>'fp16'</a:t>
            </a:r>
            <a:r>
              <a:rPr sz="1400" b="0" i="0">
                <a:solidFill>
                  <a:srgbClr val="E2E8F0"/>
                </a:solidFill>
                <a:latin typeface="Consolas"/>
              </a:rPr>
              <a:t>,</a:t>
            </a:r>
          </a:p>
          <a:p>
            <a:pPr algn="l">
              <a:lnSpc>
                <a:spcPct val="110000"/>
              </a:lnSpc>
            </a:pPr>
            <a:r>
              <a:rPr sz="1400" b="0" i="0">
                <a:solidFill>
                  <a:srgbClr val="E2E8F0"/>
                </a:solidFill>
                <a:latin typeface="Consolas"/>
              </a:rPr>
              <a:t>    progress_callback: (p) =&gt; updateBar(p),</a:t>
            </a:r>
          </a:p>
          <a:p>
            <a:pPr algn="l">
              <a:lnSpc>
                <a:spcPct val="110000"/>
              </a:lnSpc>
            </a:pPr>
            <a:r>
              <a:rPr sz="1400" b="0" i="0">
                <a:solidFill>
                  <a:srgbClr val="E2E8F0"/>
                </a:solidFill>
                <a:latin typeface="Consolas"/>
              </a:rPr>
              <a:t>  });</a:t>
            </a:r>
          </a:p>
          <a:p>
            <a:pPr algn="l">
              <a:lnSpc>
                <a:spcPct val="110000"/>
              </a:lnSpc>
            </a:pPr>
            <a:r>
              <a:rPr sz="1400" b="0" i="0">
                <a:solidFill>
                  <a:srgbClr val="67E8F9"/>
                </a:solidFill>
                <a:latin typeface="Consolas"/>
              </a:rPr>
              <a:t>const</a:t>
            </a:r>
            <a:r>
              <a:rPr sz="1400" b="0" i="0">
                <a:solidFill>
                  <a:srgbClr val="E2E8F0"/>
                </a:solidFill>
                <a:latin typeface="Consolas"/>
              </a:rPr>
              <a:t> out = </a:t>
            </a:r>
            <a:r>
              <a:rPr sz="1400" b="0" i="0">
                <a:solidFill>
                  <a:srgbClr val="67E8F9"/>
                </a:solidFill>
                <a:latin typeface="Consolas"/>
              </a:rPr>
              <a:t>await</a:t>
            </a:r>
            <a:r>
              <a:rPr sz="1400" b="0" i="0">
                <a:solidFill>
                  <a:srgbClr val="E2E8F0"/>
                </a:solidFill>
                <a:latin typeface="Consolas"/>
              </a:rPr>
              <a:t> classify(image, { top_k: 5 });</a:t>
            </a:r>
          </a:p>
        </p:txBody>
      </p:sp>
      <p:sp>
        <p:nvSpPr>
          <p:cNvPr id="12" name="Rounded Rectangle 11"/>
          <p:cNvSpPr/>
          <p:nvPr/>
        </p:nvSpPr>
        <p:spPr>
          <a:xfrm>
            <a:off x="7086600" y="1691640"/>
            <a:ext cx="4553712" cy="434340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300" b="1" i="0">
                <a:solidFill>
                  <a:srgbClr val="22D3EE"/>
                </a:solidFill>
                <a:latin typeface="Arial"/>
              </a:rPr>
              <a:t>ORT Web WebNN execution provider</a:t>
            </a:r>
          </a:p>
          <a:p>
            <a:pPr algn="l">
              <a:lnSpc>
                <a:spcPct val="110000"/>
              </a:lnSpc>
            </a:pPr>
            <a:r>
              <a:rPr sz="1400" b="0" i="0">
                <a:solidFill>
                  <a:srgbClr val="94A3B8"/>
                </a:solidFill>
                <a:latin typeface="Consolas"/>
              </a:rPr>
              <a:t>// One layer down: ONNX Runtime Web</a:t>
            </a:r>
          </a:p>
          <a:p>
            <a:pPr algn="l">
              <a:lnSpc>
                <a:spcPct val="110000"/>
              </a:lnSpc>
            </a:pPr>
            <a:r>
              <a:rPr sz="1400" b="0" i="0">
                <a:solidFill>
                  <a:srgbClr val="67E8F9"/>
                </a:solidFill>
                <a:latin typeface="Consolas"/>
              </a:rPr>
              <a:t>const</a:t>
            </a:r>
            <a:r>
              <a:rPr sz="1400" b="0" i="0">
                <a:solidFill>
                  <a:srgbClr val="E2E8F0"/>
                </a:solidFill>
                <a:latin typeface="Consolas"/>
              </a:rPr>
              <a:t> session = </a:t>
            </a:r>
            <a:r>
              <a:rPr sz="1400" b="0" i="0">
                <a:solidFill>
                  <a:srgbClr val="67E8F9"/>
                </a:solidFill>
                <a:latin typeface="Consolas"/>
              </a:rPr>
              <a:t>await</a:t>
            </a:r>
          </a:p>
          <a:p>
            <a:pPr algn="l">
              <a:lnSpc>
                <a:spcPct val="110000"/>
              </a:lnSpc>
            </a:pPr>
            <a:r>
              <a:rPr sz="1400" b="0" i="0">
                <a:solidFill>
                  <a:srgbClr val="E2E8F0"/>
                </a:solidFill>
                <a:latin typeface="Consolas"/>
              </a:rPr>
              <a:t>  ort.InferenceSession.create(</a:t>
            </a:r>
          </a:p>
          <a:p>
            <a:pPr algn="l">
              <a:lnSpc>
                <a:spcPct val="110000"/>
              </a:lnSpc>
            </a:pPr>
            <a:r>
              <a:rPr sz="1400" b="0" i="0">
                <a:solidFill>
                  <a:srgbClr val="E2E8F0"/>
                </a:solidFill>
                <a:latin typeface="Consolas"/>
              </a:rPr>
              <a:t>  </a:t>
            </a:r>
            <a:r>
              <a:rPr sz="1400" b="0" i="0">
                <a:solidFill>
                  <a:srgbClr val="FCD34D"/>
                </a:solidFill>
                <a:latin typeface="Consolas"/>
              </a:rPr>
              <a:t>'model.onnx'</a:t>
            </a:r>
            <a:r>
              <a:rPr sz="1400" b="0" i="0">
                <a:solidFill>
                  <a:srgbClr val="E2E8F0"/>
                </a:solidFill>
                <a:latin typeface="Consolas"/>
              </a:rPr>
              <a:t>, {</a:t>
            </a:r>
          </a:p>
          <a:p>
            <a:pPr algn="l">
              <a:lnSpc>
                <a:spcPct val="110000"/>
              </a:lnSpc>
            </a:pPr>
            <a:r>
              <a:rPr sz="1400" b="0" i="0">
                <a:solidFill>
                  <a:srgbClr val="E2E8F0"/>
                </a:solidFill>
                <a:latin typeface="Consolas"/>
              </a:rPr>
              <a:t>    executionProviders: [{</a:t>
            </a:r>
          </a:p>
          <a:p>
            <a:pPr algn="l">
              <a:lnSpc>
                <a:spcPct val="110000"/>
              </a:lnSpc>
            </a:pPr>
            <a:r>
              <a:rPr sz="1400" b="0" i="0">
                <a:solidFill>
                  <a:srgbClr val="E2E8F0"/>
                </a:solidFill>
                <a:latin typeface="Consolas"/>
              </a:rPr>
              <a:t>      name: </a:t>
            </a:r>
            <a:r>
              <a:rPr sz="1400" b="0" i="0">
                <a:solidFill>
                  <a:srgbClr val="FCD34D"/>
                </a:solidFill>
                <a:latin typeface="Consolas"/>
              </a:rPr>
              <a:t>'webnn'</a:t>
            </a:r>
            <a:r>
              <a:rPr sz="1400" b="0" i="0">
                <a:solidFill>
                  <a:srgbClr val="E2E8F0"/>
                </a:solidFill>
                <a:latin typeface="Consolas"/>
              </a:rPr>
              <a:t>,</a:t>
            </a:r>
          </a:p>
          <a:p>
            <a:pPr algn="l">
              <a:lnSpc>
                <a:spcPct val="110000"/>
              </a:lnSpc>
            </a:pPr>
            <a:r>
              <a:rPr sz="1400" b="0" i="0">
                <a:solidFill>
                  <a:srgbClr val="E2E8F0"/>
                </a:solidFill>
                <a:latin typeface="Consolas"/>
              </a:rPr>
              <a:t>      deviceType: </a:t>
            </a:r>
            <a:r>
              <a:rPr sz="1400" b="0" i="0">
                <a:solidFill>
                  <a:srgbClr val="FCD34D"/>
                </a:solidFill>
                <a:latin typeface="Consolas"/>
              </a:rPr>
              <a:t>'npu'</a:t>
            </a:r>
            <a:r>
              <a:rPr sz="1400" b="0" i="0">
                <a:solidFill>
                  <a:srgbClr val="E2E8F0"/>
                </a:solidFill>
                <a:latin typeface="Consolas"/>
              </a:rPr>
              <a:t>, </a:t>
            </a:r>
            <a:r>
              <a:rPr sz="1400" b="0" i="0">
                <a:solidFill>
                  <a:srgbClr val="94A3B8"/>
                </a:solidFill>
                <a:latin typeface="Consolas"/>
              </a:rPr>
              <a:t>// cpu|gpu</a:t>
            </a:r>
          </a:p>
          <a:p>
            <a:pPr algn="l">
              <a:lnSpc>
                <a:spcPct val="110000"/>
              </a:lnSpc>
            </a:pPr>
            <a:r>
              <a:rPr sz="1400" b="0" i="0">
                <a:solidFill>
                  <a:srgbClr val="E2E8F0"/>
                </a:solidFill>
                <a:latin typeface="Consolas"/>
              </a:rPr>
              <a:t>      powerPreference: </a:t>
            </a:r>
            <a:r>
              <a:rPr sz="1400" b="0" i="0">
                <a:solidFill>
                  <a:srgbClr val="FCD34D"/>
                </a:solidFill>
                <a:latin typeface="Consolas"/>
              </a:rPr>
              <a:t>'default'</a:t>
            </a:r>
            <a:r>
              <a:rPr sz="1400" b="0" i="0">
                <a:solidFill>
                  <a:srgbClr val="E2E8F0"/>
                </a:solidFill>
                <a:latin typeface="Consolas"/>
              </a:rPr>
              <a:t>,</a:t>
            </a:r>
          </a:p>
          <a:p>
            <a:pPr algn="l">
              <a:lnSpc>
                <a:spcPct val="110000"/>
              </a:lnSpc>
            </a:pPr>
            <a:r>
              <a:rPr sz="1400" b="0" i="0">
                <a:solidFill>
                  <a:srgbClr val="E2E8F0"/>
                </a:solidFill>
                <a:latin typeface="Consolas"/>
              </a:rPr>
              <a:t>    }],</a:t>
            </a:r>
          </a:p>
          <a:p>
            <a:pPr algn="l">
              <a:lnSpc>
                <a:spcPct val="110000"/>
              </a:lnSpc>
            </a:pPr>
            <a:r>
              <a:rPr sz="1400" b="0" i="0">
                <a:solidFill>
                  <a:srgbClr val="E2E8F0"/>
                </a:solidFill>
                <a:latin typeface="Consolas"/>
              </a:rPr>
              <a:t>  });</a:t>
            </a:r>
          </a:p>
        </p:txBody>
      </p:sp>
      <p:sp>
        <p:nvSpPr>
          <p:cNvPr id="13" name="TextBox 12"/>
          <p:cNvSpPr txBox="1"/>
          <p:nvPr/>
        </p:nvSpPr>
        <p:spPr>
          <a:xfrm>
            <a:off x="548640" y="6126480"/>
            <a:ext cx="10972800" cy="320040"/>
          </a:xfrm>
          <a:prstGeom prst="rect">
            <a:avLst/>
          </a:prstGeom>
          <a:noFill/>
        </p:spPr>
        <p:txBody>
          <a:bodyPr wrap="square" lIns="0" rIns="0" tIns="18288" bIns="18288" anchor="t">
            <a:spAutoFit/>
          </a:bodyPr>
          <a:lstStyle/>
          <a:p>
            <a:pPr algn="l">
              <a:lnSpc>
                <a:spcPct val="112000"/>
              </a:lnSpc>
            </a:pPr>
            <a:r>
              <a:rPr sz="1600" b="0" i="0">
                <a:solidFill>
                  <a:srgbClr val="475569"/>
                </a:solidFill>
                <a:latin typeface="Arial"/>
              </a:rPr>
              <a:t>Transformers.js turns 'webnn-npu' into exactly this executionProviders entry.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2 · WEBGPU</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L2 · WebGPU: in all four engines</a:t>
            </a:r>
          </a:p>
        </p:txBody>
      </p:sp>
      <p:sp>
        <p:nvSpPr>
          <p:cNvPr id="4" name="TextBox 3"/>
          <p:cNvSpPr txBox="1"/>
          <p:nvPr/>
        </p:nvSpPr>
        <p:spPr>
          <a:xfrm>
            <a:off x="548640" y="6400800"/>
            <a:ext cx="10241280" cy="274320"/>
          </a:xfrm>
          <a:prstGeom prst="rect">
            <a:avLst/>
          </a:prstGeom>
          <a:noFill/>
        </p:spPr>
        <p:txBody>
          <a:bodyPr wrap="square" lIns="0" rIns="0" tIns="18288" bIns="18288" anchor="t">
            <a:spAutoFit/>
          </a:bodyPr>
          <a:lstStyle/>
          <a:p>
            <a:pPr algn="l">
              <a:lnSpc>
                <a:spcPct val="112000"/>
              </a:lnSpc>
            </a:pPr>
            <a:r>
              <a:rPr sz="1200" b="0" i="0">
                <a:solidFill>
                  <a:srgbClr val="475569"/>
                </a:solidFill>
                <a:latin typeface="Arial"/>
              </a:rPr>
              <a:t>Source: chromestatus.com, web.dev/blog/webgpu-supported-major-browsers, webkit.org, MDN browser-compat-data — as of 16 Oct 2026</a:t>
            </a:r>
          </a:p>
        </p:txBody>
      </p:sp>
      <p:sp>
        <p:nvSpPr>
          <p:cNvPr id="5" name="TextBox 4"/>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18</a:t>
            </a:r>
          </a:p>
        </p:txBody>
      </p:sp>
      <p:sp>
        <p:nvSpPr>
          <p:cNvPr id="6" name="Rectangle 5"/>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7" name="Rectangle 6"/>
          <p:cNvSpPr/>
          <p:nvPr/>
        </p:nvSpPr>
        <p:spPr>
          <a:xfrm>
            <a:off x="9692640" y="489203"/>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L4  Prompt API</a:t>
            </a:r>
          </a:p>
        </p:txBody>
      </p:sp>
      <p:sp>
        <p:nvSpPr>
          <p:cNvPr id="8" name="Rectangle 7"/>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9" name="Rectangle 8"/>
          <p:cNvSpPr/>
          <p:nvPr/>
        </p:nvSpPr>
        <p:spPr>
          <a:xfrm>
            <a:off x="9692640" y="918971"/>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L2  Compute APIs</a:t>
            </a:r>
          </a:p>
        </p:txBody>
      </p:sp>
      <p:sp>
        <p:nvSpPr>
          <p:cNvPr id="10" name="Rectangle 9"/>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1" name="Rectangle 10"/>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2" name="Rectangle 11"/>
          <p:cNvSpPr/>
          <p:nvPr/>
        </p:nvSpPr>
        <p:spPr>
          <a:xfrm>
            <a:off x="457200" y="1645919"/>
            <a:ext cx="11274552" cy="62179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737360"/>
            <a:ext cx="2560320" cy="438912"/>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Chrome / Edge</a:t>
            </a:r>
          </a:p>
        </p:txBody>
      </p:sp>
      <p:sp>
        <p:nvSpPr>
          <p:cNvPr id="14" name="Rounded Rectangle 13"/>
          <p:cNvSpPr/>
          <p:nvPr/>
        </p:nvSpPr>
        <p:spPr>
          <a:xfrm>
            <a:off x="3108960" y="1783080"/>
            <a:ext cx="210312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Stable · 113</a:t>
            </a:r>
          </a:p>
        </p:txBody>
      </p:sp>
      <p:sp>
        <p:nvSpPr>
          <p:cNvPr id="15" name="TextBox 14"/>
          <p:cNvSpPr txBox="1"/>
          <p:nvPr/>
        </p:nvSpPr>
        <p:spPr>
          <a:xfrm>
            <a:off x="5440680" y="1737360"/>
            <a:ext cx="6217920" cy="438912"/>
          </a:xfrm>
          <a:prstGeom prst="rect">
            <a:avLst/>
          </a:prstGeom>
          <a:noFill/>
        </p:spPr>
        <p:txBody>
          <a:bodyPr wrap="square" lIns="0" rIns="0" tIns="18288" bIns="18288" anchor="ctr">
            <a:spAutoFit/>
          </a:bodyPr>
          <a:lstStyle/>
          <a:p>
            <a:pPr algn="l">
              <a:lnSpc>
                <a:spcPct val="112000"/>
              </a:lnSpc>
            </a:pPr>
            <a:r>
              <a:rPr sz="1700" b="0" i="0">
                <a:solidFill>
                  <a:srgbClr val="475569"/>
                </a:solidFill>
                <a:latin typeface="Arial"/>
              </a:rPr>
              <a:t>ChromeOS, macOS, Windows (2023)</a:t>
            </a:r>
          </a:p>
        </p:txBody>
      </p:sp>
      <p:sp>
        <p:nvSpPr>
          <p:cNvPr id="16" name="TextBox 15"/>
          <p:cNvSpPr txBox="1"/>
          <p:nvPr/>
        </p:nvSpPr>
        <p:spPr>
          <a:xfrm>
            <a:off x="548640" y="2414015"/>
            <a:ext cx="2560320" cy="438912"/>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Chrome Android</a:t>
            </a:r>
          </a:p>
        </p:txBody>
      </p:sp>
      <p:sp>
        <p:nvSpPr>
          <p:cNvPr id="17" name="Rounded Rectangle 16"/>
          <p:cNvSpPr/>
          <p:nvPr/>
        </p:nvSpPr>
        <p:spPr>
          <a:xfrm>
            <a:off x="3108960" y="2459735"/>
            <a:ext cx="210312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Stable · 121</a:t>
            </a:r>
          </a:p>
        </p:txBody>
      </p:sp>
      <p:sp>
        <p:nvSpPr>
          <p:cNvPr id="18" name="TextBox 17"/>
          <p:cNvSpPr txBox="1"/>
          <p:nvPr/>
        </p:nvSpPr>
        <p:spPr>
          <a:xfrm>
            <a:off x="5440680" y="2414015"/>
            <a:ext cx="6217920" cy="438912"/>
          </a:xfrm>
          <a:prstGeom prst="rect">
            <a:avLst/>
          </a:prstGeom>
          <a:noFill/>
        </p:spPr>
        <p:txBody>
          <a:bodyPr wrap="square" lIns="0" rIns="0" tIns="18288" bIns="18288" anchor="ctr">
            <a:spAutoFit/>
          </a:bodyPr>
          <a:lstStyle/>
          <a:p>
            <a:pPr algn="l">
              <a:lnSpc>
                <a:spcPct val="112000"/>
              </a:lnSpc>
            </a:pPr>
            <a:r>
              <a:rPr sz="1700" b="0" i="0">
                <a:solidFill>
                  <a:srgbClr val="475569"/>
                </a:solidFill>
                <a:latin typeface="Arial"/>
              </a:rPr>
              <a:t>Android 12+, Qualcomm / ARM GPUs</a:t>
            </a:r>
          </a:p>
        </p:txBody>
      </p:sp>
      <p:sp>
        <p:nvSpPr>
          <p:cNvPr id="19" name="Rectangle 18"/>
          <p:cNvSpPr/>
          <p:nvPr/>
        </p:nvSpPr>
        <p:spPr>
          <a:xfrm>
            <a:off x="457200" y="2999232"/>
            <a:ext cx="11274552" cy="62179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48640" y="3090672"/>
            <a:ext cx="2560320" cy="438912"/>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Chrome Linux</a:t>
            </a:r>
          </a:p>
        </p:txBody>
      </p:sp>
      <p:sp>
        <p:nvSpPr>
          <p:cNvPr id="21" name="Rounded Rectangle 20"/>
          <p:cNvSpPr/>
          <p:nvPr/>
        </p:nvSpPr>
        <p:spPr>
          <a:xfrm>
            <a:off x="3108960" y="3136391"/>
            <a:ext cx="210312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Rolling out · 144</a:t>
            </a:r>
          </a:p>
        </p:txBody>
      </p:sp>
      <p:sp>
        <p:nvSpPr>
          <p:cNvPr id="22" name="TextBox 21"/>
          <p:cNvSpPr txBox="1"/>
          <p:nvPr/>
        </p:nvSpPr>
        <p:spPr>
          <a:xfrm>
            <a:off x="5440680" y="3090672"/>
            <a:ext cx="6217920" cy="438912"/>
          </a:xfrm>
          <a:prstGeom prst="rect">
            <a:avLst/>
          </a:prstGeom>
          <a:noFill/>
        </p:spPr>
        <p:txBody>
          <a:bodyPr wrap="square" lIns="0" rIns="0" tIns="18288" bIns="18288" anchor="ctr">
            <a:spAutoFit/>
          </a:bodyPr>
          <a:lstStyle/>
          <a:p>
            <a:pPr algn="l">
              <a:lnSpc>
                <a:spcPct val="112000"/>
              </a:lnSpc>
            </a:pPr>
            <a:r>
              <a:rPr sz="1700" b="0" i="0">
                <a:solidFill>
                  <a:srgbClr val="475569"/>
                </a:solidFill>
                <a:latin typeface="Arial"/>
              </a:rPr>
              <a:t>Intel Gen12+ first, AMD / NVIDIA planned</a:t>
            </a:r>
          </a:p>
        </p:txBody>
      </p:sp>
      <p:sp>
        <p:nvSpPr>
          <p:cNvPr id="23" name="TextBox 22"/>
          <p:cNvSpPr txBox="1"/>
          <p:nvPr/>
        </p:nvSpPr>
        <p:spPr>
          <a:xfrm>
            <a:off x="548640" y="3767327"/>
            <a:ext cx="2560320" cy="438912"/>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Firefox</a:t>
            </a:r>
          </a:p>
        </p:txBody>
      </p:sp>
      <p:sp>
        <p:nvSpPr>
          <p:cNvPr id="24" name="Rounded Rectangle 23"/>
          <p:cNvSpPr/>
          <p:nvPr/>
        </p:nvSpPr>
        <p:spPr>
          <a:xfrm>
            <a:off x="3108960" y="3813047"/>
            <a:ext cx="210312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Stable · 141</a:t>
            </a:r>
          </a:p>
        </p:txBody>
      </p:sp>
      <p:sp>
        <p:nvSpPr>
          <p:cNvPr id="25" name="TextBox 24"/>
          <p:cNvSpPr txBox="1"/>
          <p:nvPr/>
        </p:nvSpPr>
        <p:spPr>
          <a:xfrm>
            <a:off x="5440680" y="3767327"/>
            <a:ext cx="6217920" cy="438912"/>
          </a:xfrm>
          <a:prstGeom prst="rect">
            <a:avLst/>
          </a:prstGeom>
          <a:noFill/>
        </p:spPr>
        <p:txBody>
          <a:bodyPr wrap="square" lIns="0" rIns="0" tIns="18288" bIns="18288" anchor="ctr">
            <a:spAutoFit/>
          </a:bodyPr>
          <a:lstStyle/>
          <a:p>
            <a:pPr algn="l">
              <a:lnSpc>
                <a:spcPct val="112000"/>
              </a:lnSpc>
            </a:pPr>
            <a:r>
              <a:rPr sz="1700" b="0" i="0">
                <a:solidFill>
                  <a:srgbClr val="475569"/>
                </a:solidFill>
                <a:latin typeface="Arial"/>
              </a:rPr>
              <a:t>Windows; macOS on Apple Silicon from 145/147; not Linux or Android yet</a:t>
            </a:r>
          </a:p>
        </p:txBody>
      </p:sp>
      <p:sp>
        <p:nvSpPr>
          <p:cNvPr id="26" name="Rectangle 25"/>
          <p:cNvSpPr/>
          <p:nvPr/>
        </p:nvSpPr>
        <p:spPr>
          <a:xfrm>
            <a:off x="457200" y="4352544"/>
            <a:ext cx="11274552" cy="62179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443983"/>
            <a:ext cx="2560320" cy="438912"/>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Safari</a:t>
            </a:r>
          </a:p>
        </p:txBody>
      </p:sp>
      <p:sp>
        <p:nvSpPr>
          <p:cNvPr id="28" name="Rounded Rectangle 27"/>
          <p:cNvSpPr/>
          <p:nvPr/>
        </p:nvSpPr>
        <p:spPr>
          <a:xfrm>
            <a:off x="3108960" y="4489703"/>
            <a:ext cx="2103120" cy="3474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Stable · 26.0</a:t>
            </a:r>
          </a:p>
        </p:txBody>
      </p:sp>
      <p:sp>
        <p:nvSpPr>
          <p:cNvPr id="29" name="TextBox 28"/>
          <p:cNvSpPr txBox="1"/>
          <p:nvPr/>
        </p:nvSpPr>
        <p:spPr>
          <a:xfrm>
            <a:off x="5440680" y="4443983"/>
            <a:ext cx="6217920" cy="438912"/>
          </a:xfrm>
          <a:prstGeom prst="rect">
            <a:avLst/>
          </a:prstGeom>
          <a:noFill/>
        </p:spPr>
        <p:txBody>
          <a:bodyPr wrap="square" lIns="0" rIns="0" tIns="18288" bIns="18288" anchor="ctr">
            <a:spAutoFit/>
          </a:bodyPr>
          <a:lstStyle/>
          <a:p>
            <a:pPr algn="l">
              <a:lnSpc>
                <a:spcPct val="112000"/>
              </a:lnSpc>
            </a:pPr>
            <a:r>
              <a:rPr sz="1700" b="0" i="0">
                <a:solidFill>
                  <a:srgbClr val="475569"/>
                </a:solidFill>
                <a:latin typeface="Arial"/>
              </a:rPr>
              <a:t>macOS, iOS, iPadOS, visionOS</a:t>
            </a:r>
          </a:p>
        </p:txBody>
      </p:sp>
      <p:sp>
        <p:nvSpPr>
          <p:cNvPr id="30" name="Rounded Rectangle 29"/>
          <p:cNvSpPr/>
          <p:nvPr/>
        </p:nvSpPr>
        <p:spPr>
          <a:xfrm>
            <a:off x="548640" y="5257800"/>
            <a:ext cx="11091672" cy="914400"/>
          </a:xfrm>
          <a:prstGeom prst="roundRect">
            <a:avLst>
              <a:gd name="adj" fmla="val 1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 y="5257800"/>
            <a:ext cx="10698480" cy="914400"/>
          </a:xfrm>
          <a:prstGeom prst="rect">
            <a:avLst/>
          </a:prstGeom>
          <a:noFill/>
        </p:spPr>
        <p:txBody>
          <a:bodyPr wrap="square" lIns="0" rIns="0" tIns="18288" bIns="18288" anchor="ctr">
            <a:spAutoFit/>
          </a:bodyPr>
          <a:lstStyle/>
          <a:p>
            <a:pPr algn="l">
              <a:lnSpc>
                <a:spcPct val="112000"/>
              </a:lnSpc>
            </a:pPr>
            <a:r>
              <a:rPr sz="1800" b="1" i="0">
                <a:solidFill>
                  <a:srgbClr val="0E7490"/>
                </a:solidFill>
                <a:latin typeface="Arial"/>
              </a:rPr>
              <a:t>For ML: </a:t>
            </a:r>
            <a:r>
              <a:rPr sz="1800" b="0" i="0">
                <a:solidFill>
                  <a:srgbClr val="0F172A"/>
                </a:solidFill>
                <a:latin typeface="Consolas"/>
              </a:rPr>
              <a:t>shader-f16</a:t>
            </a:r>
            <a:r>
              <a:rPr sz="1800" b="0" i="0">
                <a:solidFill>
                  <a:srgbClr val="0F172A"/>
                </a:solidFill>
                <a:latin typeface="Arial"/>
              </a:rPr>
              <a:t> (Chrome 120) and subgroups (Chrome 134) are optional per adapter — check </a:t>
            </a:r>
            <a:r>
              <a:rPr sz="1600" b="0" i="0">
                <a:solidFill>
                  <a:srgbClr val="0F172A"/>
                </a:solidFill>
                <a:latin typeface="Consolas"/>
              </a:rPr>
              <a:t>adapter.features.has('shader-f16')</a:t>
            </a:r>
            <a:r>
              <a:rPr sz="1800" b="0" i="0">
                <a:solidFill>
                  <a:srgbClr val="0F172A"/>
                </a:solidFill>
                <a:latin typeface="Arial"/>
              </a:rPr>
              <a:t> before choosing fp16 weights.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2 · WEBNN</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L2 · WebNN: neural nets for the web</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19</a:t>
            </a:r>
          </a:p>
        </p:txBody>
      </p:sp>
      <p:sp>
        <p:nvSpPr>
          <p:cNvPr id="5" name="Rectangle 4"/>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6" name="Rectangle 5"/>
          <p:cNvSpPr/>
          <p:nvPr/>
        </p:nvSpPr>
        <p:spPr>
          <a:xfrm>
            <a:off x="9692640" y="489203"/>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L4  Prompt API</a:t>
            </a:r>
          </a:p>
        </p:txBody>
      </p:sp>
      <p:sp>
        <p:nvSpPr>
          <p:cNvPr id="7" name="Rectangle 6"/>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8" name="Rectangle 7"/>
          <p:cNvSpPr/>
          <p:nvPr/>
        </p:nvSpPr>
        <p:spPr>
          <a:xfrm>
            <a:off x="9692640" y="918971"/>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L2  Compute APIs</a:t>
            </a:r>
          </a:p>
        </p:txBody>
      </p:sp>
      <p:sp>
        <p:nvSpPr>
          <p:cNvPr id="9" name="Rectangle 8"/>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0" name="Rectangle 9"/>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1" name="Rounded Rectangle 10"/>
          <p:cNvSpPr/>
          <p:nvPr/>
        </p:nvSpPr>
        <p:spPr>
          <a:xfrm>
            <a:off x="548640" y="1828800"/>
            <a:ext cx="2514600" cy="1463040"/>
          </a:xfrm>
          <a:prstGeom prst="roundRect">
            <a:avLst>
              <a:gd name="adj" fmla="val 10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1901952"/>
            <a:ext cx="2514600" cy="1325880"/>
          </a:xfrm>
          <a:prstGeom prst="rect">
            <a:avLst/>
          </a:prstGeom>
          <a:noFill/>
        </p:spPr>
        <p:txBody>
          <a:bodyPr wrap="square" lIns="109728" rIns="109728" tIns="65836" bIns="65836" anchor="ctr">
            <a:spAutoFit/>
          </a:bodyPr>
          <a:lstStyle/>
          <a:p>
            <a:pPr algn="ctr">
              <a:lnSpc>
                <a:spcPct val="110000"/>
              </a:lnSpc>
            </a:pPr>
            <a:r>
              <a:rPr sz="2100" b="1" i="0">
                <a:solidFill>
                  <a:srgbClr val="22D3EE"/>
                </a:solidFill>
                <a:latin typeface="Consolas"/>
              </a:rPr>
              <a:t>MLContext</a:t>
            </a:r>
          </a:p>
          <a:p>
            <a:pPr algn="ctr">
              <a:lnSpc>
                <a:spcPct val="110000"/>
              </a:lnSpc>
              <a:spcBef>
                <a:spcPts val="600"/>
              </a:spcBef>
            </a:pPr>
            <a:r>
              <a:rPr sz="1500" b="0" i="0">
                <a:solidFill>
                  <a:srgbClr val="E2E8F0"/>
                </a:solidFill>
                <a:latin typeface="Consolas"/>
              </a:rPr>
              <a:t>ml.createContext()</a:t>
            </a:r>
          </a:p>
        </p:txBody>
      </p:sp>
      <p:cxnSp>
        <p:nvCxnSpPr>
          <p:cNvPr id="13" name="Connector 12"/>
          <p:cNvCxnSpPr/>
          <p:nvPr/>
        </p:nvCxnSpPr>
        <p:spPr>
          <a:xfrm>
            <a:off x="3090672" y="2560320"/>
            <a:ext cx="274320" cy="0"/>
          </a:xfrm>
          <a:prstGeom prst="line">
            <a:avLst/>
          </a:prstGeom>
          <a:ln w="3175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80" y="1828800"/>
            <a:ext cx="2514600" cy="1463040"/>
          </a:xfrm>
          <a:prstGeom prst="roundRect">
            <a:avLst>
              <a:gd name="adj" fmla="val 10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383280" y="1901952"/>
            <a:ext cx="2514600" cy="1325880"/>
          </a:xfrm>
          <a:prstGeom prst="rect">
            <a:avLst/>
          </a:prstGeom>
          <a:noFill/>
        </p:spPr>
        <p:txBody>
          <a:bodyPr wrap="square" lIns="109728" rIns="109728" tIns="65836" bIns="65836" anchor="ctr">
            <a:spAutoFit/>
          </a:bodyPr>
          <a:lstStyle/>
          <a:p>
            <a:pPr algn="ctr">
              <a:lnSpc>
                <a:spcPct val="110000"/>
              </a:lnSpc>
            </a:pPr>
            <a:r>
              <a:rPr sz="2100" b="1" i="0">
                <a:solidFill>
                  <a:srgbClr val="22D3EE"/>
                </a:solidFill>
                <a:latin typeface="Consolas"/>
              </a:rPr>
              <a:t>MLGraphBuilder</a:t>
            </a:r>
          </a:p>
          <a:p>
            <a:pPr algn="ctr">
              <a:lnSpc>
                <a:spcPct val="110000"/>
              </a:lnSpc>
              <a:spcBef>
                <a:spcPts val="600"/>
              </a:spcBef>
            </a:pPr>
            <a:r>
              <a:rPr sz="1500" b="0" i="0">
                <a:solidFill>
                  <a:srgbClr val="E2E8F0"/>
                </a:solidFill>
                <a:latin typeface="Consolas"/>
              </a:rPr>
              <a:t>input → conv2d → relu → …</a:t>
            </a:r>
          </a:p>
        </p:txBody>
      </p:sp>
      <p:cxnSp>
        <p:nvCxnSpPr>
          <p:cNvPr id="16" name="Connector 15"/>
          <p:cNvCxnSpPr/>
          <p:nvPr/>
        </p:nvCxnSpPr>
        <p:spPr>
          <a:xfrm>
            <a:off x="5925312" y="2560320"/>
            <a:ext cx="274320" cy="0"/>
          </a:xfrm>
          <a:prstGeom prst="line">
            <a:avLst/>
          </a:prstGeom>
          <a:ln w="3175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17920" y="1828800"/>
            <a:ext cx="2514600" cy="1463040"/>
          </a:xfrm>
          <a:prstGeom prst="roundRect">
            <a:avLst>
              <a:gd name="adj" fmla="val 10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0" y="1901952"/>
            <a:ext cx="2514600" cy="1325880"/>
          </a:xfrm>
          <a:prstGeom prst="rect">
            <a:avLst/>
          </a:prstGeom>
          <a:noFill/>
        </p:spPr>
        <p:txBody>
          <a:bodyPr wrap="square" lIns="109728" rIns="109728" tIns="65836" bIns="65836" anchor="ctr">
            <a:spAutoFit/>
          </a:bodyPr>
          <a:lstStyle/>
          <a:p>
            <a:pPr algn="ctr">
              <a:lnSpc>
                <a:spcPct val="110000"/>
              </a:lnSpc>
            </a:pPr>
            <a:r>
              <a:rPr sz="2100" b="1" i="0">
                <a:solidFill>
                  <a:srgbClr val="22D3EE"/>
                </a:solidFill>
                <a:latin typeface="Consolas"/>
              </a:rPr>
              <a:t>MLGraph</a:t>
            </a:r>
          </a:p>
          <a:p>
            <a:pPr algn="ctr">
              <a:lnSpc>
                <a:spcPct val="110000"/>
              </a:lnSpc>
              <a:spcBef>
                <a:spcPts val="600"/>
              </a:spcBef>
            </a:pPr>
            <a:r>
              <a:rPr sz="1500" b="0" i="0">
                <a:solidFill>
                  <a:srgbClr val="E2E8F0"/>
                </a:solidFill>
                <a:latin typeface="Consolas"/>
              </a:rPr>
              <a:t>compiled for the device</a:t>
            </a:r>
          </a:p>
        </p:txBody>
      </p:sp>
      <p:cxnSp>
        <p:nvCxnSpPr>
          <p:cNvPr id="19" name="Connector 18"/>
          <p:cNvCxnSpPr/>
          <p:nvPr/>
        </p:nvCxnSpPr>
        <p:spPr>
          <a:xfrm>
            <a:off x="8759952" y="2560320"/>
            <a:ext cx="274320" cy="0"/>
          </a:xfrm>
          <a:prstGeom prst="line">
            <a:avLst/>
          </a:prstGeom>
          <a:ln w="3175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052560" y="1828800"/>
            <a:ext cx="2514600" cy="1463040"/>
          </a:xfrm>
          <a:prstGeom prst="roundRect">
            <a:avLst>
              <a:gd name="adj" fmla="val 10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052560" y="1901952"/>
            <a:ext cx="2514600" cy="1325880"/>
          </a:xfrm>
          <a:prstGeom prst="rect">
            <a:avLst/>
          </a:prstGeom>
          <a:noFill/>
        </p:spPr>
        <p:txBody>
          <a:bodyPr wrap="square" lIns="109728" rIns="109728" tIns="65836" bIns="65836" anchor="ctr">
            <a:spAutoFit/>
          </a:bodyPr>
          <a:lstStyle/>
          <a:p>
            <a:pPr algn="ctr">
              <a:lnSpc>
                <a:spcPct val="110000"/>
              </a:lnSpc>
            </a:pPr>
            <a:r>
              <a:rPr sz="2100" b="1" i="0">
                <a:solidFill>
                  <a:srgbClr val="22D3EE"/>
                </a:solidFill>
                <a:latin typeface="Consolas"/>
              </a:rPr>
              <a:t>dispatch()</a:t>
            </a:r>
          </a:p>
          <a:p>
            <a:pPr algn="ctr">
              <a:lnSpc>
                <a:spcPct val="110000"/>
              </a:lnSpc>
              <a:spcBef>
                <a:spcPts val="600"/>
              </a:spcBef>
            </a:pPr>
            <a:r>
              <a:rPr sz="1500" b="0" i="0">
                <a:solidFill>
                  <a:srgbClr val="E2E8F0"/>
                </a:solidFill>
                <a:latin typeface="Consolas"/>
              </a:rPr>
              <a:t>tensors in, tensors out</a:t>
            </a:r>
          </a:p>
        </p:txBody>
      </p:sp>
      <p:sp>
        <p:nvSpPr>
          <p:cNvPr id="22" name="TextBox 21"/>
          <p:cNvSpPr txBox="1"/>
          <p:nvPr/>
        </p:nvSpPr>
        <p:spPr>
          <a:xfrm>
            <a:off x="548640" y="3703320"/>
            <a:ext cx="10972800" cy="2560320"/>
          </a:xfrm>
          <a:prstGeom prst="rect">
            <a:avLst/>
          </a:prstGeom>
          <a:noFill/>
        </p:spPr>
        <p:txBody>
          <a:bodyPr wrap="square" lIns="0" rIns="0" tIns="18288" bIns="18288" anchor="t">
            <a:spAutoFit/>
          </a:bodyPr>
          <a:lstStyle/>
          <a:p>
            <a:pPr algn="l">
              <a:lnSpc>
                <a:spcPct val="112000"/>
              </a:lnSpc>
            </a:pPr>
            <a:r>
              <a:rPr sz="1900" b="1" i="0">
                <a:solidFill>
                  <a:srgbClr val="0891B2"/>
                </a:solidFill>
                <a:latin typeface="Arial"/>
              </a:rPr>
              <a:t>▸  </a:t>
            </a:r>
            <a:r>
              <a:rPr sz="1900" b="0" i="0">
                <a:solidFill>
                  <a:srgbClr val="0F172A"/>
                </a:solidFill>
                <a:latin typeface="Arial"/>
              </a:rPr>
              <a:t>Graph-level API: the browser hands the whole graph to the OS ML stack — that's how it reaches the NPU</a:t>
            </a:r>
          </a:p>
          <a:p>
            <a:pPr algn="l">
              <a:lnSpc>
                <a:spcPct val="112000"/>
              </a:lnSpc>
              <a:spcBef>
                <a:spcPts val="1000"/>
              </a:spcBef>
            </a:pPr>
            <a:r>
              <a:rPr sz="1900" b="1" i="0">
                <a:solidFill>
                  <a:srgbClr val="0891B2"/>
                </a:solidFill>
                <a:latin typeface="Arial"/>
              </a:rPr>
              <a:t>▸  </a:t>
            </a:r>
            <a:r>
              <a:rPr sz="1900" b="0" i="0">
                <a:solidFill>
                  <a:srgbClr val="0F172A"/>
                </a:solidFill>
                <a:latin typeface="Arial"/>
              </a:rPr>
              <a:t>Tensors stay on the device between calls; interop with WebGPU buffers</a:t>
            </a:r>
          </a:p>
          <a:p>
            <a:pPr algn="l">
              <a:lnSpc>
                <a:spcPct val="112000"/>
              </a:lnSpc>
              <a:spcBef>
                <a:spcPts val="1000"/>
              </a:spcBef>
            </a:pPr>
            <a:r>
              <a:rPr sz="1900" b="1" i="0">
                <a:solidFill>
                  <a:srgbClr val="0891B2"/>
                </a:solidFill>
                <a:latin typeface="Arial"/>
              </a:rPr>
              <a:t>▸  </a:t>
            </a:r>
            <a:r>
              <a:rPr sz="1900" b="0" i="0">
                <a:solidFill>
                  <a:srgbClr val="0F172A"/>
                </a:solidFill>
                <a:latin typeface="Arial"/>
              </a:rPr>
              <a:t>You rarely write it by hand: ONNX Runtime Web and LiteRT.js use it as a backend</a:t>
            </a:r>
          </a:p>
          <a:p>
            <a:pPr algn="l">
              <a:lnSpc>
                <a:spcPct val="112000"/>
              </a:lnSpc>
              <a:spcBef>
                <a:spcPts val="1000"/>
              </a:spcBef>
            </a:pPr>
            <a:r>
              <a:rPr sz="1900" b="1" i="0">
                <a:solidFill>
                  <a:srgbClr val="0891B2"/>
                </a:solidFill>
                <a:latin typeface="Arial"/>
              </a:rPr>
              <a:t>▸  </a:t>
            </a:r>
            <a:r>
              <a:rPr sz="1900" b="0" i="0">
                <a:solidFill>
                  <a:srgbClr val="0F172A"/>
                </a:solidFill>
                <a:latin typeface="Arial"/>
              </a:rPr>
              <a:t>Available in windows and workers, secure contexts only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2 · WEBNN STATUS</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WebNN in Oct 2026: behind a flag</a:t>
            </a:r>
          </a:p>
        </p:txBody>
      </p:sp>
      <p:sp>
        <p:nvSpPr>
          <p:cNvPr id="4" name="TextBox 3"/>
          <p:cNvSpPr txBox="1"/>
          <p:nvPr/>
        </p:nvSpPr>
        <p:spPr>
          <a:xfrm>
            <a:off x="548640" y="6400800"/>
            <a:ext cx="10241280" cy="274320"/>
          </a:xfrm>
          <a:prstGeom prst="rect">
            <a:avLst/>
          </a:prstGeom>
          <a:noFill/>
        </p:spPr>
        <p:txBody>
          <a:bodyPr wrap="square" lIns="0" rIns="0" tIns="18288" bIns="18288" anchor="t">
            <a:spAutoFit/>
          </a:bodyPr>
          <a:lstStyle/>
          <a:p>
            <a:pPr algn="l">
              <a:lnSpc>
                <a:spcPct val="112000"/>
              </a:lnSpc>
            </a:pPr>
            <a:r>
              <a:rPr sz="1200" b="0" i="0">
                <a:solidFill>
                  <a:srgbClr val="475569"/>
                </a:solidFill>
                <a:latin typeface="Arial"/>
              </a:rPr>
              <a:t>Source: api.w3.org, chromestatus.com/feature/5176273954144256, blink-dev Intent to Experiment, Edge origin trials, webnn.io — as of 16 Oct 2026</a:t>
            </a:r>
          </a:p>
        </p:txBody>
      </p:sp>
      <p:sp>
        <p:nvSpPr>
          <p:cNvPr id="5" name="TextBox 4"/>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20</a:t>
            </a:r>
          </a:p>
        </p:txBody>
      </p:sp>
      <p:sp>
        <p:nvSpPr>
          <p:cNvPr id="6" name="Rectangle 5"/>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7" name="Rectangle 6"/>
          <p:cNvSpPr/>
          <p:nvPr/>
        </p:nvSpPr>
        <p:spPr>
          <a:xfrm>
            <a:off x="9692640" y="489203"/>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L4  Prompt API</a:t>
            </a:r>
          </a:p>
        </p:txBody>
      </p:sp>
      <p:sp>
        <p:nvSpPr>
          <p:cNvPr id="8" name="Rectangle 7"/>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9" name="Rectangle 8"/>
          <p:cNvSpPr/>
          <p:nvPr/>
        </p:nvSpPr>
        <p:spPr>
          <a:xfrm>
            <a:off x="9692640" y="918971"/>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L2  Compute APIs</a:t>
            </a:r>
          </a:p>
        </p:txBody>
      </p:sp>
      <p:sp>
        <p:nvSpPr>
          <p:cNvPr id="10" name="Rectangle 9"/>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1" name="Rectangle 10"/>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2" name="Rounded Rectangle 11"/>
          <p:cNvSpPr/>
          <p:nvPr/>
        </p:nvSpPr>
        <p:spPr>
          <a:xfrm>
            <a:off x="548640" y="1691640"/>
            <a:ext cx="3931920" cy="3429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400" b="1" i="0">
                <a:solidFill>
                  <a:srgbClr val="0E7490"/>
                </a:solidFill>
                <a:latin typeface="Arial"/>
              </a:rPr>
              <a:t>Spec</a:t>
            </a:r>
          </a:p>
          <a:p>
            <a:pPr algn="l">
              <a:lnSpc>
                <a:spcPct val="112000"/>
              </a:lnSpc>
              <a:spcBef>
                <a:spcPts val="600"/>
              </a:spcBef>
            </a:pPr>
            <a:r>
              <a:rPr sz="1800" b="0" i="0">
                <a:solidFill>
                  <a:srgbClr val="0F172A"/>
                </a:solidFill>
                <a:latin typeface="Arial"/>
              </a:rPr>
              <a:t>W3C Candidate Recommendation</a:t>
            </a:r>
          </a:p>
          <a:p>
            <a:pPr algn="l">
              <a:lnSpc>
                <a:spcPct val="112000"/>
              </a:lnSpc>
              <a:spcBef>
                <a:spcPts val="600"/>
              </a:spcBef>
            </a:pPr>
            <a:r>
              <a:rPr sz="1800" b="0" i="0">
                <a:solidFill>
                  <a:srgbClr val="0F172A"/>
                </a:solidFill>
                <a:latin typeface="Arial"/>
              </a:rPr>
              <a:t>CR Snapshot: 22 Jan 2026</a:t>
            </a:r>
          </a:p>
          <a:p>
            <a:pPr algn="l">
              <a:lnSpc>
                <a:spcPct val="112000"/>
              </a:lnSpc>
              <a:spcBef>
                <a:spcPts val="600"/>
              </a:spcBef>
            </a:pPr>
            <a:r>
              <a:rPr sz="1800" b="0" i="0">
                <a:solidFill>
                  <a:srgbClr val="0F172A"/>
                </a:solidFill>
                <a:latin typeface="Arial"/>
              </a:rPr>
              <a:t>Latest CR Draft: 10 Oct 2026</a:t>
            </a:r>
          </a:p>
          <a:p>
            <a:pPr algn="l">
              <a:lnSpc>
                <a:spcPct val="112000"/>
              </a:lnSpc>
              <a:spcBef>
                <a:spcPts val="600"/>
              </a:spcBef>
            </a:pPr>
            <a:r>
              <a:rPr sz="1800" b="0" i="0">
                <a:solidFill>
                  <a:srgbClr val="0F172A"/>
                </a:solidFill>
                <a:latin typeface="Arial"/>
              </a:rPr>
              <a:t>Charter target: Recommendation in Q1 2027</a:t>
            </a:r>
          </a:p>
        </p:txBody>
      </p:sp>
      <p:sp>
        <p:nvSpPr>
          <p:cNvPr id="13" name="TextBox 12"/>
          <p:cNvSpPr txBox="1"/>
          <p:nvPr/>
        </p:nvSpPr>
        <p:spPr>
          <a:xfrm>
            <a:off x="4754880" y="1737360"/>
            <a:ext cx="1463040" cy="41148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Chrome</a:t>
            </a:r>
          </a:p>
        </p:txBody>
      </p:sp>
      <p:sp>
        <p:nvSpPr>
          <p:cNvPr id="14" name="Rounded Rectangle 13"/>
          <p:cNvSpPr/>
          <p:nvPr/>
        </p:nvSpPr>
        <p:spPr>
          <a:xfrm>
            <a:off x="6172200" y="1764792"/>
            <a:ext cx="1783080" cy="347472"/>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Flag</a:t>
            </a:r>
          </a:p>
        </p:txBody>
      </p:sp>
      <p:sp>
        <p:nvSpPr>
          <p:cNvPr id="15" name="TextBox 14"/>
          <p:cNvSpPr txBox="1"/>
          <p:nvPr/>
        </p:nvSpPr>
        <p:spPr>
          <a:xfrm>
            <a:off x="8138160" y="1645919"/>
            <a:ext cx="3520440" cy="640080"/>
          </a:xfrm>
          <a:prstGeom prst="rect">
            <a:avLst/>
          </a:prstGeom>
          <a:noFill/>
        </p:spPr>
        <p:txBody>
          <a:bodyPr wrap="square" lIns="0" rIns="0" tIns="18288" bIns="18288" anchor="ctr">
            <a:spAutoFit/>
          </a:bodyPr>
          <a:lstStyle/>
          <a:p>
            <a:pPr algn="l">
              <a:lnSpc>
                <a:spcPct val="105000"/>
              </a:lnSpc>
            </a:pPr>
            <a:r>
              <a:rPr sz="1600" b="0" i="0">
                <a:solidFill>
                  <a:srgbClr val="475569"/>
                </a:solidFill>
                <a:latin typeface="Arial"/>
              </a:rPr>
              <a:t>Dev trial since 125. Origin trial pulled 27 Mar 2026</a:t>
            </a:r>
          </a:p>
        </p:txBody>
      </p:sp>
      <p:sp>
        <p:nvSpPr>
          <p:cNvPr id="16" name="TextBox 15"/>
          <p:cNvSpPr txBox="1"/>
          <p:nvPr/>
        </p:nvSpPr>
        <p:spPr>
          <a:xfrm>
            <a:off x="4754880" y="2606039"/>
            <a:ext cx="1463040" cy="41148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Edge</a:t>
            </a:r>
          </a:p>
        </p:txBody>
      </p:sp>
      <p:sp>
        <p:nvSpPr>
          <p:cNvPr id="17" name="Rounded Rectangle 16"/>
          <p:cNvSpPr/>
          <p:nvPr/>
        </p:nvSpPr>
        <p:spPr>
          <a:xfrm>
            <a:off x="6172200" y="2633471"/>
            <a:ext cx="1783080" cy="347472"/>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Flag</a:t>
            </a:r>
          </a:p>
        </p:txBody>
      </p:sp>
      <p:sp>
        <p:nvSpPr>
          <p:cNvPr id="18" name="TextBox 17"/>
          <p:cNvSpPr txBox="1"/>
          <p:nvPr/>
        </p:nvSpPr>
        <p:spPr>
          <a:xfrm>
            <a:off x="8138160" y="2514599"/>
            <a:ext cx="3520440" cy="640080"/>
          </a:xfrm>
          <a:prstGeom prst="rect">
            <a:avLst/>
          </a:prstGeom>
          <a:noFill/>
        </p:spPr>
        <p:txBody>
          <a:bodyPr wrap="square" lIns="0" rIns="0" tIns="18288" bIns="18288" anchor="ctr">
            <a:spAutoFit/>
          </a:bodyPr>
          <a:lstStyle/>
          <a:p>
            <a:pPr algn="l">
              <a:lnSpc>
                <a:spcPct val="105000"/>
              </a:lnSpc>
            </a:pPr>
            <a:r>
              <a:rPr sz="1600" b="0" i="0">
                <a:solidFill>
                  <a:srgbClr val="475569"/>
                </a:solidFill>
                <a:latin typeface="Arial"/>
              </a:rPr>
              <a:t>Origin trial expired 11 Aug 2026</a:t>
            </a:r>
          </a:p>
        </p:txBody>
      </p:sp>
      <p:sp>
        <p:nvSpPr>
          <p:cNvPr id="19" name="TextBox 18"/>
          <p:cNvSpPr txBox="1"/>
          <p:nvPr/>
        </p:nvSpPr>
        <p:spPr>
          <a:xfrm>
            <a:off x="4754880" y="3474720"/>
            <a:ext cx="1463040" cy="41148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Firefox</a:t>
            </a:r>
          </a:p>
        </p:txBody>
      </p:sp>
      <p:sp>
        <p:nvSpPr>
          <p:cNvPr id="20" name="Rounded Rectangle 19"/>
          <p:cNvSpPr/>
          <p:nvPr/>
        </p:nvSpPr>
        <p:spPr>
          <a:xfrm>
            <a:off x="6172200" y="3502151"/>
            <a:ext cx="1783080" cy="347472"/>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Not supported</a:t>
            </a:r>
          </a:p>
        </p:txBody>
      </p:sp>
      <p:sp>
        <p:nvSpPr>
          <p:cNvPr id="21" name="TextBox 20"/>
          <p:cNvSpPr txBox="1"/>
          <p:nvPr/>
        </p:nvSpPr>
        <p:spPr>
          <a:xfrm>
            <a:off x="8138160" y="3383279"/>
            <a:ext cx="3520440" cy="640080"/>
          </a:xfrm>
          <a:prstGeom prst="rect">
            <a:avLst/>
          </a:prstGeom>
          <a:noFill/>
        </p:spPr>
        <p:txBody>
          <a:bodyPr wrap="square" lIns="0" rIns="0" tIns="18288" bIns="18288" anchor="ctr">
            <a:spAutoFit/>
          </a:bodyPr>
          <a:lstStyle/>
          <a:p>
            <a:pPr algn="l">
              <a:lnSpc>
                <a:spcPct val="105000"/>
              </a:lnSpc>
            </a:pPr>
            <a:r>
              <a:rPr sz="1600" b="0" i="0">
                <a:solidFill>
                  <a:srgbClr val="475569"/>
                </a:solidFill>
                <a:latin typeface="Arial"/>
              </a:rPr>
              <a:t>Mozilla position: positive</a:t>
            </a:r>
          </a:p>
        </p:txBody>
      </p:sp>
      <p:sp>
        <p:nvSpPr>
          <p:cNvPr id="22" name="TextBox 21"/>
          <p:cNvSpPr txBox="1"/>
          <p:nvPr/>
        </p:nvSpPr>
        <p:spPr>
          <a:xfrm>
            <a:off x="4754880" y="4343400"/>
            <a:ext cx="1463040" cy="411480"/>
          </a:xfrm>
          <a:prstGeom prst="rect">
            <a:avLst/>
          </a:prstGeom>
          <a:noFill/>
        </p:spPr>
        <p:txBody>
          <a:bodyPr wrap="square" lIns="0" rIns="0" tIns="18288" bIns="18288" anchor="ctr">
            <a:spAutoFit/>
          </a:bodyPr>
          <a:lstStyle/>
          <a:p>
            <a:pPr algn="l">
              <a:lnSpc>
                <a:spcPct val="112000"/>
              </a:lnSpc>
            </a:pPr>
            <a:r>
              <a:rPr sz="2000" b="1" i="0">
                <a:solidFill>
                  <a:srgbClr val="0F172A"/>
                </a:solidFill>
                <a:latin typeface="Arial"/>
              </a:rPr>
              <a:t>Safari</a:t>
            </a:r>
          </a:p>
        </p:txBody>
      </p:sp>
      <p:sp>
        <p:nvSpPr>
          <p:cNvPr id="23" name="Rounded Rectangle 22"/>
          <p:cNvSpPr/>
          <p:nvPr/>
        </p:nvSpPr>
        <p:spPr>
          <a:xfrm>
            <a:off x="6172200" y="4370832"/>
            <a:ext cx="1783080" cy="347472"/>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Not supported</a:t>
            </a:r>
          </a:p>
        </p:txBody>
      </p:sp>
      <p:sp>
        <p:nvSpPr>
          <p:cNvPr id="24" name="TextBox 23"/>
          <p:cNvSpPr txBox="1"/>
          <p:nvPr/>
        </p:nvSpPr>
        <p:spPr>
          <a:xfrm>
            <a:off x="8138160" y="4251960"/>
            <a:ext cx="3520440" cy="640080"/>
          </a:xfrm>
          <a:prstGeom prst="rect">
            <a:avLst/>
          </a:prstGeom>
          <a:noFill/>
        </p:spPr>
        <p:txBody>
          <a:bodyPr wrap="square" lIns="0" rIns="0" tIns="18288" bIns="18288" anchor="ctr">
            <a:spAutoFit/>
          </a:bodyPr>
          <a:lstStyle/>
          <a:p>
            <a:pPr algn="l">
              <a:lnSpc>
                <a:spcPct val="105000"/>
              </a:lnSpc>
            </a:pPr>
            <a:r>
              <a:rPr sz="1600" b="0" i="0">
                <a:solidFill>
                  <a:srgbClr val="475569"/>
                </a:solidFill>
                <a:latin typeface="Arial"/>
              </a:rPr>
              <a:t>WebKit: no position yet</a:t>
            </a:r>
          </a:p>
        </p:txBody>
      </p:sp>
      <p:sp>
        <p:nvSpPr>
          <p:cNvPr id="25" name="Rounded Rectangle 24"/>
          <p:cNvSpPr/>
          <p:nvPr/>
        </p:nvSpPr>
        <p:spPr>
          <a:xfrm>
            <a:off x="4754880" y="5166360"/>
            <a:ext cx="6885432" cy="1051560"/>
          </a:xfrm>
          <a:prstGeom prst="roundRect">
            <a:avLst>
              <a:gd name="adj" fmla="val 10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937760" y="5166360"/>
            <a:ext cx="6583680" cy="1051560"/>
          </a:xfrm>
          <a:prstGeom prst="rect">
            <a:avLst/>
          </a:prstGeom>
          <a:noFill/>
        </p:spPr>
        <p:txBody>
          <a:bodyPr wrap="square" lIns="0" rIns="0" tIns="18288" bIns="18288" anchor="ctr">
            <a:spAutoFit/>
          </a:bodyPr>
          <a:lstStyle/>
          <a:p>
            <a:pPr algn="l">
              <a:lnSpc>
                <a:spcPct val="115000"/>
              </a:lnSpc>
            </a:pPr>
            <a:r>
              <a:rPr sz="1600" b="0" i="0">
                <a:solidFill>
                  <a:srgbClr val="FFFFFF"/>
                </a:solidFill>
                <a:latin typeface="Arial"/>
              </a:rPr>
              <a:t>Try it in Chrome or Edge Canary (Windows ML: Windows 11 24H2+)</a:t>
            </a:r>
          </a:p>
          <a:p>
            <a:pPr algn="l">
              <a:lnSpc>
                <a:spcPct val="115000"/>
              </a:lnSpc>
            </a:pPr>
            <a:r>
              <a:rPr sz="1600" b="0" i="0">
                <a:solidFill>
                  <a:srgbClr val="22D3EE"/>
                </a:solidFill>
                <a:latin typeface="Consolas"/>
              </a:rPr>
              <a:t>about://flags/#web-machine-learning-neural-network</a:t>
            </a:r>
          </a:p>
        </p:txBody>
      </p:sp>
      <p:sp>
        <p:nvSpPr>
          <p:cNvPr id="27" name="TextBox 26"/>
          <p:cNvSpPr txBox="1"/>
          <p:nvPr/>
        </p:nvSpPr>
        <p:spPr>
          <a:xfrm>
            <a:off x="548640" y="5349240"/>
            <a:ext cx="3931920" cy="457200"/>
          </a:xfrm>
          <a:prstGeom prst="rect">
            <a:avLst/>
          </a:prstGeom>
          <a:noFill/>
        </p:spPr>
        <p:txBody>
          <a:bodyPr wrap="square" lIns="0" rIns="0" tIns="18288" bIns="18288" anchor="t">
            <a:spAutoFit/>
          </a:bodyPr>
          <a:lstStyle/>
          <a:p>
            <a:pPr algn="l">
              <a:lnSpc>
                <a:spcPct val="112000"/>
              </a:lnSpc>
            </a:pPr>
            <a:r>
              <a:rPr sz="1500" b="0" i="0">
                <a:solidFill>
                  <a:srgbClr val="475569"/>
                </a:solidFill>
                <a:latin typeface="Arial"/>
              </a:rPr>
              <a:t>Install guide: </a:t>
            </a:r>
            <a:r>
              <a:rPr sz="1500" b="0" i="0">
                <a:solidFill>
                  <a:srgbClr val="0E7490"/>
                </a:solidFill>
                <a:latin typeface="Arial"/>
                <a:hlinkClick r:id="rId2"/>
              </a:rPr>
              <a:t>webnn.io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2 · WEBNN CODE</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Device selection: spec vs. Chromium</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21</a:t>
            </a:r>
          </a:p>
        </p:txBody>
      </p:sp>
      <p:sp>
        <p:nvSpPr>
          <p:cNvPr id="5" name="Rectangle 4"/>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6" name="Rectangle 5"/>
          <p:cNvSpPr/>
          <p:nvPr/>
        </p:nvSpPr>
        <p:spPr>
          <a:xfrm>
            <a:off x="9692640" y="489203"/>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L4  Prompt API</a:t>
            </a:r>
          </a:p>
        </p:txBody>
      </p:sp>
      <p:sp>
        <p:nvSpPr>
          <p:cNvPr id="7" name="Rectangle 6"/>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8" name="Rectangle 7"/>
          <p:cNvSpPr/>
          <p:nvPr/>
        </p:nvSpPr>
        <p:spPr>
          <a:xfrm>
            <a:off x="9692640" y="918971"/>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L2  Compute APIs</a:t>
            </a:r>
          </a:p>
        </p:txBody>
      </p:sp>
      <p:sp>
        <p:nvSpPr>
          <p:cNvPr id="9" name="Rectangle 8"/>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0" name="Rectangle 9"/>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1" name="Rounded Rectangle 10"/>
          <p:cNvSpPr/>
          <p:nvPr/>
        </p:nvSpPr>
        <p:spPr>
          <a:xfrm>
            <a:off x="548640" y="1691640"/>
            <a:ext cx="5440680" cy="288036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300" b="1" i="0">
                <a:solidFill>
                  <a:srgbClr val="22D3EE"/>
                </a:solidFill>
                <a:latin typeface="Arial"/>
              </a:rPr>
              <a:t>SPEC: no deviceType any more</a:t>
            </a:r>
          </a:p>
          <a:p>
            <a:pPr algn="l">
              <a:lnSpc>
                <a:spcPct val="110000"/>
              </a:lnSpc>
            </a:pPr>
            <a:r>
              <a:rPr sz="1550" b="0" i="0">
                <a:solidFill>
                  <a:srgbClr val="94A3B8"/>
                </a:solidFill>
                <a:latin typeface="Consolas"/>
              </a:rPr>
              <a:t>// The spec (CR Draft, Oct 2026)</a:t>
            </a:r>
          </a:p>
          <a:p>
            <a:pPr algn="l">
              <a:lnSpc>
                <a:spcPct val="110000"/>
              </a:lnSpc>
            </a:pPr>
            <a:r>
              <a:rPr sz="1550" b="0" i="0">
                <a:solidFill>
                  <a:srgbClr val="67E8F9"/>
                </a:solidFill>
                <a:latin typeface="Consolas"/>
              </a:rPr>
              <a:t>const</a:t>
            </a:r>
            <a:r>
              <a:rPr sz="1550" b="0" i="0">
                <a:solidFill>
                  <a:srgbClr val="E2E8F0"/>
                </a:solidFill>
                <a:latin typeface="Consolas"/>
              </a:rPr>
              <a:t> ctx = </a:t>
            </a:r>
            <a:r>
              <a:rPr sz="1550" b="0" i="0">
                <a:solidFill>
                  <a:srgbClr val="67E8F9"/>
                </a:solidFill>
                <a:latin typeface="Consolas"/>
              </a:rPr>
              <a:t>await</a:t>
            </a:r>
            <a:r>
              <a:rPr sz="1550" b="0" i="0">
                <a:solidFill>
                  <a:srgbClr val="E2E8F0"/>
                </a:solidFill>
                <a:latin typeface="Consolas"/>
              </a:rPr>
              <a:t> navigator.ml</a:t>
            </a:r>
          </a:p>
          <a:p>
            <a:pPr algn="l">
              <a:lnSpc>
                <a:spcPct val="110000"/>
              </a:lnSpc>
            </a:pPr>
            <a:r>
              <a:rPr sz="1550" b="0" i="0">
                <a:solidFill>
                  <a:srgbClr val="E2E8F0"/>
                </a:solidFill>
                <a:latin typeface="Consolas"/>
              </a:rPr>
              <a:t>  .createContext({</a:t>
            </a:r>
          </a:p>
          <a:p>
            <a:pPr algn="l">
              <a:lnSpc>
                <a:spcPct val="110000"/>
              </a:lnSpc>
            </a:pPr>
            <a:r>
              <a:rPr sz="1550" b="0" i="0">
                <a:solidFill>
                  <a:srgbClr val="E2E8F0"/>
                </a:solidFill>
                <a:latin typeface="Consolas"/>
              </a:rPr>
              <a:t>    powerPreference: </a:t>
            </a:r>
            <a:r>
              <a:rPr sz="1550" b="0" i="0">
                <a:solidFill>
                  <a:srgbClr val="FCD34D"/>
                </a:solidFill>
                <a:latin typeface="Consolas"/>
              </a:rPr>
              <a:t>'high-performance'</a:t>
            </a:r>
            <a:r>
              <a:rPr sz="1550" b="0" i="0">
                <a:solidFill>
                  <a:srgbClr val="E2E8F0"/>
                </a:solidFill>
                <a:latin typeface="Consolas"/>
              </a:rPr>
              <a:t>,</a:t>
            </a:r>
          </a:p>
          <a:p>
            <a:pPr algn="l">
              <a:lnSpc>
                <a:spcPct val="110000"/>
              </a:lnSpc>
            </a:pPr>
            <a:r>
              <a:rPr sz="1550" b="0" i="0">
                <a:solidFill>
                  <a:srgbClr val="E2E8F0"/>
                </a:solidFill>
                <a:latin typeface="Consolas"/>
              </a:rPr>
              <a:t>    accelerated: </a:t>
            </a:r>
            <a:r>
              <a:rPr sz="1550" b="0" i="0">
                <a:solidFill>
                  <a:srgbClr val="67E8F9"/>
                </a:solidFill>
                <a:latin typeface="Consolas"/>
              </a:rPr>
              <a:t>true</a:t>
            </a:r>
            <a:r>
              <a:rPr sz="1550" b="0" i="0">
                <a:solidFill>
                  <a:srgbClr val="E2E8F0"/>
                </a:solidFill>
                <a:latin typeface="Consolas"/>
              </a:rPr>
              <a:t>,</a:t>
            </a:r>
          </a:p>
          <a:p>
            <a:pPr algn="l">
              <a:lnSpc>
                <a:spcPct val="110000"/>
              </a:lnSpc>
            </a:pPr>
            <a:r>
              <a:rPr sz="1550" b="0" i="0">
                <a:solidFill>
                  <a:srgbClr val="E2E8F0"/>
                </a:solidFill>
                <a:latin typeface="Consolas"/>
              </a:rPr>
              <a:t>  });</a:t>
            </a:r>
          </a:p>
          <a:p>
            <a:pPr algn="l">
              <a:lnSpc>
                <a:spcPct val="110000"/>
              </a:lnSpc>
            </a:pPr>
            <a:r>
              <a:rPr sz="1550" b="0" i="0">
                <a:solidFill>
                  <a:srgbClr val="E2E8F0"/>
                </a:solidFill>
                <a:latin typeface="Consolas"/>
              </a:rPr>
              <a:t>ctx.accelerated; </a:t>
            </a:r>
            <a:r>
              <a:rPr sz="1550" b="0" i="0">
                <a:solidFill>
                  <a:srgbClr val="94A3B8"/>
                </a:solidFill>
                <a:latin typeface="Consolas"/>
              </a:rPr>
              <a:t>// got acceleration?</a:t>
            </a:r>
          </a:p>
        </p:txBody>
      </p:sp>
      <p:sp>
        <p:nvSpPr>
          <p:cNvPr id="12" name="Rounded Rectangle 11"/>
          <p:cNvSpPr/>
          <p:nvPr/>
        </p:nvSpPr>
        <p:spPr>
          <a:xfrm>
            <a:off x="6199632" y="1691640"/>
            <a:ext cx="5440680" cy="28346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300" b="1" i="0">
                <a:solidFill>
                  <a:srgbClr val="22D3EE"/>
                </a:solidFill>
                <a:latin typeface="Arial"/>
              </a:rPr>
              <a:t>CHROMIUM TODAY (behind the flag)</a:t>
            </a:r>
          </a:p>
          <a:p>
            <a:pPr algn="l">
              <a:lnSpc>
                <a:spcPct val="110000"/>
              </a:lnSpc>
            </a:pPr>
            <a:r>
              <a:rPr sz="1550" b="0" i="0">
                <a:solidFill>
                  <a:srgbClr val="94A3B8"/>
                </a:solidFill>
                <a:latin typeface="Consolas"/>
              </a:rPr>
              <a:t>// What Chromium implements today</a:t>
            </a:r>
          </a:p>
          <a:p>
            <a:pPr algn="l">
              <a:lnSpc>
                <a:spcPct val="110000"/>
              </a:lnSpc>
            </a:pPr>
            <a:r>
              <a:rPr sz="1550" b="0" i="0">
                <a:solidFill>
                  <a:srgbClr val="67E8F9"/>
                </a:solidFill>
                <a:latin typeface="Consolas"/>
              </a:rPr>
              <a:t>const</a:t>
            </a:r>
            <a:r>
              <a:rPr sz="1550" b="0" i="0">
                <a:solidFill>
                  <a:srgbClr val="E2E8F0"/>
                </a:solidFill>
                <a:latin typeface="Consolas"/>
              </a:rPr>
              <a:t> ctx = </a:t>
            </a:r>
            <a:r>
              <a:rPr sz="1550" b="0" i="0">
                <a:solidFill>
                  <a:srgbClr val="67E8F9"/>
                </a:solidFill>
                <a:latin typeface="Consolas"/>
              </a:rPr>
              <a:t>await</a:t>
            </a:r>
            <a:r>
              <a:rPr sz="1550" b="0" i="0">
                <a:solidFill>
                  <a:srgbClr val="E2E8F0"/>
                </a:solidFill>
                <a:latin typeface="Consolas"/>
              </a:rPr>
              <a:t> navigator.ml</a:t>
            </a:r>
          </a:p>
          <a:p>
            <a:pPr algn="l">
              <a:lnSpc>
                <a:spcPct val="110000"/>
              </a:lnSpc>
            </a:pPr>
            <a:r>
              <a:rPr sz="1550" b="0" i="0">
                <a:solidFill>
                  <a:srgbClr val="E2E8F0"/>
                </a:solidFill>
                <a:latin typeface="Consolas"/>
              </a:rPr>
              <a:t>  .createContext({ deviceType: </a:t>
            </a:r>
            <a:r>
              <a:rPr sz="1550" b="0" i="0">
                <a:solidFill>
                  <a:srgbClr val="FCD34D"/>
                </a:solidFill>
                <a:latin typeface="Consolas"/>
              </a:rPr>
              <a:t>'npu'</a:t>
            </a:r>
            <a:r>
              <a:rPr sz="1550" b="0" i="0">
                <a:solidFill>
                  <a:srgbClr val="E2E8F0"/>
                </a:solidFill>
                <a:latin typeface="Consolas"/>
              </a:rPr>
              <a:t> });</a:t>
            </a:r>
          </a:p>
          <a:p>
            <a:pPr algn="l">
              <a:lnSpc>
                <a:spcPct val="110000"/>
              </a:lnSpc>
            </a:pPr>
            <a:r>
              <a:rPr sz="1550" b="0" i="0">
                <a:solidFill>
                  <a:srgbClr val="94A3B8"/>
                </a:solidFill>
                <a:latin typeface="Consolas"/>
              </a:rPr>
              <a:t>// deviceType: 'cpu' | 'gpu' | 'npu'</a:t>
            </a:r>
          </a:p>
          <a:p>
            <a:pPr algn="l">
              <a:lnSpc>
                <a:spcPct val="110000"/>
              </a:lnSpc>
            </a:pPr>
            <a:r>
              <a:rPr sz="1550" b="0" i="0">
                <a:solidFill>
                  <a:srgbClr val="94A3B8"/>
                </a:solidFill>
                <a:latin typeface="Consolas"/>
              </a:rPr>
              <a:t>// ORT Web + Transformers.js pass it too</a:t>
            </a:r>
          </a:p>
        </p:txBody>
      </p:sp>
      <p:sp>
        <p:nvSpPr>
          <p:cNvPr id="13" name="Rounded Rectangle 12"/>
          <p:cNvSpPr/>
          <p:nvPr/>
        </p:nvSpPr>
        <p:spPr>
          <a:xfrm>
            <a:off x="548640" y="4754880"/>
            <a:ext cx="11091672" cy="150876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300" b="1" i="0">
                <a:solidFill>
                  <a:srgbClr val="22D3EE"/>
                </a:solidFill>
                <a:latin typeface="Arial"/>
              </a:rPr>
              <a:t>Feature-detect both shapes, never crash — as the playground does</a:t>
            </a:r>
          </a:p>
          <a:p>
            <a:pPr algn="l">
              <a:lnSpc>
                <a:spcPct val="110000"/>
              </a:lnSpc>
            </a:pPr>
            <a:r>
              <a:rPr sz="1500" b="0" i="0">
                <a:solidFill>
                  <a:srgbClr val="67E8F9"/>
                </a:solidFill>
                <a:latin typeface="Consolas"/>
              </a:rPr>
              <a:t>if</a:t>
            </a:r>
            <a:r>
              <a:rPr sz="1500" b="0" i="0">
                <a:solidFill>
                  <a:srgbClr val="E2E8F0"/>
                </a:solidFill>
                <a:latin typeface="Consolas"/>
              </a:rPr>
              <a:t> (</a:t>
            </a:r>
            <a:r>
              <a:rPr sz="1500" b="0" i="0">
                <a:solidFill>
                  <a:srgbClr val="FCD34D"/>
                </a:solidFill>
                <a:latin typeface="Consolas"/>
              </a:rPr>
              <a:t>'ml'</a:t>
            </a:r>
            <a:r>
              <a:rPr sz="1500" b="0" i="0">
                <a:solidFill>
                  <a:srgbClr val="E2E8F0"/>
                </a:solidFill>
                <a:latin typeface="Consolas"/>
              </a:rPr>
              <a:t> </a:t>
            </a:r>
            <a:r>
              <a:rPr sz="1500" b="0" i="0">
                <a:solidFill>
                  <a:srgbClr val="67E8F9"/>
                </a:solidFill>
                <a:latin typeface="Consolas"/>
              </a:rPr>
              <a:t>in</a:t>
            </a:r>
            <a:r>
              <a:rPr sz="1500" b="0" i="0">
                <a:solidFill>
                  <a:srgbClr val="E2E8F0"/>
                </a:solidFill>
                <a:latin typeface="Consolas"/>
              </a:rPr>
              <a:t> navigator) {</a:t>
            </a:r>
          </a:p>
          <a:p>
            <a:pPr algn="l">
              <a:lnSpc>
                <a:spcPct val="110000"/>
              </a:lnSpc>
            </a:pPr>
            <a:r>
              <a:rPr sz="1500" b="0" i="0">
                <a:solidFill>
                  <a:srgbClr val="E2E8F0"/>
                </a:solidFill>
                <a:latin typeface="Consolas"/>
              </a:rPr>
              <a:t>  </a:t>
            </a:r>
            <a:r>
              <a:rPr sz="1500" b="0" i="0">
                <a:solidFill>
                  <a:srgbClr val="67E8F9"/>
                </a:solidFill>
                <a:latin typeface="Consolas"/>
              </a:rPr>
              <a:t>try</a:t>
            </a:r>
            <a:r>
              <a:rPr sz="1500" b="0" i="0">
                <a:solidFill>
                  <a:srgbClr val="E2E8F0"/>
                </a:solidFill>
                <a:latin typeface="Consolas"/>
              </a:rPr>
              <a:t> { ctx = </a:t>
            </a:r>
            <a:r>
              <a:rPr sz="1500" b="0" i="0">
                <a:solidFill>
                  <a:srgbClr val="67E8F9"/>
                </a:solidFill>
                <a:latin typeface="Consolas"/>
              </a:rPr>
              <a:t>await</a:t>
            </a:r>
            <a:r>
              <a:rPr sz="1500" b="0" i="0">
                <a:solidFill>
                  <a:srgbClr val="E2E8F0"/>
                </a:solidFill>
                <a:latin typeface="Consolas"/>
              </a:rPr>
              <a:t> navigator.ml.createContext({ deviceType: </a:t>
            </a:r>
            <a:r>
              <a:rPr sz="1500" b="0" i="0">
                <a:solidFill>
                  <a:srgbClr val="FCD34D"/>
                </a:solidFill>
                <a:latin typeface="Consolas"/>
              </a:rPr>
              <a:t>'npu'</a:t>
            </a:r>
            <a:r>
              <a:rPr sz="1500" b="0" i="0">
                <a:solidFill>
                  <a:srgbClr val="E2E8F0"/>
                </a:solidFill>
                <a:latin typeface="Consolas"/>
              </a:rPr>
              <a:t> }); }</a:t>
            </a:r>
          </a:p>
          <a:p>
            <a:pPr algn="l">
              <a:lnSpc>
                <a:spcPct val="110000"/>
              </a:lnSpc>
            </a:pPr>
            <a:r>
              <a:rPr sz="1500" b="0" i="0">
                <a:solidFill>
                  <a:srgbClr val="E2E8F0"/>
                </a:solidFill>
                <a:latin typeface="Consolas"/>
              </a:rPr>
              <a:t>  </a:t>
            </a:r>
            <a:r>
              <a:rPr sz="1500" b="0" i="0">
                <a:solidFill>
                  <a:srgbClr val="67E8F9"/>
                </a:solidFill>
                <a:latin typeface="Consolas"/>
              </a:rPr>
              <a:t>catch</a:t>
            </a:r>
            <a:r>
              <a:rPr sz="1500" b="0" i="0">
                <a:solidFill>
                  <a:srgbClr val="E2E8F0"/>
                </a:solidFill>
                <a:latin typeface="Consolas"/>
              </a:rPr>
              <a:t> (e) { showReason(</a:t>
            </a:r>
            <a:r>
              <a:rPr sz="1500" b="0" i="0">
                <a:solidFill>
                  <a:srgbClr val="FCD34D"/>
                </a:solidFill>
                <a:latin typeface="Consolas"/>
              </a:rPr>
              <a:t>`${e.name}: ${e.message}`</a:t>
            </a:r>
            <a:r>
              <a:rPr sz="1500" b="0" i="0">
                <a:solidFill>
                  <a:srgbClr val="E2E8F0"/>
                </a:solidFill>
                <a:latin typeface="Consolas"/>
              </a:rPr>
              <a:t>); }  </a:t>
            </a:r>
            <a:r>
              <a:rPr sz="1500" b="0" i="0">
                <a:solidFill>
                  <a:srgbClr val="94A3B8"/>
                </a:solidFill>
                <a:latin typeface="Consolas"/>
              </a:rPr>
              <a:t>// fall back, show why</a:t>
            </a:r>
          </a:p>
          <a:p>
            <a:pPr algn="l">
              <a:lnSpc>
                <a:spcPct val="110000"/>
              </a:lnSpc>
            </a:pPr>
            <a:r>
              <a:rPr sz="1500" b="0" i="0">
                <a:solidFill>
                  <a:srgbClr val="E2E8F0"/>
                </a:solidFill>
                <a:latin typeface="Consolas"/>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1</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L1 · Under WebNN: the OS ML stack</a:t>
            </a:r>
          </a:p>
        </p:txBody>
      </p:sp>
      <p:sp>
        <p:nvSpPr>
          <p:cNvPr id="4" name="TextBox 3"/>
          <p:cNvSpPr txBox="1"/>
          <p:nvPr/>
        </p:nvSpPr>
        <p:spPr>
          <a:xfrm>
            <a:off x="548640" y="6400800"/>
            <a:ext cx="10241280" cy="274320"/>
          </a:xfrm>
          <a:prstGeom prst="rect">
            <a:avLst/>
          </a:prstGeom>
          <a:noFill/>
        </p:spPr>
        <p:txBody>
          <a:bodyPr wrap="square" lIns="0" rIns="0" tIns="18288" bIns="18288" anchor="t">
            <a:spAutoFit/>
          </a:bodyPr>
          <a:lstStyle/>
          <a:p>
            <a:pPr algn="l">
              <a:lnSpc>
                <a:spcPct val="112000"/>
              </a:lnSpc>
            </a:pPr>
            <a:r>
              <a:rPr sz="1200" b="0" i="0">
                <a:solidFill>
                  <a:srgbClr val="475569"/>
                </a:solidFill>
                <a:latin typeface="Arial"/>
              </a:rPr>
              <a:t>Source: webnn.io/en/api-reference/browser-compatibility/deviceselection and /windowsml, webnn.io/en/faq/hardware — as of 16 Oct 2026</a:t>
            </a:r>
          </a:p>
        </p:txBody>
      </p:sp>
      <p:sp>
        <p:nvSpPr>
          <p:cNvPr id="5" name="TextBox 4"/>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22</a:t>
            </a:r>
          </a:p>
        </p:txBody>
      </p:sp>
      <p:sp>
        <p:nvSpPr>
          <p:cNvPr id="6" name="Rectangle 5"/>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7" name="Rectangle 6"/>
          <p:cNvSpPr/>
          <p:nvPr/>
        </p:nvSpPr>
        <p:spPr>
          <a:xfrm>
            <a:off x="9692640" y="489203"/>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L4  Prompt API</a:t>
            </a:r>
          </a:p>
        </p:txBody>
      </p:sp>
      <p:sp>
        <p:nvSpPr>
          <p:cNvPr id="8" name="Rectangle 7"/>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9" name="Rectangle 8"/>
          <p:cNvSpPr/>
          <p:nvPr/>
        </p:nvSpPr>
        <p:spPr>
          <a:xfrm>
            <a:off x="9692640" y="918971"/>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L2  Compute APIs</a:t>
            </a:r>
          </a:p>
        </p:txBody>
      </p:sp>
      <p:sp>
        <p:nvSpPr>
          <p:cNvPr id="10" name="Rectangle 9"/>
          <p:cNvSpPr/>
          <p:nvPr/>
        </p:nvSpPr>
        <p:spPr>
          <a:xfrm>
            <a:off x="9692640" y="1133856"/>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L1  OS ML APIs</a:t>
            </a:r>
          </a:p>
        </p:txBody>
      </p:sp>
      <p:sp>
        <p:nvSpPr>
          <p:cNvPr id="11" name="Rectangle 10"/>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2" name="Rounded Rectangle 11"/>
          <p:cNvSpPr/>
          <p:nvPr/>
        </p:nvSpPr>
        <p:spPr>
          <a:xfrm>
            <a:off x="548640" y="1691640"/>
            <a:ext cx="11091672" cy="685800"/>
          </a:xfrm>
          <a:prstGeom prst="roundRect">
            <a:avLst>
              <a:gd name="adj" fmla="val 15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691640"/>
            <a:ext cx="11091672" cy="685800"/>
          </a:xfrm>
          <a:prstGeom prst="rect">
            <a:avLst/>
          </a:prstGeom>
          <a:noFill/>
        </p:spPr>
        <p:txBody>
          <a:bodyPr wrap="square" lIns="0" rIns="0" tIns="18288" bIns="18288" anchor="ctr">
            <a:spAutoFit/>
          </a:bodyPr>
          <a:lstStyle/>
          <a:p>
            <a:pPr algn="ctr">
              <a:lnSpc>
                <a:spcPct val="112000"/>
              </a:lnSpc>
            </a:pPr>
            <a:r>
              <a:rPr sz="2200" b="1" i="0">
                <a:solidFill>
                  <a:srgbClr val="FFFFFF"/>
                </a:solidFill>
                <a:latin typeface="Arial"/>
              </a:rPr>
              <a:t>WebNN in Chromium</a:t>
            </a:r>
          </a:p>
        </p:txBody>
      </p:sp>
      <p:cxnSp>
        <p:nvCxnSpPr>
          <p:cNvPr id="14" name="Connector 13"/>
          <p:cNvCxnSpPr/>
          <p:nvPr/>
        </p:nvCxnSpPr>
        <p:spPr>
          <a:xfrm>
            <a:off x="2331720" y="2395728"/>
            <a:ext cx="0" cy="393192"/>
          </a:xfrm>
          <a:prstGeom prst="line">
            <a:avLst/>
          </a:prstGeom>
          <a:ln w="3175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2834640"/>
            <a:ext cx="3566160" cy="33375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7240" y="2944368"/>
            <a:ext cx="3154680" cy="3154680"/>
          </a:xfrm>
          <a:prstGeom prst="rect">
            <a:avLst/>
          </a:prstGeom>
          <a:noFill/>
        </p:spPr>
        <p:txBody>
          <a:bodyPr wrap="square" lIns="0" rIns="0" tIns="18288" bIns="18288" anchor="t">
            <a:spAutoFit/>
          </a:bodyPr>
          <a:lstStyle/>
          <a:p>
            <a:pPr algn="l">
              <a:lnSpc>
                <a:spcPct val="110000"/>
              </a:lnSpc>
            </a:pPr>
            <a:r>
              <a:rPr sz="1600" b="1" i="0">
                <a:solidFill>
                  <a:srgbClr val="475569"/>
                </a:solidFill>
                <a:latin typeface="Arial"/>
              </a:rPr>
              <a:t>Windows 11 24H2+</a:t>
            </a:r>
          </a:p>
          <a:p>
            <a:pPr algn="l">
              <a:lnSpc>
                <a:spcPct val="110000"/>
              </a:lnSpc>
              <a:spcBef>
                <a:spcPts val="600"/>
              </a:spcBef>
            </a:pPr>
            <a:r>
              <a:rPr sz="2200" b="1" i="0">
                <a:solidFill>
                  <a:srgbClr val="0E7490"/>
                </a:solidFill>
                <a:latin typeface="Arial"/>
              </a:rPr>
              <a:t>Windows ML / ONNX Runtime</a:t>
            </a:r>
          </a:p>
          <a:p>
            <a:pPr algn="l">
              <a:lnSpc>
                <a:spcPct val="110000"/>
              </a:lnSpc>
              <a:spcBef>
                <a:spcPts val="600"/>
              </a:spcBef>
            </a:pPr>
            <a:r>
              <a:rPr sz="1700" b="0" i="0">
                <a:solidFill>
                  <a:srgbClr val="0F172A"/>
                </a:solidFill>
                <a:latin typeface="Arial"/>
              </a:rPr>
              <a:t>▸  NPU and GPU via vendor EPs</a:t>
            </a:r>
          </a:p>
          <a:p>
            <a:pPr algn="l">
              <a:lnSpc>
                <a:spcPct val="110000"/>
              </a:lnSpc>
              <a:spcBef>
                <a:spcPts val="600"/>
              </a:spcBef>
            </a:pPr>
            <a:r>
              <a:rPr sz="1700" b="0" i="0">
                <a:solidFill>
                  <a:srgbClr val="0F172A"/>
                </a:solidFill>
                <a:latin typeface="Arial"/>
              </a:rPr>
              <a:t>▸  EP order: NPU &gt; GPU &gt; CPU</a:t>
            </a:r>
          </a:p>
          <a:p>
            <a:pPr algn="l">
              <a:lnSpc>
                <a:spcPct val="110000"/>
              </a:lnSpc>
              <a:spcBef>
                <a:spcPts val="600"/>
              </a:spcBef>
            </a:pPr>
            <a:r>
              <a:rPr sz="1700" b="0" i="0">
                <a:solidFill>
                  <a:srgbClr val="0F172A"/>
                </a:solidFill>
                <a:latin typeface="Arial"/>
              </a:rPr>
              <a:t>▸  WebGPU EP ranked before DirectML</a:t>
            </a:r>
          </a:p>
          <a:p>
            <a:pPr algn="l">
              <a:lnSpc>
                <a:spcPct val="110000"/>
              </a:lnSpc>
              <a:spcBef>
                <a:spcPts val="600"/>
              </a:spcBef>
            </a:pPr>
            <a:r>
              <a:rPr sz="1700" b="0" i="0">
                <a:solidFill>
                  <a:srgbClr val="0F172A"/>
                </a:solidFill>
                <a:latin typeface="Arial"/>
              </a:rPr>
              <a:t>▸  CPU via LiteRT / XNNPACK</a:t>
            </a:r>
          </a:p>
        </p:txBody>
      </p:sp>
      <p:cxnSp>
        <p:nvCxnSpPr>
          <p:cNvPr id="17" name="Connector 16"/>
          <p:cNvCxnSpPr/>
          <p:nvPr/>
        </p:nvCxnSpPr>
        <p:spPr>
          <a:xfrm>
            <a:off x="6080759" y="2395728"/>
            <a:ext cx="0" cy="393192"/>
          </a:xfrm>
          <a:prstGeom prst="line">
            <a:avLst/>
          </a:prstGeom>
          <a:ln w="3175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97679" y="2834640"/>
            <a:ext cx="3566160" cy="33375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26279" y="2944368"/>
            <a:ext cx="3154680" cy="3154680"/>
          </a:xfrm>
          <a:prstGeom prst="rect">
            <a:avLst/>
          </a:prstGeom>
          <a:noFill/>
        </p:spPr>
        <p:txBody>
          <a:bodyPr wrap="square" lIns="0" rIns="0" tIns="18288" bIns="18288" anchor="t">
            <a:spAutoFit/>
          </a:bodyPr>
          <a:lstStyle/>
          <a:p>
            <a:pPr algn="l">
              <a:lnSpc>
                <a:spcPct val="110000"/>
              </a:lnSpc>
            </a:pPr>
            <a:r>
              <a:rPr sz="1600" b="1" i="0">
                <a:solidFill>
                  <a:srgbClr val="475569"/>
                </a:solidFill>
                <a:latin typeface="Arial"/>
              </a:rPr>
              <a:t>macOS 14.4+, Apple Silicon</a:t>
            </a:r>
          </a:p>
          <a:p>
            <a:pPr algn="l">
              <a:lnSpc>
                <a:spcPct val="110000"/>
              </a:lnSpc>
              <a:spcBef>
                <a:spcPts val="600"/>
              </a:spcBef>
            </a:pPr>
            <a:r>
              <a:rPr sz="2200" b="1" i="0">
                <a:solidFill>
                  <a:srgbClr val="0E7490"/>
                </a:solidFill>
                <a:latin typeface="Arial"/>
              </a:rPr>
              <a:t>Core ML</a:t>
            </a:r>
          </a:p>
          <a:p>
            <a:pPr algn="l">
              <a:lnSpc>
                <a:spcPct val="110000"/>
              </a:lnSpc>
              <a:spcBef>
                <a:spcPts val="600"/>
              </a:spcBef>
            </a:pPr>
            <a:r>
              <a:rPr sz="1700" b="0" i="0">
                <a:solidFill>
                  <a:srgbClr val="0F172A"/>
                </a:solidFill>
                <a:latin typeface="Arial"/>
              </a:rPr>
              <a:t>▸  deviceType 'npu' → CPU + Neural Engine</a:t>
            </a:r>
          </a:p>
          <a:p>
            <a:pPr algn="l">
              <a:lnSpc>
                <a:spcPct val="110000"/>
              </a:lnSpc>
              <a:spcBef>
                <a:spcPts val="600"/>
              </a:spcBef>
            </a:pPr>
            <a:r>
              <a:rPr sz="1700" b="0" i="0">
                <a:solidFill>
                  <a:srgbClr val="0F172A"/>
                </a:solidFill>
                <a:latin typeface="Arial"/>
              </a:rPr>
              <a:t>▸  otherwise all compute units</a:t>
            </a:r>
          </a:p>
        </p:txBody>
      </p:sp>
      <p:cxnSp>
        <p:nvCxnSpPr>
          <p:cNvPr id="20" name="Connector 19"/>
          <p:cNvCxnSpPr/>
          <p:nvPr/>
        </p:nvCxnSpPr>
        <p:spPr>
          <a:xfrm>
            <a:off x="9829799" y="2395728"/>
            <a:ext cx="0" cy="393192"/>
          </a:xfrm>
          <a:prstGeom prst="line">
            <a:avLst/>
          </a:prstGeom>
          <a:ln w="3175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46719" y="2834640"/>
            <a:ext cx="3566160" cy="33375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75319" y="2944368"/>
            <a:ext cx="3154680" cy="3154680"/>
          </a:xfrm>
          <a:prstGeom prst="rect">
            <a:avLst/>
          </a:prstGeom>
          <a:noFill/>
        </p:spPr>
        <p:txBody>
          <a:bodyPr wrap="square" lIns="0" rIns="0" tIns="18288" bIns="18288" anchor="t">
            <a:spAutoFit/>
          </a:bodyPr>
          <a:lstStyle/>
          <a:p>
            <a:pPr algn="l">
              <a:lnSpc>
                <a:spcPct val="110000"/>
              </a:lnSpc>
            </a:pPr>
            <a:r>
              <a:rPr sz="1600" b="1" i="0">
                <a:solidFill>
                  <a:srgbClr val="475569"/>
                </a:solidFill>
                <a:latin typeface="Arial"/>
              </a:rPr>
              <a:t>ChromeOS · Linux · Android</a:t>
            </a:r>
          </a:p>
          <a:p>
            <a:pPr algn="l">
              <a:lnSpc>
                <a:spcPct val="110000"/>
              </a:lnSpc>
              <a:spcBef>
                <a:spcPts val="600"/>
              </a:spcBef>
            </a:pPr>
            <a:r>
              <a:rPr sz="2200" b="1" i="0">
                <a:solidFill>
                  <a:srgbClr val="0E7490"/>
                </a:solidFill>
                <a:latin typeface="Arial"/>
              </a:rPr>
              <a:t>LiteRT (ex-TFLite)</a:t>
            </a:r>
          </a:p>
          <a:p>
            <a:pPr algn="l">
              <a:lnSpc>
                <a:spcPct val="110000"/>
              </a:lnSpc>
              <a:spcBef>
                <a:spcPts val="600"/>
              </a:spcBef>
            </a:pPr>
            <a:r>
              <a:rPr sz="1700" b="0" i="0">
                <a:solidFill>
                  <a:srgbClr val="0F172A"/>
                </a:solidFill>
                <a:latin typeface="Arial"/>
              </a:rPr>
              <a:t>▸  Also the fallback everywhere</a:t>
            </a:r>
          </a:p>
          <a:p>
            <a:pPr algn="l">
              <a:lnSpc>
                <a:spcPct val="110000"/>
              </a:lnSpc>
              <a:spcBef>
                <a:spcPts val="600"/>
              </a:spcBef>
            </a:pPr>
            <a:r>
              <a:rPr sz="1700" b="0" i="0">
                <a:solidFill>
                  <a:srgbClr val="0F172A"/>
                </a:solidFill>
                <a:latin typeface="Arial"/>
              </a:rPr>
              <a:t>▸  NPU requests run on CPU (XNNPACK) for now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DEEP DIVE · WEBNN × TRANSFORMERS.JS</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How 'webnn-npu' reaches the NPU</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23</a:t>
            </a:r>
          </a:p>
        </p:txBody>
      </p:sp>
      <p:sp>
        <p:nvSpPr>
          <p:cNvPr id="5" name="Rounded Rectangle 4"/>
          <p:cNvSpPr/>
          <p:nvPr/>
        </p:nvSpPr>
        <p:spPr>
          <a:xfrm>
            <a:off x="548640" y="1600200"/>
            <a:ext cx="1481328" cy="685800"/>
          </a:xfrm>
          <a:prstGeom prst="roundRect">
            <a:avLst>
              <a:gd name="adj" fmla="val 12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600200"/>
            <a:ext cx="1481328" cy="685800"/>
          </a:xfrm>
          <a:prstGeom prst="rect">
            <a:avLst/>
          </a:prstGeom>
          <a:noFill/>
        </p:spPr>
        <p:txBody>
          <a:bodyPr wrap="square" lIns="45720" rIns="45720" tIns="27432" bIns="27432" anchor="ctr">
            <a:spAutoFit/>
          </a:bodyPr>
          <a:lstStyle/>
          <a:p>
            <a:pPr algn="ctr">
              <a:lnSpc>
                <a:spcPct val="100000"/>
              </a:lnSpc>
            </a:pPr>
            <a:r>
              <a:rPr sz="1400" b="1" i="0">
                <a:solidFill>
                  <a:srgbClr val="FFFFFF"/>
                </a:solidFill>
                <a:latin typeface="Arial"/>
              </a:rPr>
              <a:t>Your code</a:t>
            </a:r>
          </a:p>
        </p:txBody>
      </p:sp>
      <p:cxnSp>
        <p:nvCxnSpPr>
          <p:cNvPr id="7" name="Connector 6"/>
          <p:cNvCxnSpPr/>
          <p:nvPr/>
        </p:nvCxnSpPr>
        <p:spPr>
          <a:xfrm>
            <a:off x="1289304" y="2286000"/>
            <a:ext cx="0" cy="3703320"/>
          </a:xfrm>
          <a:prstGeom prst="line">
            <a:avLst/>
          </a:prstGeom>
          <a:ln w="19050">
            <a:solidFill>
              <a:srgbClr val="CBD5E1"/>
            </a:solidFill>
            <a:prstDash val="dash"/>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85416" y="1600200"/>
            <a:ext cx="1481328" cy="685800"/>
          </a:xfrm>
          <a:prstGeom prst="roundRect">
            <a:avLst>
              <a:gd name="adj" fmla="val 12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85416" y="1600200"/>
            <a:ext cx="1481328" cy="685800"/>
          </a:xfrm>
          <a:prstGeom prst="rect">
            <a:avLst/>
          </a:prstGeom>
          <a:noFill/>
        </p:spPr>
        <p:txBody>
          <a:bodyPr wrap="square" lIns="45720" rIns="45720" tIns="27432" bIns="27432" anchor="ctr">
            <a:spAutoFit/>
          </a:bodyPr>
          <a:lstStyle/>
          <a:p>
            <a:pPr algn="ctr">
              <a:lnSpc>
                <a:spcPct val="100000"/>
              </a:lnSpc>
            </a:pPr>
            <a:r>
              <a:rPr sz="1400" b="1" i="0">
                <a:solidFill>
                  <a:srgbClr val="FFFFFF"/>
                </a:solidFill>
                <a:latin typeface="Arial"/>
              </a:rPr>
              <a:t>Transformers.js</a:t>
            </a:r>
          </a:p>
        </p:txBody>
      </p:sp>
      <p:cxnSp>
        <p:nvCxnSpPr>
          <p:cNvPr id="10" name="Connector 9"/>
          <p:cNvCxnSpPr/>
          <p:nvPr/>
        </p:nvCxnSpPr>
        <p:spPr>
          <a:xfrm>
            <a:off x="2926080" y="2286000"/>
            <a:ext cx="0" cy="3703320"/>
          </a:xfrm>
          <a:prstGeom prst="line">
            <a:avLst/>
          </a:prstGeom>
          <a:ln w="19050">
            <a:solidFill>
              <a:srgbClr val="CBD5E1"/>
            </a:solidFill>
            <a:prstDash val="dash"/>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822191" y="1600200"/>
            <a:ext cx="1481328" cy="685800"/>
          </a:xfrm>
          <a:prstGeom prst="roundRect">
            <a:avLst>
              <a:gd name="adj" fmla="val 12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822191" y="1600200"/>
            <a:ext cx="1481328" cy="685800"/>
          </a:xfrm>
          <a:prstGeom prst="rect">
            <a:avLst/>
          </a:prstGeom>
          <a:noFill/>
        </p:spPr>
        <p:txBody>
          <a:bodyPr wrap="square" lIns="45720" rIns="45720" tIns="27432" bIns="27432" anchor="ctr">
            <a:spAutoFit/>
          </a:bodyPr>
          <a:lstStyle/>
          <a:p>
            <a:pPr algn="ctr">
              <a:lnSpc>
                <a:spcPct val="100000"/>
              </a:lnSpc>
            </a:pPr>
            <a:r>
              <a:rPr sz="1400" b="1" i="0">
                <a:solidFill>
                  <a:srgbClr val="FFFFFF"/>
                </a:solidFill>
                <a:latin typeface="Arial"/>
              </a:rPr>
              <a:t>ONNX Runtime Web</a:t>
            </a:r>
          </a:p>
        </p:txBody>
      </p:sp>
      <p:cxnSp>
        <p:nvCxnSpPr>
          <p:cNvPr id="13" name="Connector 12"/>
          <p:cNvCxnSpPr/>
          <p:nvPr/>
        </p:nvCxnSpPr>
        <p:spPr>
          <a:xfrm>
            <a:off x="4562856" y="2286000"/>
            <a:ext cx="0" cy="3703320"/>
          </a:xfrm>
          <a:prstGeom prst="line">
            <a:avLst/>
          </a:prstGeom>
          <a:ln w="19050">
            <a:solidFill>
              <a:srgbClr val="CBD5E1"/>
            </a:solidFill>
            <a:prstDash val="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58968" y="1600200"/>
            <a:ext cx="1481328" cy="685800"/>
          </a:xfrm>
          <a:prstGeom prst="roundRect">
            <a:avLst>
              <a:gd name="adj" fmla="val 12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58968" y="1600200"/>
            <a:ext cx="1481328" cy="685800"/>
          </a:xfrm>
          <a:prstGeom prst="rect">
            <a:avLst/>
          </a:prstGeom>
          <a:noFill/>
        </p:spPr>
        <p:txBody>
          <a:bodyPr wrap="square" lIns="45720" rIns="45720" tIns="27432" bIns="27432" anchor="ctr">
            <a:spAutoFit/>
          </a:bodyPr>
          <a:lstStyle/>
          <a:p>
            <a:pPr algn="ctr">
              <a:lnSpc>
                <a:spcPct val="100000"/>
              </a:lnSpc>
            </a:pPr>
            <a:r>
              <a:rPr sz="1400" b="1" i="0">
                <a:solidFill>
                  <a:srgbClr val="FFFFFF"/>
                </a:solidFill>
                <a:latin typeface="Arial"/>
              </a:rPr>
              <a:t>WebNN EP</a:t>
            </a:r>
          </a:p>
        </p:txBody>
      </p:sp>
      <p:cxnSp>
        <p:nvCxnSpPr>
          <p:cNvPr id="16" name="Connector 15"/>
          <p:cNvCxnSpPr/>
          <p:nvPr/>
        </p:nvCxnSpPr>
        <p:spPr>
          <a:xfrm>
            <a:off x="6199631" y="2286000"/>
            <a:ext cx="0" cy="3703320"/>
          </a:xfrm>
          <a:prstGeom prst="line">
            <a:avLst/>
          </a:prstGeom>
          <a:ln w="19050">
            <a:solidFill>
              <a:srgbClr val="CBD5E1"/>
            </a:solidFill>
            <a:prstDash val="dash"/>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095744" y="1600200"/>
            <a:ext cx="1481328" cy="685800"/>
          </a:xfrm>
          <a:prstGeom prst="roundRect">
            <a:avLst>
              <a:gd name="adj" fmla="val 12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95744" y="1600200"/>
            <a:ext cx="1481328" cy="685800"/>
          </a:xfrm>
          <a:prstGeom prst="rect">
            <a:avLst/>
          </a:prstGeom>
          <a:noFill/>
        </p:spPr>
        <p:txBody>
          <a:bodyPr wrap="square" lIns="45720" rIns="45720" tIns="27432" bIns="27432" anchor="ctr">
            <a:spAutoFit/>
          </a:bodyPr>
          <a:lstStyle/>
          <a:p>
            <a:pPr algn="ctr">
              <a:lnSpc>
                <a:spcPct val="100000"/>
              </a:lnSpc>
            </a:pPr>
            <a:r>
              <a:rPr sz="1400" b="1" i="0">
                <a:solidFill>
                  <a:srgbClr val="FFFFFF"/>
                </a:solidFill>
                <a:latin typeface="Arial"/>
              </a:rPr>
              <a:t>navigator.ml</a:t>
            </a:r>
          </a:p>
        </p:txBody>
      </p:sp>
      <p:cxnSp>
        <p:nvCxnSpPr>
          <p:cNvPr id="19" name="Connector 18"/>
          <p:cNvCxnSpPr/>
          <p:nvPr/>
        </p:nvCxnSpPr>
        <p:spPr>
          <a:xfrm>
            <a:off x="7836408" y="2286000"/>
            <a:ext cx="0" cy="3703320"/>
          </a:xfrm>
          <a:prstGeom prst="line">
            <a:avLst/>
          </a:prstGeom>
          <a:ln w="19050">
            <a:solidFill>
              <a:srgbClr val="CBD5E1"/>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32519" y="1600200"/>
            <a:ext cx="1481328" cy="685800"/>
          </a:xfrm>
          <a:prstGeom prst="roundRect">
            <a:avLst>
              <a:gd name="adj" fmla="val 12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732519" y="1600200"/>
            <a:ext cx="1481328" cy="685800"/>
          </a:xfrm>
          <a:prstGeom prst="rect">
            <a:avLst/>
          </a:prstGeom>
          <a:noFill/>
        </p:spPr>
        <p:txBody>
          <a:bodyPr wrap="square" lIns="45720" rIns="45720" tIns="27432" bIns="27432" anchor="ctr">
            <a:spAutoFit/>
          </a:bodyPr>
          <a:lstStyle/>
          <a:p>
            <a:pPr algn="ctr">
              <a:lnSpc>
                <a:spcPct val="100000"/>
              </a:lnSpc>
            </a:pPr>
            <a:r>
              <a:rPr sz="1400" b="1" i="0">
                <a:solidFill>
                  <a:srgbClr val="FFFFFF"/>
                </a:solidFill>
                <a:latin typeface="Arial"/>
              </a:rPr>
              <a:t>Windows ML / Core ML</a:t>
            </a:r>
          </a:p>
        </p:txBody>
      </p:sp>
      <p:cxnSp>
        <p:nvCxnSpPr>
          <p:cNvPr id="22" name="Connector 21"/>
          <p:cNvCxnSpPr/>
          <p:nvPr/>
        </p:nvCxnSpPr>
        <p:spPr>
          <a:xfrm>
            <a:off x="9473184" y="2286000"/>
            <a:ext cx="0" cy="3703320"/>
          </a:xfrm>
          <a:prstGeom prst="line">
            <a:avLst/>
          </a:prstGeom>
          <a:ln w="19050">
            <a:solidFill>
              <a:srgbClr val="CBD5E1"/>
            </a:solidFill>
            <a:prstDash val="dash"/>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369296" y="1600200"/>
            <a:ext cx="1481328" cy="685800"/>
          </a:xfrm>
          <a:prstGeom prst="roundRect">
            <a:avLst>
              <a:gd name="adj" fmla="val 12000"/>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369296" y="1600200"/>
            <a:ext cx="1481328" cy="685800"/>
          </a:xfrm>
          <a:prstGeom prst="rect">
            <a:avLst/>
          </a:prstGeom>
          <a:noFill/>
        </p:spPr>
        <p:txBody>
          <a:bodyPr wrap="square" lIns="45720" rIns="45720" tIns="27432" bIns="27432" anchor="ctr">
            <a:spAutoFit/>
          </a:bodyPr>
          <a:lstStyle/>
          <a:p>
            <a:pPr algn="ctr">
              <a:lnSpc>
                <a:spcPct val="100000"/>
              </a:lnSpc>
            </a:pPr>
            <a:r>
              <a:rPr sz="1400" b="1" i="0">
                <a:solidFill>
                  <a:srgbClr val="FFFFFF"/>
                </a:solidFill>
                <a:latin typeface="Arial"/>
              </a:rPr>
              <a:t>NPU</a:t>
            </a:r>
          </a:p>
        </p:txBody>
      </p:sp>
      <p:cxnSp>
        <p:nvCxnSpPr>
          <p:cNvPr id="25" name="Connector 24"/>
          <p:cNvCxnSpPr/>
          <p:nvPr/>
        </p:nvCxnSpPr>
        <p:spPr>
          <a:xfrm>
            <a:off x="11109960" y="2286000"/>
            <a:ext cx="0" cy="3703320"/>
          </a:xfrm>
          <a:prstGeom prst="line">
            <a:avLst/>
          </a:prstGeom>
          <a:ln w="19050">
            <a:solidFill>
              <a:srgbClr val="CBD5E1"/>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289304" y="2743200"/>
            <a:ext cx="1636776" cy="0"/>
          </a:xfrm>
          <a:prstGeom prst="line">
            <a:avLst/>
          </a:prstGeom>
          <a:ln w="285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380744" y="2395728"/>
            <a:ext cx="38697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l">
              <a:lnSpc>
                <a:spcPct val="112000"/>
              </a:lnSpc>
            </a:pPr>
            <a:r>
              <a:rPr sz="1300" b="0" i="0">
                <a:solidFill>
                  <a:srgbClr val="0F172A"/>
                </a:solidFill>
                <a:latin typeface="Consolas"/>
              </a:rPr>
              <a:t>pipeline(…, { device: 'webnn-npu' })</a:t>
            </a:r>
          </a:p>
        </p:txBody>
      </p:sp>
      <p:cxnSp>
        <p:nvCxnSpPr>
          <p:cNvPr id="28" name="Connector 27"/>
          <p:cNvCxnSpPr/>
          <p:nvPr/>
        </p:nvCxnSpPr>
        <p:spPr>
          <a:xfrm>
            <a:off x="2926080" y="3273552"/>
            <a:ext cx="1636776" cy="0"/>
          </a:xfrm>
          <a:prstGeom prst="line">
            <a:avLst/>
          </a:prstGeom>
          <a:ln w="285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017520" y="2926080"/>
            <a:ext cx="6122822"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l">
              <a:lnSpc>
                <a:spcPct val="112000"/>
              </a:lnSpc>
            </a:pPr>
            <a:r>
              <a:rPr sz="1300" b="0" i="0">
                <a:solidFill>
                  <a:srgbClr val="0F172A"/>
                </a:solidFill>
                <a:latin typeface="Consolas"/>
              </a:rPr>
              <a:t>executionProviders: [{ name: 'webnn', deviceType: 'npu' }]</a:t>
            </a:r>
          </a:p>
        </p:txBody>
      </p:sp>
      <p:cxnSp>
        <p:nvCxnSpPr>
          <p:cNvPr id="30" name="Connector 29"/>
          <p:cNvCxnSpPr/>
          <p:nvPr/>
        </p:nvCxnSpPr>
        <p:spPr>
          <a:xfrm>
            <a:off x="4562856" y="3803904"/>
            <a:ext cx="1636775" cy="0"/>
          </a:xfrm>
          <a:prstGeom prst="line">
            <a:avLst/>
          </a:prstGeom>
          <a:ln w="285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4654296" y="3456432"/>
            <a:ext cx="3460089"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l">
              <a:lnSpc>
                <a:spcPct val="112000"/>
              </a:lnSpc>
            </a:pPr>
            <a:r>
              <a:rPr sz="1300" b="0" i="0">
                <a:solidFill>
                  <a:srgbClr val="0F172A"/>
                </a:solidFill>
                <a:latin typeface="Consolas"/>
              </a:rPr>
              <a:t>partition graph by supported ops</a:t>
            </a:r>
          </a:p>
        </p:txBody>
      </p:sp>
      <p:cxnSp>
        <p:nvCxnSpPr>
          <p:cNvPr id="32" name="Connector 31"/>
          <p:cNvCxnSpPr/>
          <p:nvPr/>
        </p:nvCxnSpPr>
        <p:spPr>
          <a:xfrm>
            <a:off x="6199631" y="4334256"/>
            <a:ext cx="1636777" cy="0"/>
          </a:xfrm>
          <a:prstGeom prst="line">
            <a:avLst/>
          </a:prstGeom>
          <a:ln w="285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6291071" y="3986784"/>
            <a:ext cx="530352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l">
              <a:lnSpc>
                <a:spcPct val="112000"/>
              </a:lnSpc>
            </a:pPr>
            <a:r>
              <a:rPr sz="1300" b="0" i="0">
                <a:solidFill>
                  <a:srgbClr val="0F172A"/>
                </a:solidFill>
                <a:latin typeface="Consolas"/>
              </a:rPr>
              <a:t>createContext({ deviceType: 'npu' }) + build graph</a:t>
            </a:r>
          </a:p>
        </p:txBody>
      </p:sp>
      <p:cxnSp>
        <p:nvCxnSpPr>
          <p:cNvPr id="34" name="Connector 33"/>
          <p:cNvCxnSpPr/>
          <p:nvPr/>
        </p:nvCxnSpPr>
        <p:spPr>
          <a:xfrm>
            <a:off x="7836408" y="4864608"/>
            <a:ext cx="1636776" cy="0"/>
          </a:xfrm>
          <a:prstGeom prst="line">
            <a:avLst/>
          </a:prstGeom>
          <a:ln w="285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927848" y="4517136"/>
            <a:ext cx="315285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l">
              <a:lnSpc>
                <a:spcPct val="112000"/>
              </a:lnSpc>
            </a:pPr>
            <a:r>
              <a:rPr sz="1300" b="0" i="0">
                <a:solidFill>
                  <a:srgbClr val="0F172A"/>
                </a:solidFill>
                <a:latin typeface="Consolas"/>
              </a:rPr>
              <a:t>compile for the OS ML runtime</a:t>
            </a:r>
          </a:p>
        </p:txBody>
      </p:sp>
      <p:cxnSp>
        <p:nvCxnSpPr>
          <p:cNvPr id="36" name="Connector 35"/>
          <p:cNvCxnSpPr/>
          <p:nvPr/>
        </p:nvCxnSpPr>
        <p:spPr>
          <a:xfrm>
            <a:off x="9473184" y="5394960"/>
            <a:ext cx="1636776" cy="0"/>
          </a:xfrm>
          <a:prstGeom prst="line">
            <a:avLst/>
          </a:prstGeom>
          <a:ln w="285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564624" y="5047488"/>
            <a:ext cx="1616659"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l">
              <a:lnSpc>
                <a:spcPct val="112000"/>
              </a:lnSpc>
            </a:pPr>
            <a:r>
              <a:rPr sz="1300" b="0" i="0">
                <a:solidFill>
                  <a:srgbClr val="0F172A"/>
                </a:solidFill>
                <a:latin typeface="Consolas"/>
              </a:rPr>
              <a:t>run on the NPU</a:t>
            </a:r>
          </a:p>
        </p:txBody>
      </p:sp>
      <p:sp>
        <p:nvSpPr>
          <p:cNvPr id="38" name="TextBox 37"/>
          <p:cNvSpPr txBox="1"/>
          <p:nvPr/>
        </p:nvSpPr>
        <p:spPr>
          <a:xfrm>
            <a:off x="548640" y="6053328"/>
            <a:ext cx="10972800" cy="320040"/>
          </a:xfrm>
          <a:prstGeom prst="rect">
            <a:avLst/>
          </a:prstGeom>
          <a:noFill/>
        </p:spPr>
        <p:txBody>
          <a:bodyPr wrap="square" lIns="0" rIns="0" tIns="18288" bIns="18288" anchor="t">
            <a:spAutoFit/>
          </a:bodyPr>
          <a:lstStyle/>
          <a:p>
            <a:pPr algn="l">
              <a:lnSpc>
                <a:spcPct val="112000"/>
              </a:lnSpc>
            </a:pPr>
            <a:r>
              <a:rPr sz="1500" b="0" i="0">
                <a:solidFill>
                  <a:srgbClr val="475569"/>
                </a:solidFill>
                <a:latin typeface="Arial"/>
              </a:rPr>
              <a:t>Ops the WebNN EP can't run fall back to WASM — that's why op coverage and static shapes matter.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DEEP DIVE · HONEST ANSWER</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Which models run on WebNN today?</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24</a:t>
            </a:r>
          </a:p>
        </p:txBody>
      </p:sp>
      <p:sp>
        <p:nvSpPr>
          <p:cNvPr id="5" name="Rounded Rectangle 4"/>
          <p:cNvSpPr/>
          <p:nvPr/>
        </p:nvSpPr>
        <p:spPr>
          <a:xfrm>
            <a:off x="548640" y="1691640"/>
            <a:ext cx="5440680" cy="23774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200" b="1" i="0">
                <a:solidFill>
                  <a:srgbClr val="0E7490"/>
                </a:solidFill>
                <a:latin typeface="Arial"/>
              </a:rPr>
              <a:t>Built for WebNN</a:t>
            </a:r>
          </a:p>
          <a:p>
            <a:pPr algn="l">
              <a:lnSpc>
                <a:spcPct val="112000"/>
              </a:lnSpc>
              <a:spcBef>
                <a:spcPts val="600"/>
              </a:spcBef>
            </a:pPr>
            <a:r>
              <a:rPr sz="1800" b="0" i="0">
                <a:solidFill>
                  <a:srgbClr val="0F172A"/>
                </a:solidFill>
                <a:latin typeface="Arial"/>
              </a:rPr>
              <a:t>Hugging Face “webnn” org: 42 models, 5 Spaces</a:t>
            </a:r>
          </a:p>
          <a:p>
            <a:pPr algn="l">
              <a:lnSpc>
                <a:spcPct val="112000"/>
              </a:lnSpc>
              <a:spcBef>
                <a:spcPts val="600"/>
              </a:spcBef>
            </a:pPr>
            <a:r>
              <a:rPr sz="1600" b="0" i="0">
                <a:solidFill>
                  <a:srgbClr val="475569"/>
                </a:solidFill>
                <a:latin typeface="Arial"/>
              </a:rPr>
              <a:t>e.g. mobilenet-v2, whisper-base-webnn, yolo12n, depth-anything, segment-anything, Phi-4-mini-instruct-onnx-webnn</a:t>
            </a:r>
          </a:p>
        </p:txBody>
      </p:sp>
      <p:sp>
        <p:nvSpPr>
          <p:cNvPr id="6" name="Rounded Rectangle 5"/>
          <p:cNvSpPr/>
          <p:nvPr/>
        </p:nvSpPr>
        <p:spPr>
          <a:xfrm>
            <a:off x="6199632" y="1691640"/>
            <a:ext cx="5440680" cy="23774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200" b="1" i="0">
                <a:solidFill>
                  <a:srgbClr val="0E7490"/>
                </a:solidFill>
                <a:latin typeface="Arial"/>
              </a:rPr>
              <a:t>What makes a model work</a:t>
            </a:r>
          </a:p>
          <a:p>
            <a:pPr algn="l">
              <a:lnSpc>
                <a:spcPct val="112000"/>
              </a:lnSpc>
              <a:spcBef>
                <a:spcPts val="600"/>
              </a:spcBef>
            </a:pPr>
            <a:r>
              <a:rPr sz="1800" b="0" i="0">
                <a:solidFill>
                  <a:srgbClr val="0F172A"/>
                </a:solidFill>
                <a:latin typeface="Arial"/>
              </a:rPr>
              <a:t>Static input shapes (freeDimensionOverrides)</a:t>
            </a:r>
          </a:p>
          <a:p>
            <a:pPr algn="l">
              <a:lnSpc>
                <a:spcPct val="112000"/>
              </a:lnSpc>
              <a:spcBef>
                <a:spcPts val="600"/>
              </a:spcBef>
            </a:pPr>
            <a:r>
              <a:rPr sz="1800" b="0" i="0">
                <a:solidFill>
                  <a:srgbClr val="0F172A"/>
                </a:solidFill>
                <a:latin typeface="Arial"/>
              </a:rPr>
              <a:t>Ops the WebNN EP supports</a:t>
            </a:r>
          </a:p>
          <a:p>
            <a:pPr algn="l">
              <a:lnSpc>
                <a:spcPct val="112000"/>
              </a:lnSpc>
              <a:spcBef>
                <a:spcPts val="600"/>
              </a:spcBef>
            </a:pPr>
            <a:r>
              <a:rPr sz="1800" b="0" i="0">
                <a:solidFill>
                  <a:srgbClr val="0F172A"/>
                </a:solidFill>
                <a:latin typeface="Arial"/>
              </a:rPr>
              <a:t>fp16 weights for GPU / NPU</a:t>
            </a:r>
          </a:p>
        </p:txBody>
      </p:sp>
      <p:sp>
        <p:nvSpPr>
          <p:cNvPr id="7" name="Rounded Rectangle 6"/>
          <p:cNvSpPr/>
          <p:nvPr/>
        </p:nvSpPr>
        <p:spPr>
          <a:xfrm>
            <a:off x="548640" y="4251960"/>
            <a:ext cx="11091672" cy="1920240"/>
          </a:xfrm>
          <a:prstGeom prst="roundRect">
            <a:avLst>
              <a:gd name="adj" fmla="val 6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200" b="1" i="0">
                <a:solidFill>
                  <a:srgbClr val="0E7490"/>
                </a:solidFill>
                <a:latin typeface="Arial"/>
              </a:rPr>
              <a:t>In the playground</a:t>
            </a:r>
          </a:p>
          <a:p>
            <a:pPr algn="l">
              <a:lnSpc>
                <a:spcPct val="112000"/>
              </a:lnSpc>
              <a:spcBef>
                <a:spcPts val="600"/>
              </a:spcBef>
            </a:pPr>
            <a:r>
              <a:rPr sz="1800" b="1" i="0">
                <a:solidFill>
                  <a:srgbClr val="0F172A"/>
                </a:solidFill>
                <a:latin typeface="Consolas"/>
              </a:rPr>
              <a:t>webnn/mobilenet-v2 </a:t>
            </a:r>
            <a:r>
              <a:rPr sz="1800" b="0" i="0">
                <a:solidFill>
                  <a:srgbClr val="0F172A"/>
                </a:solidFill>
                <a:latin typeface="Arial"/>
              </a:rPr>
              <a:t>fp16, 7 MB — exported for the WebNN EP: the safe bet on stage</a:t>
            </a:r>
          </a:p>
          <a:p>
            <a:pPr algn="l">
              <a:lnSpc>
                <a:spcPct val="112000"/>
              </a:lnSpc>
              <a:spcBef>
                <a:spcPts val="600"/>
              </a:spcBef>
            </a:pPr>
            <a:r>
              <a:rPr sz="1800" b="1" i="0">
                <a:solidFill>
                  <a:srgbClr val="0F172A"/>
                </a:solidFill>
                <a:latin typeface="Consolas"/>
              </a:rPr>
              <a:t>Xenova/resnet-50 · whisper-tiny.en · SmolLM2-135M </a:t>
            </a:r>
            <a:r>
              <a:rPr sz="1800" b="0" i="0">
                <a:solidFill>
                  <a:srgbClr val="0F172A"/>
                </a:solidFill>
                <a:latin typeface="Arial"/>
              </a:rPr>
              <a:t>— try them on WebNN live; no maintained compatibility list exists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22D3EE"/>
                </a:solidFill>
                <a:latin typeface="Arial"/>
              </a:rPr>
              <a:t>LIVE DEMO</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FFFFFF"/>
                </a:solidFill>
                <a:latin typeface="Arial"/>
              </a:rPr>
              <a:t>Demo 2 · WebNN × Transformers.js on the NPU</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94A3B8"/>
                </a:solidFill>
                <a:latin typeface="Arial"/>
              </a:rPr>
              <a:t>25</a:t>
            </a:r>
          </a:p>
        </p:txBody>
      </p:sp>
      <p:sp>
        <p:nvSpPr>
          <p:cNvPr id="5" name="Oval 4"/>
          <p:cNvSpPr/>
          <p:nvPr/>
        </p:nvSpPr>
        <p:spPr>
          <a:xfrm>
            <a:off x="548640" y="1691640"/>
            <a:ext cx="475488" cy="475488"/>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691640"/>
            <a:ext cx="475488" cy="475488"/>
          </a:xfrm>
          <a:prstGeom prst="rect">
            <a:avLst/>
          </a:prstGeom>
          <a:noFill/>
        </p:spPr>
        <p:txBody>
          <a:bodyPr wrap="square" lIns="0" rIns="0" tIns="18288" bIns="18288" anchor="ctr">
            <a:spAutoFit/>
          </a:bodyPr>
          <a:lstStyle/>
          <a:p>
            <a:pPr algn="ctr">
              <a:lnSpc>
                <a:spcPct val="112000"/>
              </a:lnSpc>
            </a:pPr>
            <a:r>
              <a:rPr sz="1800" b="1" i="0">
                <a:solidFill>
                  <a:srgbClr val="FFFFFF"/>
                </a:solidFill>
                <a:latin typeface="Arial"/>
              </a:rPr>
              <a:t>1</a:t>
            </a:r>
          </a:p>
        </p:txBody>
      </p:sp>
      <p:sp>
        <p:nvSpPr>
          <p:cNvPr id="7" name="TextBox 6"/>
          <p:cNvSpPr txBox="1"/>
          <p:nvPr/>
        </p:nvSpPr>
        <p:spPr>
          <a:xfrm>
            <a:off x="1188720" y="1673352"/>
            <a:ext cx="6035040" cy="512064"/>
          </a:xfrm>
          <a:prstGeom prst="rect">
            <a:avLst/>
          </a:prstGeom>
          <a:noFill/>
        </p:spPr>
        <p:txBody>
          <a:bodyPr wrap="square" lIns="0" rIns="0" tIns="18288" bIns="18288" anchor="ctr">
            <a:spAutoFit/>
          </a:bodyPr>
          <a:lstStyle/>
          <a:p>
            <a:pPr algn="l">
              <a:lnSpc>
                <a:spcPct val="112000"/>
              </a:lnSpc>
            </a:pPr>
            <a:r>
              <a:rPr sz="2000" b="0" i="0">
                <a:solidFill>
                  <a:srgbClr val="FFFFFF"/>
                </a:solidFill>
                <a:latin typeface="Arial"/>
              </a:rPr>
              <a:t>Chrome / Edge Canary, WebNN flag on</a:t>
            </a:r>
          </a:p>
        </p:txBody>
      </p:sp>
      <p:sp>
        <p:nvSpPr>
          <p:cNvPr id="8" name="Oval 7"/>
          <p:cNvSpPr/>
          <p:nvPr/>
        </p:nvSpPr>
        <p:spPr>
          <a:xfrm>
            <a:off x="548640" y="2350008"/>
            <a:ext cx="475488" cy="475488"/>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350008"/>
            <a:ext cx="475488" cy="475488"/>
          </a:xfrm>
          <a:prstGeom prst="rect">
            <a:avLst/>
          </a:prstGeom>
          <a:noFill/>
        </p:spPr>
        <p:txBody>
          <a:bodyPr wrap="square" lIns="0" rIns="0" tIns="18288" bIns="18288" anchor="ctr">
            <a:spAutoFit/>
          </a:bodyPr>
          <a:lstStyle/>
          <a:p>
            <a:pPr algn="ctr">
              <a:lnSpc>
                <a:spcPct val="112000"/>
              </a:lnSpc>
            </a:pPr>
            <a:r>
              <a:rPr sz="1800" b="1" i="0">
                <a:solidFill>
                  <a:srgbClr val="FFFFFF"/>
                </a:solidFill>
                <a:latin typeface="Arial"/>
              </a:rPr>
              <a:t>2</a:t>
            </a:r>
          </a:p>
        </p:txBody>
      </p:sp>
      <p:sp>
        <p:nvSpPr>
          <p:cNvPr id="10" name="TextBox 9"/>
          <p:cNvSpPr txBox="1"/>
          <p:nvPr/>
        </p:nvSpPr>
        <p:spPr>
          <a:xfrm>
            <a:off x="1188720" y="2331720"/>
            <a:ext cx="6035040" cy="512064"/>
          </a:xfrm>
          <a:prstGeom prst="rect">
            <a:avLst/>
          </a:prstGeom>
          <a:noFill/>
        </p:spPr>
        <p:txBody>
          <a:bodyPr wrap="square" lIns="0" rIns="0" tIns="18288" bIns="18288" anchor="ctr">
            <a:spAutoFit/>
          </a:bodyPr>
          <a:lstStyle/>
          <a:p>
            <a:pPr algn="l">
              <a:lnSpc>
                <a:spcPct val="112000"/>
              </a:lnSpc>
            </a:pPr>
            <a:r>
              <a:rPr sz="2000" b="0" i="0">
                <a:solidFill>
                  <a:srgbClr val="FFFFFF"/>
                </a:solidFill>
                <a:latin typeface="Arial"/>
              </a:rPr>
              <a:t>Capability panel: which contexts open</a:t>
            </a:r>
          </a:p>
        </p:txBody>
      </p:sp>
      <p:sp>
        <p:nvSpPr>
          <p:cNvPr id="11" name="Oval 10"/>
          <p:cNvSpPr/>
          <p:nvPr/>
        </p:nvSpPr>
        <p:spPr>
          <a:xfrm>
            <a:off x="548640" y="3008376"/>
            <a:ext cx="475488" cy="475488"/>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3008376"/>
            <a:ext cx="475488" cy="475488"/>
          </a:xfrm>
          <a:prstGeom prst="rect">
            <a:avLst/>
          </a:prstGeom>
          <a:noFill/>
        </p:spPr>
        <p:txBody>
          <a:bodyPr wrap="square" lIns="0" rIns="0" tIns="18288" bIns="18288" anchor="ctr">
            <a:spAutoFit/>
          </a:bodyPr>
          <a:lstStyle/>
          <a:p>
            <a:pPr algn="ctr">
              <a:lnSpc>
                <a:spcPct val="112000"/>
              </a:lnSpc>
            </a:pPr>
            <a:r>
              <a:rPr sz="1800" b="1" i="0">
                <a:solidFill>
                  <a:srgbClr val="FFFFFF"/>
                </a:solidFill>
                <a:latin typeface="Arial"/>
              </a:rPr>
              <a:t>3</a:t>
            </a:r>
          </a:p>
        </p:txBody>
      </p:sp>
      <p:sp>
        <p:nvSpPr>
          <p:cNvPr id="13" name="TextBox 12"/>
          <p:cNvSpPr txBox="1"/>
          <p:nvPr/>
        </p:nvSpPr>
        <p:spPr>
          <a:xfrm>
            <a:off x="1188720" y="2990088"/>
            <a:ext cx="6035040" cy="512064"/>
          </a:xfrm>
          <a:prstGeom prst="rect">
            <a:avLst/>
          </a:prstGeom>
          <a:noFill/>
        </p:spPr>
        <p:txBody>
          <a:bodyPr wrap="square" lIns="0" rIns="0" tIns="18288" bIns="18288" anchor="ctr">
            <a:spAutoFit/>
          </a:bodyPr>
          <a:lstStyle/>
          <a:p>
            <a:pPr algn="l">
              <a:lnSpc>
                <a:spcPct val="112000"/>
              </a:lnSpc>
            </a:pPr>
            <a:r>
              <a:rPr sz="2000" b="0" i="0">
                <a:solidFill>
                  <a:srgbClr val="FFFFFF"/>
                </a:solidFill>
                <a:latin typeface="Arial"/>
              </a:rPr>
              <a:t>Device: WebNN → NPU, model mobilenet-v2 fp16</a:t>
            </a:r>
          </a:p>
        </p:txBody>
      </p:sp>
      <p:sp>
        <p:nvSpPr>
          <p:cNvPr id="14" name="Oval 13"/>
          <p:cNvSpPr/>
          <p:nvPr/>
        </p:nvSpPr>
        <p:spPr>
          <a:xfrm>
            <a:off x="548640" y="3666744"/>
            <a:ext cx="475488" cy="475488"/>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3666744"/>
            <a:ext cx="475488" cy="475488"/>
          </a:xfrm>
          <a:prstGeom prst="rect">
            <a:avLst/>
          </a:prstGeom>
          <a:noFill/>
        </p:spPr>
        <p:txBody>
          <a:bodyPr wrap="square" lIns="0" rIns="0" tIns="18288" bIns="18288" anchor="ctr">
            <a:spAutoFit/>
          </a:bodyPr>
          <a:lstStyle/>
          <a:p>
            <a:pPr algn="ctr">
              <a:lnSpc>
                <a:spcPct val="112000"/>
              </a:lnSpc>
            </a:pPr>
            <a:r>
              <a:rPr sz="1800" b="1" i="0">
                <a:solidFill>
                  <a:srgbClr val="FFFFFF"/>
                </a:solidFill>
                <a:latin typeface="Arial"/>
              </a:rPr>
              <a:t>4</a:t>
            </a:r>
          </a:p>
        </p:txBody>
      </p:sp>
      <p:sp>
        <p:nvSpPr>
          <p:cNvPr id="16" name="TextBox 15"/>
          <p:cNvSpPr txBox="1"/>
          <p:nvPr/>
        </p:nvSpPr>
        <p:spPr>
          <a:xfrm>
            <a:off x="1188720" y="3648456"/>
            <a:ext cx="6035040" cy="512064"/>
          </a:xfrm>
          <a:prstGeom prst="rect">
            <a:avLst/>
          </a:prstGeom>
          <a:noFill/>
        </p:spPr>
        <p:txBody>
          <a:bodyPr wrap="square" lIns="0" rIns="0" tIns="18288" bIns="18288" anchor="ctr">
            <a:spAutoFit/>
          </a:bodyPr>
          <a:lstStyle/>
          <a:p>
            <a:pPr algn="l">
              <a:lnSpc>
                <a:spcPct val="112000"/>
              </a:lnSpc>
            </a:pPr>
            <a:r>
              <a:rPr sz="2000" b="0" i="0">
                <a:solidFill>
                  <a:srgbClr val="FFFFFF"/>
                </a:solidFill>
                <a:latin typeface="Arial"/>
              </a:rPr>
              <a:t>Task Manager → NPU graph moves</a:t>
            </a:r>
          </a:p>
        </p:txBody>
      </p:sp>
      <p:sp>
        <p:nvSpPr>
          <p:cNvPr id="17" name="Oval 16"/>
          <p:cNvSpPr/>
          <p:nvPr/>
        </p:nvSpPr>
        <p:spPr>
          <a:xfrm>
            <a:off x="548640" y="4325112"/>
            <a:ext cx="475488" cy="475488"/>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4325112"/>
            <a:ext cx="475488" cy="475488"/>
          </a:xfrm>
          <a:prstGeom prst="rect">
            <a:avLst/>
          </a:prstGeom>
          <a:noFill/>
        </p:spPr>
        <p:txBody>
          <a:bodyPr wrap="square" lIns="0" rIns="0" tIns="18288" bIns="18288" anchor="ctr">
            <a:spAutoFit/>
          </a:bodyPr>
          <a:lstStyle/>
          <a:p>
            <a:pPr algn="ctr">
              <a:lnSpc>
                <a:spcPct val="112000"/>
              </a:lnSpc>
            </a:pPr>
            <a:r>
              <a:rPr sz="1800" b="1" i="0">
                <a:solidFill>
                  <a:srgbClr val="FFFFFF"/>
                </a:solidFill>
                <a:latin typeface="Arial"/>
              </a:rPr>
              <a:t>5</a:t>
            </a:r>
          </a:p>
        </p:txBody>
      </p:sp>
      <p:sp>
        <p:nvSpPr>
          <p:cNvPr id="19" name="TextBox 18"/>
          <p:cNvSpPr txBox="1"/>
          <p:nvPr/>
        </p:nvSpPr>
        <p:spPr>
          <a:xfrm>
            <a:off x="1188720" y="4306824"/>
            <a:ext cx="6035040" cy="512064"/>
          </a:xfrm>
          <a:prstGeom prst="rect">
            <a:avLst/>
          </a:prstGeom>
          <a:noFill/>
        </p:spPr>
        <p:txBody>
          <a:bodyPr wrap="square" lIns="0" rIns="0" tIns="18288" bIns="18288" anchor="ctr">
            <a:spAutoFit/>
          </a:bodyPr>
          <a:lstStyle/>
          <a:p>
            <a:pPr algn="l">
              <a:lnSpc>
                <a:spcPct val="112000"/>
              </a:lnSpc>
            </a:pPr>
            <a:r>
              <a:rPr sz="2000" b="0" i="0">
                <a:solidFill>
                  <a:srgbClr val="FFFFFF"/>
                </a:solidFill>
                <a:latin typeface="Arial"/>
              </a:rPr>
              <a:t>Compare WASM · WebGPU · WebNN rows</a:t>
            </a:r>
          </a:p>
        </p:txBody>
      </p:sp>
      <p:sp>
        <p:nvSpPr>
          <p:cNvPr id="20" name="Oval 19"/>
          <p:cNvSpPr/>
          <p:nvPr/>
        </p:nvSpPr>
        <p:spPr>
          <a:xfrm>
            <a:off x="548640" y="4983479"/>
            <a:ext cx="475488" cy="475488"/>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4983479"/>
            <a:ext cx="475488" cy="475488"/>
          </a:xfrm>
          <a:prstGeom prst="rect">
            <a:avLst/>
          </a:prstGeom>
          <a:noFill/>
        </p:spPr>
        <p:txBody>
          <a:bodyPr wrap="square" lIns="0" rIns="0" tIns="18288" bIns="18288" anchor="ctr">
            <a:spAutoFit/>
          </a:bodyPr>
          <a:lstStyle/>
          <a:p>
            <a:pPr algn="ctr">
              <a:lnSpc>
                <a:spcPct val="112000"/>
              </a:lnSpc>
            </a:pPr>
            <a:r>
              <a:rPr sz="1800" b="1" i="0">
                <a:solidFill>
                  <a:srgbClr val="FFFFFF"/>
                </a:solidFill>
                <a:latin typeface="Arial"/>
              </a:rPr>
              <a:t>6</a:t>
            </a:r>
          </a:p>
        </p:txBody>
      </p:sp>
      <p:sp>
        <p:nvSpPr>
          <p:cNvPr id="22" name="TextBox 21"/>
          <p:cNvSpPr txBox="1"/>
          <p:nvPr/>
        </p:nvSpPr>
        <p:spPr>
          <a:xfrm>
            <a:off x="1188720" y="4965192"/>
            <a:ext cx="6035040" cy="512064"/>
          </a:xfrm>
          <a:prstGeom prst="rect">
            <a:avLst/>
          </a:prstGeom>
          <a:noFill/>
        </p:spPr>
        <p:txBody>
          <a:bodyPr wrap="square" lIns="0" rIns="0" tIns="18288" bIns="18288" anchor="ctr">
            <a:spAutoFit/>
          </a:bodyPr>
          <a:lstStyle/>
          <a:p>
            <a:pPr algn="l">
              <a:lnSpc>
                <a:spcPct val="112000"/>
              </a:lnSpc>
            </a:pPr>
            <a:r>
              <a:rPr sz="2000" b="0" i="0">
                <a:solidFill>
                  <a:srgbClr val="FFFFFF"/>
                </a:solidFill>
                <a:latin typeface="Arial"/>
              </a:rPr>
              <a:t>Bonus: Whisper on the JFK clip</a:t>
            </a:r>
          </a:p>
        </p:txBody>
      </p:sp>
      <p:pic>
        <p:nvPicPr>
          <p:cNvPr id="23" name="Picture 22" descr="qr-demo.png"/>
          <p:cNvPicPr>
            <a:picLocks noChangeAspect="1"/>
          </p:cNvPicPr>
          <p:nvPr/>
        </p:nvPicPr>
        <p:blipFill>
          <a:blip r:embed="rId2"/>
          <a:stretch>
            <a:fillRect/>
          </a:stretch>
        </p:blipFill>
        <p:spPr>
          <a:xfrm>
            <a:off x="8366760" y="1737360"/>
            <a:ext cx="2651760" cy="2651760"/>
          </a:xfrm>
          <a:prstGeom prst="rect">
            <a:avLst/>
          </a:prstGeom>
        </p:spPr>
      </p:pic>
      <p:sp>
        <p:nvSpPr>
          <p:cNvPr id="24" name="TextBox 23"/>
          <p:cNvSpPr txBox="1"/>
          <p:nvPr/>
        </p:nvSpPr>
        <p:spPr>
          <a:xfrm>
            <a:off x="7726680" y="4462272"/>
            <a:ext cx="3931920" cy="365760"/>
          </a:xfrm>
          <a:prstGeom prst="rect">
            <a:avLst/>
          </a:prstGeom>
          <a:noFill/>
        </p:spPr>
        <p:txBody>
          <a:bodyPr wrap="square" lIns="0" rIns="0" tIns="18288" bIns="18288" anchor="t">
            <a:spAutoFit/>
          </a:bodyPr>
          <a:lstStyle/>
          <a:p>
            <a:pPr algn="ctr">
              <a:lnSpc>
                <a:spcPct val="112000"/>
              </a:lnSpc>
            </a:pPr>
            <a:r>
              <a:rPr sz="1600" b="1" i="0">
                <a:solidFill>
                  <a:srgbClr val="22D3EE"/>
                </a:solidFill>
                <a:latin typeface="Arial"/>
                <a:hlinkClick r:id="rId3"/>
              </a:rPr>
              <a:t>webai-playground.sites.tab.bot</a:t>
            </a:r>
          </a:p>
        </p:txBody>
      </p:sp>
      <p:sp>
        <p:nvSpPr>
          <p:cNvPr id="25" name="TextBox 24"/>
          <p:cNvSpPr txBox="1"/>
          <p:nvPr/>
        </p:nvSpPr>
        <p:spPr>
          <a:xfrm>
            <a:off x="7680960" y="4937760"/>
            <a:ext cx="4023360" cy="1097280"/>
          </a:xfrm>
          <a:prstGeom prst="rect">
            <a:avLst/>
          </a:prstGeom>
          <a:noFill/>
        </p:spPr>
        <p:txBody>
          <a:bodyPr wrap="square" lIns="0" rIns="0" tIns="18288" bIns="18288" anchor="t">
            <a:spAutoFit/>
          </a:bodyPr>
          <a:lstStyle/>
          <a:p>
            <a:pPr algn="ctr">
              <a:lnSpc>
                <a:spcPct val="112000"/>
              </a:lnSpc>
            </a:pPr>
            <a:r>
              <a:rPr sz="1700" b="0" i="1">
                <a:solidFill>
                  <a:srgbClr val="CBD5E1"/>
                </a:solidFill>
                <a:latin typeface="Arial"/>
              </a:rPr>
              <a:t>Measured on this laptop, live. The NPU row is filled in on stage.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MEASURED, NOT PROMISED</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Demo 2 · the numbers</a:t>
            </a:r>
          </a:p>
        </p:txBody>
      </p:sp>
      <p:sp>
        <p:nvSpPr>
          <p:cNvPr id="4" name="TextBox 3"/>
          <p:cNvSpPr txBox="1"/>
          <p:nvPr/>
        </p:nvSpPr>
        <p:spPr>
          <a:xfrm>
            <a:off x="548640" y="6400800"/>
            <a:ext cx="10241280" cy="274320"/>
          </a:xfrm>
          <a:prstGeom prst="rect">
            <a:avLst/>
          </a:prstGeom>
          <a:noFill/>
        </p:spPr>
        <p:txBody>
          <a:bodyPr wrap="square" lIns="0" rIns="0" tIns="18288" bIns="18288" anchor="t">
            <a:spAutoFit/>
          </a:bodyPr>
          <a:lstStyle/>
          <a:p>
            <a:pPr algn="l">
              <a:lnSpc>
                <a:spcPct val="112000"/>
              </a:lnSpc>
            </a:pPr>
            <a:r>
              <a:rPr sz="1200" b="0" i="0">
                <a:solidFill>
                  <a:srgbClr val="475569"/>
                </a:solidFill>
                <a:latin typeface="Arial"/>
              </a:rPr>
              <a:t>headless Chrome, WASM, measured 16 Oct 2026 on the published demo · WebGPU row = software adapter (SwiftShader), not a real GPU</a:t>
            </a:r>
          </a:p>
        </p:txBody>
      </p:sp>
      <p:sp>
        <p:nvSpPr>
          <p:cNvPr id="5" name="TextBox 4"/>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26</a:t>
            </a:r>
          </a:p>
        </p:txBody>
      </p:sp>
      <p:sp>
        <p:nvSpPr>
          <p:cNvPr id="6" name="TextBox 5"/>
          <p:cNvSpPr txBox="1"/>
          <p:nvPr/>
        </p:nvSpPr>
        <p:spPr>
          <a:xfrm>
            <a:off x="548640" y="1645920"/>
            <a:ext cx="3108960" cy="365760"/>
          </a:xfrm>
          <a:prstGeom prst="rect">
            <a:avLst/>
          </a:prstGeom>
          <a:noFill/>
        </p:spPr>
        <p:txBody>
          <a:bodyPr wrap="square" lIns="0" rIns="0" tIns="18288" bIns="18288" anchor="t">
            <a:spAutoFit/>
          </a:bodyPr>
          <a:lstStyle/>
          <a:p>
            <a:pPr algn="l">
              <a:lnSpc>
                <a:spcPct val="112000"/>
              </a:lnSpc>
            </a:pPr>
            <a:r>
              <a:rPr sz="1600" b="1" i="0">
                <a:solidFill>
                  <a:srgbClr val="475569"/>
                </a:solidFill>
                <a:latin typeface="Arial"/>
              </a:rPr>
              <a:t>Model</a:t>
            </a:r>
          </a:p>
        </p:txBody>
      </p:sp>
      <p:sp>
        <p:nvSpPr>
          <p:cNvPr id="7" name="TextBox 6"/>
          <p:cNvSpPr txBox="1"/>
          <p:nvPr/>
        </p:nvSpPr>
        <p:spPr>
          <a:xfrm>
            <a:off x="3657600" y="1645920"/>
            <a:ext cx="1737360" cy="365760"/>
          </a:xfrm>
          <a:prstGeom prst="rect">
            <a:avLst/>
          </a:prstGeom>
          <a:noFill/>
        </p:spPr>
        <p:txBody>
          <a:bodyPr wrap="square" lIns="0" rIns="0" tIns="18288" bIns="18288" anchor="t">
            <a:spAutoFit/>
          </a:bodyPr>
          <a:lstStyle/>
          <a:p>
            <a:pPr algn="l">
              <a:lnSpc>
                <a:spcPct val="112000"/>
              </a:lnSpc>
            </a:pPr>
            <a:r>
              <a:rPr sz="1600" b="1" i="0">
                <a:solidFill>
                  <a:srgbClr val="475569"/>
                </a:solidFill>
                <a:latin typeface="Arial"/>
              </a:rPr>
              <a:t>Backend</a:t>
            </a:r>
          </a:p>
        </p:txBody>
      </p:sp>
      <p:sp>
        <p:nvSpPr>
          <p:cNvPr id="8" name="TextBox 7"/>
          <p:cNvSpPr txBox="1"/>
          <p:nvPr/>
        </p:nvSpPr>
        <p:spPr>
          <a:xfrm>
            <a:off x="5440680" y="1645920"/>
            <a:ext cx="914400" cy="365760"/>
          </a:xfrm>
          <a:prstGeom prst="rect">
            <a:avLst/>
          </a:prstGeom>
          <a:noFill/>
        </p:spPr>
        <p:txBody>
          <a:bodyPr wrap="square" lIns="0" rIns="0" tIns="18288" bIns="18288" anchor="t">
            <a:spAutoFit/>
          </a:bodyPr>
          <a:lstStyle/>
          <a:p>
            <a:pPr algn="l">
              <a:lnSpc>
                <a:spcPct val="112000"/>
              </a:lnSpc>
            </a:pPr>
            <a:r>
              <a:rPr sz="1600" b="1" i="0">
                <a:solidFill>
                  <a:srgbClr val="475569"/>
                </a:solidFill>
                <a:latin typeface="Arial"/>
              </a:rPr>
              <a:t>dtype</a:t>
            </a:r>
          </a:p>
        </p:txBody>
      </p:sp>
      <p:sp>
        <p:nvSpPr>
          <p:cNvPr id="9" name="TextBox 8"/>
          <p:cNvSpPr txBox="1"/>
          <p:nvPr/>
        </p:nvSpPr>
        <p:spPr>
          <a:xfrm>
            <a:off x="6400800" y="1645920"/>
            <a:ext cx="1280160" cy="365760"/>
          </a:xfrm>
          <a:prstGeom prst="rect">
            <a:avLst/>
          </a:prstGeom>
          <a:noFill/>
        </p:spPr>
        <p:txBody>
          <a:bodyPr wrap="square" lIns="0" rIns="0" tIns="18288" bIns="18288" anchor="t">
            <a:spAutoFit/>
          </a:bodyPr>
          <a:lstStyle/>
          <a:p>
            <a:pPr algn="l">
              <a:lnSpc>
                <a:spcPct val="112000"/>
              </a:lnSpc>
            </a:pPr>
            <a:r>
              <a:rPr sz="1600" b="1" i="0">
                <a:solidFill>
                  <a:srgbClr val="475569"/>
                </a:solidFill>
                <a:latin typeface="Arial"/>
              </a:rPr>
              <a:t>Download</a:t>
            </a:r>
          </a:p>
        </p:txBody>
      </p:sp>
      <p:sp>
        <p:nvSpPr>
          <p:cNvPr id="10" name="TextBox 9"/>
          <p:cNvSpPr txBox="1"/>
          <p:nvPr/>
        </p:nvSpPr>
        <p:spPr>
          <a:xfrm>
            <a:off x="7772400" y="1645920"/>
            <a:ext cx="1005840" cy="365760"/>
          </a:xfrm>
          <a:prstGeom prst="rect">
            <a:avLst/>
          </a:prstGeom>
          <a:noFill/>
        </p:spPr>
        <p:txBody>
          <a:bodyPr wrap="square" lIns="0" rIns="0" tIns="18288" bIns="18288" anchor="t">
            <a:spAutoFit/>
          </a:bodyPr>
          <a:lstStyle/>
          <a:p>
            <a:pPr algn="l">
              <a:lnSpc>
                <a:spcPct val="112000"/>
              </a:lnSpc>
            </a:pPr>
            <a:r>
              <a:rPr sz="1600" b="1" i="0">
                <a:solidFill>
                  <a:srgbClr val="475569"/>
                </a:solidFill>
                <a:latin typeface="Arial"/>
              </a:rPr>
              <a:t>Load</a:t>
            </a:r>
          </a:p>
        </p:txBody>
      </p:sp>
      <p:sp>
        <p:nvSpPr>
          <p:cNvPr id="11" name="TextBox 10"/>
          <p:cNvSpPr txBox="1"/>
          <p:nvPr/>
        </p:nvSpPr>
        <p:spPr>
          <a:xfrm>
            <a:off x="8869680" y="1645920"/>
            <a:ext cx="2743200" cy="365760"/>
          </a:xfrm>
          <a:prstGeom prst="rect">
            <a:avLst/>
          </a:prstGeom>
          <a:noFill/>
        </p:spPr>
        <p:txBody>
          <a:bodyPr wrap="square" lIns="0" rIns="0" tIns="18288" bIns="18288" anchor="t">
            <a:spAutoFit/>
          </a:bodyPr>
          <a:lstStyle/>
          <a:p>
            <a:pPr algn="l">
              <a:lnSpc>
                <a:spcPct val="112000"/>
              </a:lnSpc>
            </a:pPr>
            <a:r>
              <a:rPr sz="1600" b="1" i="0">
                <a:solidFill>
                  <a:srgbClr val="475569"/>
                </a:solidFill>
                <a:latin typeface="Arial"/>
              </a:rPr>
              <a:t>Per run (avg)</a:t>
            </a:r>
          </a:p>
        </p:txBody>
      </p:sp>
      <p:sp>
        <p:nvSpPr>
          <p:cNvPr id="12" name="Rectangle 11"/>
          <p:cNvSpPr/>
          <p:nvPr/>
        </p:nvSpPr>
        <p:spPr>
          <a:xfrm>
            <a:off x="457200" y="2029967"/>
            <a:ext cx="11274552" cy="56692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2103120"/>
            <a:ext cx="3108960" cy="420624"/>
          </a:xfrm>
          <a:prstGeom prst="rect">
            <a:avLst/>
          </a:prstGeom>
          <a:noFill/>
        </p:spPr>
        <p:txBody>
          <a:bodyPr wrap="square" lIns="0" rIns="0" tIns="18288" bIns="18288" anchor="ctr">
            <a:spAutoFit/>
          </a:bodyPr>
          <a:lstStyle/>
          <a:p>
            <a:pPr algn="l">
              <a:lnSpc>
                <a:spcPct val="112000"/>
              </a:lnSpc>
            </a:pPr>
            <a:r>
              <a:rPr sz="1700" b="1" i="0">
                <a:solidFill>
                  <a:srgbClr val="0F172A"/>
                </a:solidFill>
                <a:latin typeface="Arial"/>
              </a:rPr>
              <a:t>ResNet-50</a:t>
            </a:r>
          </a:p>
        </p:txBody>
      </p:sp>
      <p:sp>
        <p:nvSpPr>
          <p:cNvPr id="14" name="TextBox 13"/>
          <p:cNvSpPr txBox="1"/>
          <p:nvPr/>
        </p:nvSpPr>
        <p:spPr>
          <a:xfrm>
            <a:off x="3657600" y="2103120"/>
            <a:ext cx="173736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WASM</a:t>
            </a:r>
          </a:p>
        </p:txBody>
      </p:sp>
      <p:sp>
        <p:nvSpPr>
          <p:cNvPr id="15" name="TextBox 14"/>
          <p:cNvSpPr txBox="1"/>
          <p:nvPr/>
        </p:nvSpPr>
        <p:spPr>
          <a:xfrm>
            <a:off x="5440680" y="2103120"/>
            <a:ext cx="91440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q8</a:t>
            </a:r>
          </a:p>
        </p:txBody>
      </p:sp>
      <p:sp>
        <p:nvSpPr>
          <p:cNvPr id="16" name="TextBox 15"/>
          <p:cNvSpPr txBox="1"/>
          <p:nvPr/>
        </p:nvSpPr>
        <p:spPr>
          <a:xfrm>
            <a:off x="6400800" y="2103120"/>
            <a:ext cx="128016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24.7 MB</a:t>
            </a:r>
          </a:p>
        </p:txBody>
      </p:sp>
      <p:sp>
        <p:nvSpPr>
          <p:cNvPr id="17" name="TextBox 16"/>
          <p:cNvSpPr txBox="1"/>
          <p:nvPr/>
        </p:nvSpPr>
        <p:spPr>
          <a:xfrm>
            <a:off x="7772400" y="2103120"/>
            <a:ext cx="100584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2.97 s</a:t>
            </a:r>
          </a:p>
        </p:txBody>
      </p:sp>
      <p:sp>
        <p:nvSpPr>
          <p:cNvPr id="18" name="TextBox 17"/>
          <p:cNvSpPr txBox="1"/>
          <p:nvPr/>
        </p:nvSpPr>
        <p:spPr>
          <a:xfrm>
            <a:off x="8869680" y="2103120"/>
            <a:ext cx="274320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256 ms (186 ms local)</a:t>
            </a:r>
          </a:p>
        </p:txBody>
      </p:sp>
      <p:sp>
        <p:nvSpPr>
          <p:cNvPr id="19" name="TextBox 18"/>
          <p:cNvSpPr txBox="1"/>
          <p:nvPr/>
        </p:nvSpPr>
        <p:spPr>
          <a:xfrm>
            <a:off x="548640" y="2706624"/>
            <a:ext cx="3108960" cy="420624"/>
          </a:xfrm>
          <a:prstGeom prst="rect">
            <a:avLst/>
          </a:prstGeom>
          <a:noFill/>
        </p:spPr>
        <p:txBody>
          <a:bodyPr wrap="square" lIns="0" rIns="0" tIns="18288" bIns="18288" anchor="ctr">
            <a:spAutoFit/>
          </a:bodyPr>
          <a:lstStyle/>
          <a:p>
            <a:pPr algn="l">
              <a:lnSpc>
                <a:spcPct val="112000"/>
              </a:lnSpc>
            </a:pPr>
            <a:r>
              <a:rPr sz="1700" b="1" i="0">
                <a:solidFill>
                  <a:srgbClr val="0F172A"/>
                </a:solidFill>
                <a:latin typeface="Arial"/>
              </a:rPr>
              <a:t>MobileNet-v2 (webnn org)</a:t>
            </a:r>
          </a:p>
        </p:txBody>
      </p:sp>
      <p:sp>
        <p:nvSpPr>
          <p:cNvPr id="20" name="TextBox 19"/>
          <p:cNvSpPr txBox="1"/>
          <p:nvPr/>
        </p:nvSpPr>
        <p:spPr>
          <a:xfrm>
            <a:off x="3657600" y="2706624"/>
            <a:ext cx="173736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WASM</a:t>
            </a:r>
          </a:p>
        </p:txBody>
      </p:sp>
      <p:sp>
        <p:nvSpPr>
          <p:cNvPr id="21" name="TextBox 20"/>
          <p:cNvSpPr txBox="1"/>
          <p:nvPr/>
        </p:nvSpPr>
        <p:spPr>
          <a:xfrm>
            <a:off x="5440680" y="2706624"/>
            <a:ext cx="91440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fp16</a:t>
            </a:r>
          </a:p>
        </p:txBody>
      </p:sp>
      <p:sp>
        <p:nvSpPr>
          <p:cNvPr id="22" name="TextBox 21"/>
          <p:cNvSpPr txBox="1"/>
          <p:nvPr/>
        </p:nvSpPr>
        <p:spPr>
          <a:xfrm>
            <a:off x="6400800" y="2706624"/>
            <a:ext cx="128016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6.8 MB</a:t>
            </a:r>
          </a:p>
        </p:txBody>
      </p:sp>
      <p:sp>
        <p:nvSpPr>
          <p:cNvPr id="23" name="TextBox 22"/>
          <p:cNvSpPr txBox="1"/>
          <p:nvPr/>
        </p:nvSpPr>
        <p:spPr>
          <a:xfrm>
            <a:off x="7772400" y="2706624"/>
            <a:ext cx="100584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1.35 s</a:t>
            </a:r>
          </a:p>
        </p:txBody>
      </p:sp>
      <p:sp>
        <p:nvSpPr>
          <p:cNvPr id="24" name="TextBox 23"/>
          <p:cNvSpPr txBox="1"/>
          <p:nvPr/>
        </p:nvSpPr>
        <p:spPr>
          <a:xfrm>
            <a:off x="8869680" y="2706624"/>
            <a:ext cx="274320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85 ms</a:t>
            </a:r>
          </a:p>
        </p:txBody>
      </p:sp>
      <p:sp>
        <p:nvSpPr>
          <p:cNvPr id="25" name="Rectangle 24"/>
          <p:cNvSpPr/>
          <p:nvPr/>
        </p:nvSpPr>
        <p:spPr>
          <a:xfrm>
            <a:off x="457200" y="3236976"/>
            <a:ext cx="11274552" cy="56692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48640" y="3310128"/>
            <a:ext cx="3108960" cy="420624"/>
          </a:xfrm>
          <a:prstGeom prst="rect">
            <a:avLst/>
          </a:prstGeom>
          <a:noFill/>
        </p:spPr>
        <p:txBody>
          <a:bodyPr wrap="square" lIns="0" rIns="0" tIns="18288" bIns="18288" anchor="ctr">
            <a:spAutoFit/>
          </a:bodyPr>
          <a:lstStyle/>
          <a:p>
            <a:pPr algn="l">
              <a:lnSpc>
                <a:spcPct val="112000"/>
              </a:lnSpc>
            </a:pPr>
            <a:r>
              <a:rPr sz="1700" b="1" i="0">
                <a:solidFill>
                  <a:srgbClr val="0F172A"/>
                </a:solidFill>
                <a:latin typeface="Arial"/>
              </a:rPr>
              <a:t>ResNet-50</a:t>
            </a:r>
          </a:p>
        </p:txBody>
      </p:sp>
      <p:sp>
        <p:nvSpPr>
          <p:cNvPr id="27" name="TextBox 26"/>
          <p:cNvSpPr txBox="1"/>
          <p:nvPr/>
        </p:nvSpPr>
        <p:spPr>
          <a:xfrm>
            <a:off x="3657600" y="3310128"/>
            <a:ext cx="173736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WebGPU*</a:t>
            </a:r>
          </a:p>
        </p:txBody>
      </p:sp>
      <p:sp>
        <p:nvSpPr>
          <p:cNvPr id="28" name="TextBox 27"/>
          <p:cNvSpPr txBox="1"/>
          <p:nvPr/>
        </p:nvSpPr>
        <p:spPr>
          <a:xfrm>
            <a:off x="5440680" y="3310128"/>
            <a:ext cx="91440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fp32</a:t>
            </a:r>
          </a:p>
        </p:txBody>
      </p:sp>
      <p:sp>
        <p:nvSpPr>
          <p:cNvPr id="29" name="TextBox 28"/>
          <p:cNvSpPr txBox="1"/>
          <p:nvPr/>
        </p:nvSpPr>
        <p:spPr>
          <a:xfrm>
            <a:off x="6400800" y="3310128"/>
            <a:ext cx="128016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97.5 MB</a:t>
            </a:r>
          </a:p>
        </p:txBody>
      </p:sp>
      <p:sp>
        <p:nvSpPr>
          <p:cNvPr id="30" name="TextBox 29"/>
          <p:cNvSpPr txBox="1"/>
          <p:nvPr/>
        </p:nvSpPr>
        <p:spPr>
          <a:xfrm>
            <a:off x="7772400" y="3310128"/>
            <a:ext cx="100584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3.58 s</a:t>
            </a:r>
          </a:p>
        </p:txBody>
      </p:sp>
      <p:sp>
        <p:nvSpPr>
          <p:cNvPr id="31" name="TextBox 30"/>
          <p:cNvSpPr txBox="1"/>
          <p:nvPr/>
        </p:nvSpPr>
        <p:spPr>
          <a:xfrm>
            <a:off x="8869680" y="3310128"/>
            <a:ext cx="274320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8.4 s (software GPU)</a:t>
            </a:r>
          </a:p>
        </p:txBody>
      </p:sp>
      <p:sp>
        <p:nvSpPr>
          <p:cNvPr id="32" name="TextBox 31"/>
          <p:cNvSpPr txBox="1"/>
          <p:nvPr/>
        </p:nvSpPr>
        <p:spPr>
          <a:xfrm>
            <a:off x="548640" y="3913631"/>
            <a:ext cx="3108960" cy="420624"/>
          </a:xfrm>
          <a:prstGeom prst="rect">
            <a:avLst/>
          </a:prstGeom>
          <a:noFill/>
        </p:spPr>
        <p:txBody>
          <a:bodyPr wrap="square" lIns="0" rIns="0" tIns="18288" bIns="18288" anchor="ctr">
            <a:spAutoFit/>
          </a:bodyPr>
          <a:lstStyle/>
          <a:p>
            <a:pPr algn="l">
              <a:lnSpc>
                <a:spcPct val="112000"/>
              </a:lnSpc>
            </a:pPr>
            <a:r>
              <a:rPr sz="1700" b="1" i="0">
                <a:solidFill>
                  <a:srgbClr val="0F172A"/>
                </a:solidFill>
                <a:latin typeface="Arial"/>
              </a:rPr>
              <a:t>Whisper tiny.en · 11 s clip</a:t>
            </a:r>
          </a:p>
        </p:txBody>
      </p:sp>
      <p:sp>
        <p:nvSpPr>
          <p:cNvPr id="33" name="TextBox 32"/>
          <p:cNvSpPr txBox="1"/>
          <p:nvPr/>
        </p:nvSpPr>
        <p:spPr>
          <a:xfrm>
            <a:off x="3657600" y="3913631"/>
            <a:ext cx="173736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WASM</a:t>
            </a:r>
          </a:p>
        </p:txBody>
      </p:sp>
      <p:sp>
        <p:nvSpPr>
          <p:cNvPr id="34" name="TextBox 33"/>
          <p:cNvSpPr txBox="1"/>
          <p:nvPr/>
        </p:nvSpPr>
        <p:spPr>
          <a:xfrm>
            <a:off x="5440680" y="3913631"/>
            <a:ext cx="91440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q8</a:t>
            </a:r>
          </a:p>
        </p:txBody>
      </p:sp>
      <p:sp>
        <p:nvSpPr>
          <p:cNvPr id="35" name="TextBox 34"/>
          <p:cNvSpPr txBox="1"/>
          <p:nvPr/>
        </p:nvSpPr>
        <p:spPr>
          <a:xfrm>
            <a:off x="6400800" y="3913631"/>
            <a:ext cx="128016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41.5 MB</a:t>
            </a:r>
          </a:p>
        </p:txBody>
      </p:sp>
      <p:sp>
        <p:nvSpPr>
          <p:cNvPr id="36" name="TextBox 35"/>
          <p:cNvSpPr txBox="1"/>
          <p:nvPr/>
        </p:nvSpPr>
        <p:spPr>
          <a:xfrm>
            <a:off x="7772400" y="3913631"/>
            <a:ext cx="100584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2.6 s</a:t>
            </a:r>
          </a:p>
        </p:txBody>
      </p:sp>
      <p:sp>
        <p:nvSpPr>
          <p:cNvPr id="37" name="TextBox 36"/>
          <p:cNvSpPr txBox="1"/>
          <p:nvPr/>
        </p:nvSpPr>
        <p:spPr>
          <a:xfrm>
            <a:off x="8869680" y="3913631"/>
            <a:ext cx="274320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2.0 s</a:t>
            </a:r>
          </a:p>
        </p:txBody>
      </p:sp>
      <p:sp>
        <p:nvSpPr>
          <p:cNvPr id="38" name="Rectangle 37"/>
          <p:cNvSpPr/>
          <p:nvPr/>
        </p:nvSpPr>
        <p:spPr>
          <a:xfrm>
            <a:off x="457200" y="4443983"/>
            <a:ext cx="11274552" cy="56692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4517136"/>
            <a:ext cx="3108960" cy="420624"/>
          </a:xfrm>
          <a:prstGeom prst="rect">
            <a:avLst/>
          </a:prstGeom>
          <a:noFill/>
        </p:spPr>
        <p:txBody>
          <a:bodyPr wrap="square" lIns="0" rIns="0" tIns="18288" bIns="18288" anchor="ctr">
            <a:spAutoFit/>
          </a:bodyPr>
          <a:lstStyle/>
          <a:p>
            <a:pPr algn="l">
              <a:lnSpc>
                <a:spcPct val="112000"/>
              </a:lnSpc>
            </a:pPr>
            <a:r>
              <a:rPr sz="1700" b="1" i="0">
                <a:solidFill>
                  <a:srgbClr val="0F172A"/>
                </a:solidFill>
                <a:latin typeface="Arial"/>
              </a:rPr>
              <a:t>SmolLM2-135M-Instruct</a:t>
            </a:r>
          </a:p>
        </p:txBody>
      </p:sp>
      <p:sp>
        <p:nvSpPr>
          <p:cNvPr id="40" name="TextBox 39"/>
          <p:cNvSpPr txBox="1"/>
          <p:nvPr/>
        </p:nvSpPr>
        <p:spPr>
          <a:xfrm>
            <a:off x="3657600" y="4517136"/>
            <a:ext cx="173736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WASM</a:t>
            </a:r>
          </a:p>
        </p:txBody>
      </p:sp>
      <p:sp>
        <p:nvSpPr>
          <p:cNvPr id="41" name="TextBox 40"/>
          <p:cNvSpPr txBox="1"/>
          <p:nvPr/>
        </p:nvSpPr>
        <p:spPr>
          <a:xfrm>
            <a:off x="5440680" y="4517136"/>
            <a:ext cx="91440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q8</a:t>
            </a:r>
          </a:p>
        </p:txBody>
      </p:sp>
      <p:sp>
        <p:nvSpPr>
          <p:cNvPr id="42" name="TextBox 41"/>
          <p:cNvSpPr txBox="1"/>
          <p:nvPr/>
        </p:nvSpPr>
        <p:spPr>
          <a:xfrm>
            <a:off x="6400800" y="4517136"/>
            <a:ext cx="128016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132.8 MB</a:t>
            </a:r>
          </a:p>
        </p:txBody>
      </p:sp>
      <p:sp>
        <p:nvSpPr>
          <p:cNvPr id="43" name="TextBox 42"/>
          <p:cNvSpPr txBox="1"/>
          <p:nvPr/>
        </p:nvSpPr>
        <p:spPr>
          <a:xfrm>
            <a:off x="7772400" y="4517136"/>
            <a:ext cx="100584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4.6 s</a:t>
            </a:r>
          </a:p>
        </p:txBody>
      </p:sp>
      <p:sp>
        <p:nvSpPr>
          <p:cNvPr id="44" name="TextBox 43"/>
          <p:cNvSpPr txBox="1"/>
          <p:nvPr/>
        </p:nvSpPr>
        <p:spPr>
          <a:xfrm>
            <a:off x="8869680" y="4517136"/>
            <a:ext cx="2743200" cy="420624"/>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18.3 tok/s (24.4 local)</a:t>
            </a:r>
          </a:p>
        </p:txBody>
      </p:sp>
      <p:sp>
        <p:nvSpPr>
          <p:cNvPr id="45" name="Rectangle 44"/>
          <p:cNvSpPr/>
          <p:nvPr/>
        </p:nvSpPr>
        <p:spPr>
          <a:xfrm>
            <a:off x="457200" y="5047488"/>
            <a:ext cx="11274552" cy="603504"/>
          </a:xfrm>
          <a:prstGeom prst="rect">
            <a:avLst/>
          </a:prstGeom>
          <a:solidFill>
            <a:srgbClr val="FFFFFF"/>
          </a:solidFill>
          <a:ln w="25400">
            <a:solidFill>
              <a:srgbClr val="0891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548640" y="5120640"/>
            <a:ext cx="3108960" cy="457200"/>
          </a:xfrm>
          <a:prstGeom prst="rect">
            <a:avLst/>
          </a:prstGeom>
          <a:noFill/>
        </p:spPr>
        <p:txBody>
          <a:bodyPr wrap="square" lIns="0" rIns="0" tIns="18288" bIns="18288" anchor="ctr">
            <a:spAutoFit/>
          </a:bodyPr>
          <a:lstStyle/>
          <a:p>
            <a:pPr algn="l">
              <a:lnSpc>
                <a:spcPct val="112000"/>
              </a:lnSpc>
            </a:pPr>
            <a:r>
              <a:rPr sz="1800" b="1" i="0">
                <a:solidFill>
                  <a:srgbClr val="0E7490"/>
                </a:solidFill>
                <a:latin typeface="Arial"/>
              </a:rPr>
              <a:t>WebNN · NPU</a:t>
            </a:r>
          </a:p>
        </p:txBody>
      </p:sp>
      <p:sp>
        <p:nvSpPr>
          <p:cNvPr id="47" name="TextBox 46"/>
          <p:cNvSpPr txBox="1"/>
          <p:nvPr/>
        </p:nvSpPr>
        <p:spPr>
          <a:xfrm>
            <a:off x="3657600" y="5120640"/>
            <a:ext cx="7955279" cy="457200"/>
          </a:xfrm>
          <a:prstGeom prst="rect">
            <a:avLst/>
          </a:prstGeom>
          <a:noFill/>
        </p:spPr>
        <p:txBody>
          <a:bodyPr wrap="square" lIns="0" rIns="0" tIns="18288" bIns="18288" anchor="ctr">
            <a:spAutoFit/>
          </a:bodyPr>
          <a:lstStyle/>
          <a:p>
            <a:pPr algn="l">
              <a:lnSpc>
                <a:spcPct val="112000"/>
              </a:lnSpc>
            </a:pPr>
            <a:r>
              <a:rPr sz="1800" b="0" i="0">
                <a:solidFill>
                  <a:srgbClr val="0E7490"/>
                </a:solidFill>
                <a:latin typeface="Arial"/>
              </a:rPr>
              <a:t>measure on stage →  _______   _______   _______</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LAYER 4 · BEYOND TEXT</a:t>
            </a:r>
          </a:p>
        </p:txBody>
      </p:sp>
      <p:sp>
        <p:nvSpPr>
          <p:cNvPr id="3" name="TextBox 2"/>
          <p:cNvSpPr txBox="1"/>
          <p:nvPr/>
        </p:nvSpPr>
        <p:spPr>
          <a:xfrm>
            <a:off x="548640" y="658368"/>
            <a:ext cx="896112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Prompt API: images, audio, JSON</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27</a:t>
            </a:r>
          </a:p>
        </p:txBody>
      </p:sp>
      <p:sp>
        <p:nvSpPr>
          <p:cNvPr id="5" name="Rectangle 4"/>
          <p:cNvSpPr/>
          <p:nvPr/>
        </p:nvSpPr>
        <p:spPr>
          <a:xfrm>
            <a:off x="9692640" y="274320"/>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L5  Task APIs</a:t>
            </a:r>
          </a:p>
        </p:txBody>
      </p:sp>
      <p:sp>
        <p:nvSpPr>
          <p:cNvPr id="6" name="Rectangle 5"/>
          <p:cNvSpPr/>
          <p:nvPr/>
        </p:nvSpPr>
        <p:spPr>
          <a:xfrm>
            <a:off x="9692640" y="489203"/>
            <a:ext cx="1947672" cy="187452"/>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1" i="0">
                <a:solidFill>
                  <a:srgbClr val="FFFFFF"/>
                </a:solidFill>
                <a:latin typeface="Arial"/>
              </a:rPr>
              <a:t>L4  Prompt API</a:t>
            </a:r>
          </a:p>
        </p:txBody>
      </p:sp>
      <p:sp>
        <p:nvSpPr>
          <p:cNvPr id="7" name="Rectangle 6"/>
          <p:cNvSpPr/>
          <p:nvPr/>
        </p:nvSpPr>
        <p:spPr>
          <a:xfrm>
            <a:off x="9692640" y="704088"/>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L3  Frameworks</a:t>
            </a:r>
          </a:p>
        </p:txBody>
      </p:sp>
      <p:sp>
        <p:nvSpPr>
          <p:cNvPr id="8" name="Rectangle 7"/>
          <p:cNvSpPr/>
          <p:nvPr/>
        </p:nvSpPr>
        <p:spPr>
          <a:xfrm>
            <a:off x="9692640" y="918971"/>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L2  Compute APIs</a:t>
            </a:r>
          </a:p>
        </p:txBody>
      </p:sp>
      <p:sp>
        <p:nvSpPr>
          <p:cNvPr id="9" name="Rectangle 8"/>
          <p:cNvSpPr/>
          <p:nvPr/>
        </p:nvSpPr>
        <p:spPr>
          <a:xfrm>
            <a:off x="9692640" y="1133856"/>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L1  OS ML APIs</a:t>
            </a:r>
          </a:p>
        </p:txBody>
      </p:sp>
      <p:sp>
        <p:nvSpPr>
          <p:cNvPr id="10" name="Rectangle 9"/>
          <p:cNvSpPr/>
          <p:nvPr/>
        </p:nvSpPr>
        <p:spPr>
          <a:xfrm>
            <a:off x="9692640" y="1348739"/>
            <a:ext cx="1947672" cy="1874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l">
              <a:lnSpc>
                <a:spcPct val="112000"/>
              </a:lnSpc>
            </a:pPr>
            <a:r>
              <a:rPr sz="1100" b="0" i="0">
                <a:solidFill>
                  <a:srgbClr val="475569"/>
                </a:solidFill>
                <a:latin typeface="Arial"/>
              </a:rPr>
              <a:t>HW  Hardware</a:t>
            </a:r>
          </a:p>
        </p:txBody>
      </p:sp>
      <p:sp>
        <p:nvSpPr>
          <p:cNvPr id="11" name="Rounded Rectangle 10"/>
          <p:cNvSpPr/>
          <p:nvPr/>
        </p:nvSpPr>
        <p:spPr>
          <a:xfrm>
            <a:off x="548640" y="1691640"/>
            <a:ext cx="6949440" cy="44348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500" b="0" i="0">
                <a:solidFill>
                  <a:srgbClr val="67E8F9"/>
                </a:solidFill>
                <a:latin typeface="Consolas"/>
              </a:rPr>
              <a:t>const</a:t>
            </a:r>
            <a:r>
              <a:rPr sz="1500" b="0" i="0">
                <a:solidFill>
                  <a:srgbClr val="E2E8F0"/>
                </a:solidFill>
                <a:latin typeface="Consolas"/>
              </a:rPr>
              <a:t> session = </a:t>
            </a:r>
            <a:r>
              <a:rPr sz="1500" b="0" i="0">
                <a:solidFill>
                  <a:srgbClr val="67E8F9"/>
                </a:solidFill>
                <a:latin typeface="Consolas"/>
              </a:rPr>
              <a:t>await</a:t>
            </a:r>
            <a:r>
              <a:rPr sz="1500" b="0" i="0">
                <a:solidFill>
                  <a:srgbClr val="E2E8F0"/>
                </a:solidFill>
                <a:latin typeface="Consolas"/>
              </a:rPr>
              <a:t> LanguageModel.create({</a:t>
            </a:r>
          </a:p>
          <a:p>
            <a:pPr algn="l">
              <a:lnSpc>
                <a:spcPct val="110000"/>
              </a:lnSpc>
            </a:pPr>
            <a:r>
              <a:rPr sz="1500" b="0" i="0">
                <a:solidFill>
                  <a:srgbClr val="E2E8F0"/>
                </a:solidFill>
                <a:latin typeface="Consolas"/>
              </a:rPr>
              <a:t>  expectedInputs: [{ type: </a:t>
            </a:r>
            <a:r>
              <a:rPr sz="1500" b="0" i="0">
                <a:solidFill>
                  <a:srgbClr val="FCD34D"/>
                </a:solidFill>
                <a:latin typeface="Consolas"/>
              </a:rPr>
              <a:t>'image'</a:t>
            </a:r>
            <a:r>
              <a:rPr sz="1500" b="0" i="0">
                <a:solidFill>
                  <a:srgbClr val="E2E8F0"/>
                </a:solidFill>
                <a:latin typeface="Consolas"/>
              </a:rPr>
              <a:t> }] });</a:t>
            </a:r>
          </a:p>
          <a:p>
            <a:pPr algn="l">
              <a:lnSpc>
                <a:spcPct val="110000"/>
              </a:lnSpc>
            </a:pPr>
            <a:r>
              <a:rPr sz="1500" b="0" i="0">
                <a:solidFill>
                  <a:srgbClr val="67E8F9"/>
                </a:solidFill>
                <a:latin typeface="Consolas"/>
              </a:rPr>
              <a:t>const</a:t>
            </a:r>
            <a:r>
              <a:rPr sz="1500" b="0" i="0">
                <a:solidFill>
                  <a:srgbClr val="E2E8F0"/>
                </a:solidFill>
                <a:latin typeface="Consolas"/>
              </a:rPr>
              <a:t> schema = { type: </a:t>
            </a:r>
            <a:r>
              <a:rPr sz="1500" b="0" i="0">
                <a:solidFill>
                  <a:srgbClr val="FCD34D"/>
                </a:solidFill>
                <a:latin typeface="Consolas"/>
              </a:rPr>
              <a:t>'object'</a:t>
            </a:r>
            <a:r>
              <a:rPr sz="1500" b="0" i="0">
                <a:solidFill>
                  <a:srgbClr val="E2E8F0"/>
                </a:solidFill>
                <a:latin typeface="Consolas"/>
              </a:rPr>
              <a:t>,</a:t>
            </a:r>
          </a:p>
          <a:p>
            <a:pPr algn="l">
              <a:lnSpc>
                <a:spcPct val="110000"/>
              </a:lnSpc>
            </a:pPr>
            <a:r>
              <a:rPr sz="1500" b="0" i="0">
                <a:solidFill>
                  <a:srgbClr val="E2E8F0"/>
                </a:solidFill>
                <a:latin typeface="Consolas"/>
              </a:rPr>
              <a:t>  properties: { label: { type: </a:t>
            </a:r>
            <a:r>
              <a:rPr sz="1500" b="0" i="0">
                <a:solidFill>
                  <a:srgbClr val="FCD34D"/>
                </a:solidFill>
                <a:latin typeface="Consolas"/>
              </a:rPr>
              <a:t>'string'</a:t>
            </a:r>
            <a:r>
              <a:rPr sz="1500" b="0" i="0">
                <a:solidFill>
                  <a:srgbClr val="E2E8F0"/>
                </a:solidFill>
                <a:latin typeface="Consolas"/>
              </a:rPr>
              <a:t> } } };</a:t>
            </a:r>
          </a:p>
          <a:p>
            <a:pPr algn="l">
              <a:lnSpc>
                <a:spcPct val="110000"/>
              </a:lnSpc>
            </a:pPr>
            <a:r>
              <a:rPr sz="1500" b="0" i="0">
                <a:solidFill>
                  <a:srgbClr val="67E8F9"/>
                </a:solidFill>
                <a:latin typeface="Consolas"/>
              </a:rPr>
              <a:t>const</a:t>
            </a:r>
            <a:r>
              <a:rPr sz="1500" b="0" i="0">
                <a:solidFill>
                  <a:srgbClr val="E2E8F0"/>
                </a:solidFill>
                <a:latin typeface="Consolas"/>
              </a:rPr>
              <a:t> answer = </a:t>
            </a:r>
            <a:r>
              <a:rPr sz="1500" b="0" i="0">
                <a:solidFill>
                  <a:srgbClr val="67E8F9"/>
                </a:solidFill>
                <a:latin typeface="Consolas"/>
              </a:rPr>
              <a:t>await</a:t>
            </a:r>
            <a:r>
              <a:rPr sz="1500" b="0" i="0">
                <a:solidFill>
                  <a:srgbClr val="E2E8F0"/>
                </a:solidFill>
                <a:latin typeface="Consolas"/>
              </a:rPr>
              <a:t> session.prompt([{</a:t>
            </a:r>
          </a:p>
          <a:p>
            <a:pPr algn="l">
              <a:lnSpc>
                <a:spcPct val="110000"/>
              </a:lnSpc>
            </a:pPr>
            <a:r>
              <a:rPr sz="1500" b="0" i="0">
                <a:solidFill>
                  <a:srgbClr val="E2E8F0"/>
                </a:solidFill>
                <a:latin typeface="Consolas"/>
              </a:rPr>
              <a:t>  role: </a:t>
            </a:r>
            <a:r>
              <a:rPr sz="1500" b="0" i="0">
                <a:solidFill>
                  <a:srgbClr val="FCD34D"/>
                </a:solidFill>
                <a:latin typeface="Consolas"/>
              </a:rPr>
              <a:t>'user'</a:t>
            </a:r>
            <a:r>
              <a:rPr sz="1500" b="0" i="0">
                <a:solidFill>
                  <a:srgbClr val="E2E8F0"/>
                </a:solidFill>
                <a:latin typeface="Consolas"/>
              </a:rPr>
              <a:t>,</a:t>
            </a:r>
          </a:p>
          <a:p>
            <a:pPr algn="l">
              <a:lnSpc>
                <a:spcPct val="110000"/>
              </a:lnSpc>
            </a:pPr>
            <a:r>
              <a:rPr sz="1500" b="0" i="0">
                <a:solidFill>
                  <a:srgbClr val="E2E8F0"/>
                </a:solidFill>
                <a:latin typeface="Consolas"/>
              </a:rPr>
              <a:t>  content: [</a:t>
            </a:r>
          </a:p>
          <a:p>
            <a:pPr algn="l">
              <a:lnSpc>
                <a:spcPct val="110000"/>
              </a:lnSpc>
            </a:pPr>
            <a:r>
              <a:rPr sz="1500" b="0" i="0">
                <a:solidFill>
                  <a:srgbClr val="E2E8F0"/>
                </a:solidFill>
                <a:latin typeface="Consolas"/>
              </a:rPr>
              <a:t>    { type: </a:t>
            </a:r>
            <a:r>
              <a:rPr sz="1500" b="0" i="0">
                <a:solidFill>
                  <a:srgbClr val="FCD34D"/>
                </a:solidFill>
                <a:latin typeface="Consolas"/>
              </a:rPr>
              <a:t>'text'</a:t>
            </a:r>
            <a:r>
              <a:rPr sz="1500" b="0" i="0">
                <a:solidFill>
                  <a:srgbClr val="E2E8F0"/>
                </a:solidFill>
                <a:latin typeface="Consolas"/>
              </a:rPr>
              <a:t>, value: </a:t>
            </a:r>
            <a:r>
              <a:rPr sz="1500" b="0" i="0">
                <a:solidFill>
                  <a:srgbClr val="FCD34D"/>
                </a:solidFill>
                <a:latin typeface="Consolas"/>
              </a:rPr>
              <a:t>'What is in this photo?'</a:t>
            </a:r>
            <a:r>
              <a:rPr sz="1500" b="0" i="0">
                <a:solidFill>
                  <a:srgbClr val="E2E8F0"/>
                </a:solidFill>
                <a:latin typeface="Consolas"/>
              </a:rPr>
              <a:t> },</a:t>
            </a:r>
          </a:p>
          <a:p>
            <a:pPr algn="l">
              <a:lnSpc>
                <a:spcPct val="110000"/>
              </a:lnSpc>
            </a:pPr>
            <a:r>
              <a:rPr sz="1500" b="0" i="0">
                <a:solidFill>
                  <a:srgbClr val="E2E8F0"/>
                </a:solidFill>
                <a:latin typeface="Consolas"/>
              </a:rPr>
              <a:t>    { type: </a:t>
            </a:r>
            <a:r>
              <a:rPr sz="1500" b="0" i="0">
                <a:solidFill>
                  <a:srgbClr val="FCD34D"/>
                </a:solidFill>
                <a:latin typeface="Consolas"/>
              </a:rPr>
              <a:t>'image'</a:t>
            </a:r>
            <a:r>
              <a:rPr sz="1500" b="0" i="0">
                <a:solidFill>
                  <a:srgbClr val="E2E8F0"/>
                </a:solidFill>
                <a:latin typeface="Consolas"/>
              </a:rPr>
              <a:t>, value: photoBlob },</a:t>
            </a:r>
          </a:p>
          <a:p>
            <a:pPr algn="l">
              <a:lnSpc>
                <a:spcPct val="110000"/>
              </a:lnSpc>
            </a:pPr>
            <a:r>
              <a:rPr sz="1500" b="0" i="0">
                <a:solidFill>
                  <a:srgbClr val="E2E8F0"/>
                </a:solidFill>
                <a:latin typeface="Consolas"/>
              </a:rPr>
              <a:t>  ],</a:t>
            </a:r>
          </a:p>
          <a:p>
            <a:pPr algn="l">
              <a:lnSpc>
                <a:spcPct val="110000"/>
              </a:lnSpc>
            </a:pPr>
            <a:r>
              <a:rPr sz="1500" b="0" i="0">
                <a:solidFill>
                  <a:srgbClr val="E2E8F0"/>
                </a:solidFill>
                <a:latin typeface="Consolas"/>
              </a:rPr>
              <a:t>}], { responseConstraint: schema });</a:t>
            </a:r>
          </a:p>
        </p:txBody>
      </p:sp>
      <p:sp>
        <p:nvSpPr>
          <p:cNvPr id="12" name="TextBox 11"/>
          <p:cNvSpPr txBox="1"/>
          <p:nvPr/>
        </p:nvSpPr>
        <p:spPr>
          <a:xfrm>
            <a:off x="7772400" y="1783080"/>
            <a:ext cx="3886200" cy="4389120"/>
          </a:xfrm>
          <a:prstGeom prst="rect">
            <a:avLst/>
          </a:prstGeom>
          <a:noFill/>
        </p:spPr>
        <p:txBody>
          <a:bodyPr wrap="square" lIns="0" rIns="0" tIns="18288" bIns="18288" anchor="t">
            <a:spAutoFit/>
          </a:bodyPr>
          <a:lstStyle/>
          <a:p>
            <a:pPr algn="l">
              <a:lnSpc>
                <a:spcPct val="112000"/>
              </a:lnSpc>
            </a:pPr>
            <a:r>
              <a:rPr sz="1800" b="1" i="0">
                <a:solidFill>
                  <a:srgbClr val="0891B2"/>
                </a:solidFill>
                <a:latin typeface="Arial"/>
              </a:rPr>
              <a:t>▸  </a:t>
            </a:r>
            <a:r>
              <a:rPr sz="1800" b="0" i="0">
                <a:solidFill>
                  <a:srgbClr val="0F172A"/>
                </a:solidFill>
                <a:latin typeface="Arial"/>
              </a:rPr>
              <a:t>Inputs: text, image, audio (shipped in Chrome 148)</a:t>
            </a:r>
          </a:p>
          <a:p>
            <a:pPr algn="l">
              <a:lnSpc>
                <a:spcPct val="112000"/>
              </a:lnSpc>
              <a:spcBef>
                <a:spcPts val="1200"/>
              </a:spcBef>
            </a:pPr>
            <a:r>
              <a:rPr sz="1800" b="1" i="0">
                <a:solidFill>
                  <a:srgbClr val="0891B2"/>
                </a:solidFill>
                <a:latin typeface="Arial"/>
              </a:rPr>
              <a:t>▸  </a:t>
            </a:r>
            <a:r>
              <a:rPr sz="1800" b="0" i="0">
                <a:solidFill>
                  <a:srgbClr val="0F172A"/>
                </a:solidFill>
                <a:latin typeface="Arial"/>
              </a:rPr>
              <a:t>Output: text only</a:t>
            </a:r>
          </a:p>
          <a:p>
            <a:pPr algn="l">
              <a:lnSpc>
                <a:spcPct val="112000"/>
              </a:lnSpc>
              <a:spcBef>
                <a:spcPts val="1200"/>
              </a:spcBef>
            </a:pPr>
            <a:r>
              <a:rPr sz="1800" b="1" i="0">
                <a:solidFill>
                  <a:srgbClr val="0891B2"/>
                </a:solidFill>
                <a:latin typeface="Arial"/>
              </a:rPr>
              <a:t>▸  </a:t>
            </a:r>
            <a:r>
              <a:rPr sz="1700" b="0" i="0">
                <a:solidFill>
                  <a:srgbClr val="0F172A"/>
                </a:solidFill>
                <a:latin typeface="Consolas"/>
              </a:rPr>
              <a:t>responseConstraint</a:t>
            </a:r>
            <a:r>
              <a:rPr sz="1800" b="0" i="0">
                <a:solidFill>
                  <a:srgbClr val="0F172A"/>
                </a:solidFill>
                <a:latin typeface="Arial"/>
              </a:rPr>
              <a:t>: JSON Schema or regex</a:t>
            </a:r>
          </a:p>
          <a:p>
            <a:pPr algn="l">
              <a:lnSpc>
                <a:spcPct val="112000"/>
              </a:lnSpc>
              <a:spcBef>
                <a:spcPts val="1200"/>
              </a:spcBef>
            </a:pPr>
            <a:r>
              <a:rPr sz="1800" b="1" i="0">
                <a:solidFill>
                  <a:srgbClr val="0891B2"/>
                </a:solidFill>
                <a:latin typeface="Arial"/>
              </a:rPr>
              <a:t>▸  </a:t>
            </a:r>
            <a:r>
              <a:rPr sz="1800" b="0" i="0">
                <a:solidFill>
                  <a:srgbClr val="0F172A"/>
                </a:solidFill>
                <a:latin typeface="Arial"/>
              </a:rPr>
              <a:t>Audio input needs a GPU</a:t>
            </a:r>
          </a:p>
          <a:p>
            <a:pPr algn="l">
              <a:lnSpc>
                <a:spcPct val="112000"/>
              </a:lnSpc>
              <a:spcBef>
                <a:spcPts val="1200"/>
              </a:spcBef>
            </a:pPr>
            <a:r>
              <a:rPr sz="1800" b="1" i="0">
                <a:solidFill>
                  <a:srgbClr val="0891B2"/>
                </a:solidFill>
                <a:latin typeface="Arial"/>
              </a:rPr>
              <a:t>▸  </a:t>
            </a:r>
            <a:r>
              <a:rPr sz="1800" b="0" i="0">
                <a:solidFill>
                  <a:srgbClr val="0F172A"/>
                </a:solidFill>
                <a:latin typeface="Arial"/>
              </a:rPr>
              <a:t>Declare expectedInputs up front so availability() is accurate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22D3EE"/>
                </a:solidFill>
                <a:latin typeface="Arial"/>
              </a:rPr>
              <a:t>LIVE DEMO</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FFFFFF"/>
                </a:solidFill>
                <a:latin typeface="Arial"/>
              </a:rPr>
              <a:t>Demo 3 · Prompt API with a fallback</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94A3B8"/>
                </a:solidFill>
                <a:latin typeface="Arial"/>
              </a:rPr>
              <a:t>28</a:t>
            </a:r>
          </a:p>
        </p:txBody>
      </p:sp>
      <p:pic>
        <p:nvPicPr>
          <p:cNvPr id="5" name="Picture 4" descr="prompt-fallback-smollm2.jpg"/>
          <p:cNvPicPr>
            <a:picLocks noChangeAspect="1"/>
          </p:cNvPicPr>
          <p:nvPr/>
        </p:nvPicPr>
        <p:blipFill>
          <a:blip r:embed="rId2"/>
          <a:stretch>
            <a:fillRect/>
          </a:stretch>
        </p:blipFill>
        <p:spPr>
          <a:xfrm>
            <a:off x="548640" y="1691640"/>
            <a:ext cx="6949440" cy="1313121"/>
          </a:xfrm>
          <a:prstGeom prst="rect">
            <a:avLst/>
          </a:prstGeom>
          <a:ln w="12700">
            <a:solidFill>
              <a:srgbClr val="CBD5E1"/>
            </a:solidFill>
          </a:ln>
        </p:spPr>
      </p:pic>
      <p:sp>
        <p:nvSpPr>
          <p:cNvPr id="6" name="Rounded Rectangle 5"/>
          <p:cNvSpPr/>
          <p:nvPr/>
        </p:nvSpPr>
        <p:spPr>
          <a:xfrm>
            <a:off x="548640" y="3429000"/>
            <a:ext cx="6949440" cy="786384"/>
          </a:xfrm>
          <a:prstGeom prst="roundRect">
            <a:avLst>
              <a:gd name="adj" fmla="val 12000"/>
            </a:avLst>
          </a:prstGeom>
          <a:solidFill>
            <a:srgbClr val="13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3429000"/>
            <a:ext cx="6583680" cy="786384"/>
          </a:xfrm>
          <a:prstGeom prst="rect">
            <a:avLst/>
          </a:prstGeom>
          <a:noFill/>
        </p:spPr>
        <p:txBody>
          <a:bodyPr wrap="square" lIns="0" rIns="0" tIns="18288" bIns="18288" anchor="ctr">
            <a:spAutoFit/>
          </a:bodyPr>
          <a:lstStyle/>
          <a:p>
            <a:pPr algn="l">
              <a:lnSpc>
                <a:spcPct val="112000"/>
              </a:lnSpc>
            </a:pPr>
            <a:r>
              <a:rPr sz="1800" b="1" i="0">
                <a:solidFill>
                  <a:srgbClr val="22D3EE"/>
                </a:solidFill>
                <a:latin typeface="Consolas"/>
              </a:rPr>
              <a:t>'LanguageModel' in self  </a:t>
            </a:r>
            <a:r>
              <a:rPr sz="1600" b="0" i="0">
                <a:solidFill>
                  <a:srgbClr val="E2E8F0"/>
                </a:solidFill>
                <a:latin typeface="Arial"/>
              </a:rPr>
              <a:t>and availability() ≠ 'unavailable'</a:t>
            </a:r>
          </a:p>
        </p:txBody>
      </p:sp>
      <p:sp>
        <p:nvSpPr>
          <p:cNvPr id="8" name="Rounded Rectangle 7"/>
          <p:cNvSpPr/>
          <p:nvPr/>
        </p:nvSpPr>
        <p:spPr>
          <a:xfrm>
            <a:off x="548640" y="4343400"/>
            <a:ext cx="6949440" cy="786384"/>
          </a:xfrm>
          <a:prstGeom prst="roundRect">
            <a:avLst>
              <a:gd name="adj" fmla="val 12000"/>
            </a:avLst>
          </a:prstGeom>
          <a:solidFill>
            <a:srgbClr val="13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4343400"/>
            <a:ext cx="6583680" cy="786384"/>
          </a:xfrm>
          <a:prstGeom prst="rect">
            <a:avLst/>
          </a:prstGeom>
          <a:noFill/>
        </p:spPr>
        <p:txBody>
          <a:bodyPr wrap="square" lIns="0" rIns="0" tIns="18288" bIns="18288" anchor="ctr">
            <a:spAutoFit/>
          </a:bodyPr>
          <a:lstStyle/>
          <a:p>
            <a:pPr algn="l">
              <a:lnSpc>
                <a:spcPct val="112000"/>
              </a:lnSpc>
            </a:pPr>
            <a:r>
              <a:rPr sz="1800" b="1" i="0">
                <a:solidFill>
                  <a:srgbClr val="22D3EE"/>
                </a:solidFill>
                <a:latin typeface="Arial"/>
              </a:rPr>
              <a:t>yes → built-in model  </a:t>
            </a:r>
            <a:r>
              <a:rPr sz="1600" b="0" i="0">
                <a:solidFill>
                  <a:srgbClr val="E2E8F0"/>
                </a:solidFill>
                <a:latin typeface="Arial"/>
              </a:rPr>
              <a:t>create() + progress, then stream</a:t>
            </a:r>
          </a:p>
        </p:txBody>
      </p:sp>
      <p:sp>
        <p:nvSpPr>
          <p:cNvPr id="10" name="Rounded Rectangle 9"/>
          <p:cNvSpPr/>
          <p:nvPr/>
        </p:nvSpPr>
        <p:spPr>
          <a:xfrm>
            <a:off x="548640" y="5257800"/>
            <a:ext cx="6949440" cy="786384"/>
          </a:xfrm>
          <a:prstGeom prst="roundRect">
            <a:avLst>
              <a:gd name="adj" fmla="val 12000"/>
            </a:avLst>
          </a:prstGeom>
          <a:solidFill>
            <a:srgbClr val="13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5257800"/>
            <a:ext cx="6583680" cy="786384"/>
          </a:xfrm>
          <a:prstGeom prst="rect">
            <a:avLst/>
          </a:prstGeom>
          <a:noFill/>
        </p:spPr>
        <p:txBody>
          <a:bodyPr wrap="square" lIns="0" rIns="0" tIns="18288" bIns="18288" anchor="ctr">
            <a:spAutoFit/>
          </a:bodyPr>
          <a:lstStyle/>
          <a:p>
            <a:pPr algn="l">
              <a:lnSpc>
                <a:spcPct val="112000"/>
              </a:lnSpc>
            </a:pPr>
            <a:r>
              <a:rPr sz="1800" b="1" i="0">
                <a:solidFill>
                  <a:srgbClr val="22D3EE"/>
                </a:solidFill>
                <a:latin typeface="Arial"/>
              </a:rPr>
              <a:t>no → Transformers.js  </a:t>
            </a:r>
            <a:r>
              <a:rPr sz="1600" b="0" i="0">
                <a:solidFill>
                  <a:srgbClr val="E2E8F0"/>
                </a:solidFill>
                <a:latin typeface="Arial"/>
              </a:rPr>
              <a:t>SmolLM2-135M-Instruct q8, in a worker</a:t>
            </a:r>
          </a:p>
        </p:txBody>
      </p:sp>
      <p:pic>
        <p:nvPicPr>
          <p:cNvPr id="12" name="Picture 11" descr="qr-demo.png"/>
          <p:cNvPicPr>
            <a:picLocks noChangeAspect="1"/>
          </p:cNvPicPr>
          <p:nvPr/>
        </p:nvPicPr>
        <p:blipFill>
          <a:blip r:embed="rId3"/>
          <a:stretch>
            <a:fillRect/>
          </a:stretch>
        </p:blipFill>
        <p:spPr>
          <a:xfrm>
            <a:off x="8366760" y="1737360"/>
            <a:ext cx="2651760" cy="2651760"/>
          </a:xfrm>
          <a:prstGeom prst="rect">
            <a:avLst/>
          </a:prstGeom>
        </p:spPr>
      </p:pic>
      <p:sp>
        <p:nvSpPr>
          <p:cNvPr id="13" name="TextBox 12"/>
          <p:cNvSpPr txBox="1"/>
          <p:nvPr/>
        </p:nvSpPr>
        <p:spPr>
          <a:xfrm>
            <a:off x="7726680" y="4462272"/>
            <a:ext cx="3931920" cy="365760"/>
          </a:xfrm>
          <a:prstGeom prst="rect">
            <a:avLst/>
          </a:prstGeom>
          <a:noFill/>
        </p:spPr>
        <p:txBody>
          <a:bodyPr wrap="square" lIns="0" rIns="0" tIns="18288" bIns="18288" anchor="t">
            <a:spAutoFit/>
          </a:bodyPr>
          <a:lstStyle/>
          <a:p>
            <a:pPr algn="ctr">
              <a:lnSpc>
                <a:spcPct val="112000"/>
              </a:lnSpc>
            </a:pPr>
            <a:r>
              <a:rPr sz="1600" b="1" i="0">
                <a:solidFill>
                  <a:srgbClr val="22D3EE"/>
                </a:solidFill>
                <a:latin typeface="Arial"/>
                <a:hlinkClick r:id="rId4"/>
              </a:rPr>
              <a:t>webai-playground.sites.tab.bot</a:t>
            </a:r>
          </a:p>
        </p:txBody>
      </p:sp>
      <p:sp>
        <p:nvSpPr>
          <p:cNvPr id="14" name="TextBox 13"/>
          <p:cNvSpPr txBox="1"/>
          <p:nvPr/>
        </p:nvSpPr>
        <p:spPr>
          <a:xfrm>
            <a:off x="7680960" y="4937760"/>
            <a:ext cx="4023360" cy="1097280"/>
          </a:xfrm>
          <a:prstGeom prst="rect">
            <a:avLst/>
          </a:prstGeom>
          <a:noFill/>
        </p:spPr>
        <p:txBody>
          <a:bodyPr wrap="square" lIns="0" rIns="0" tIns="18288" bIns="18288" anchor="t">
            <a:spAutoFit/>
          </a:bodyPr>
          <a:lstStyle/>
          <a:p>
            <a:pPr algn="ctr">
              <a:lnSpc>
                <a:spcPct val="112000"/>
              </a:lnSpc>
            </a:pPr>
            <a:r>
              <a:rPr sz="1900" b="1" i="0">
                <a:solidFill>
                  <a:srgbClr val="FFFFFF"/>
                </a:solidFill>
                <a:latin typeface="Arial"/>
              </a:rPr>
              <a:t>Same UI, different engine.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DECISION MATRIX</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Which layer for which job?</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29</a:t>
            </a:r>
          </a:p>
        </p:txBody>
      </p:sp>
      <p:sp>
        <p:nvSpPr>
          <p:cNvPr id="5" name="TextBox 4"/>
          <p:cNvSpPr txBox="1"/>
          <p:nvPr/>
        </p:nvSpPr>
        <p:spPr>
          <a:xfrm>
            <a:off x="548640" y="1645920"/>
            <a:ext cx="3291840" cy="365760"/>
          </a:xfrm>
          <a:prstGeom prst="rect">
            <a:avLst/>
          </a:prstGeom>
          <a:noFill/>
        </p:spPr>
        <p:txBody>
          <a:bodyPr wrap="square" lIns="0" rIns="0" tIns="18288" bIns="18288" anchor="t">
            <a:spAutoFit/>
          </a:bodyPr>
          <a:lstStyle/>
          <a:p>
            <a:pPr algn="l">
              <a:lnSpc>
                <a:spcPct val="112000"/>
              </a:lnSpc>
            </a:pPr>
            <a:r>
              <a:rPr sz="1700" b="1" i="0">
                <a:solidFill>
                  <a:srgbClr val="475569"/>
                </a:solidFill>
                <a:latin typeface="Arial"/>
              </a:rPr>
              <a:t>Job</a:t>
            </a:r>
          </a:p>
        </p:txBody>
      </p:sp>
      <p:sp>
        <p:nvSpPr>
          <p:cNvPr id="6" name="TextBox 5"/>
          <p:cNvSpPr txBox="1"/>
          <p:nvPr/>
        </p:nvSpPr>
        <p:spPr>
          <a:xfrm>
            <a:off x="3931920" y="1645920"/>
            <a:ext cx="3749039" cy="365760"/>
          </a:xfrm>
          <a:prstGeom prst="rect">
            <a:avLst/>
          </a:prstGeom>
          <a:noFill/>
        </p:spPr>
        <p:txBody>
          <a:bodyPr wrap="square" lIns="0" rIns="0" tIns="18288" bIns="18288" anchor="t">
            <a:spAutoFit/>
          </a:bodyPr>
          <a:lstStyle/>
          <a:p>
            <a:pPr algn="l">
              <a:lnSpc>
                <a:spcPct val="112000"/>
              </a:lnSpc>
            </a:pPr>
            <a:r>
              <a:rPr sz="1700" b="1" i="0">
                <a:solidFill>
                  <a:srgbClr val="475569"/>
                </a:solidFill>
                <a:latin typeface="Arial"/>
              </a:rPr>
              <a:t>Start with</a:t>
            </a:r>
          </a:p>
        </p:txBody>
      </p:sp>
      <p:sp>
        <p:nvSpPr>
          <p:cNvPr id="7" name="TextBox 6"/>
          <p:cNvSpPr txBox="1"/>
          <p:nvPr/>
        </p:nvSpPr>
        <p:spPr>
          <a:xfrm>
            <a:off x="7818120" y="1645920"/>
            <a:ext cx="3840480" cy="365760"/>
          </a:xfrm>
          <a:prstGeom prst="rect">
            <a:avLst/>
          </a:prstGeom>
          <a:noFill/>
        </p:spPr>
        <p:txBody>
          <a:bodyPr wrap="square" lIns="0" rIns="0" tIns="18288" bIns="18288" anchor="t">
            <a:spAutoFit/>
          </a:bodyPr>
          <a:lstStyle/>
          <a:p>
            <a:pPr algn="l">
              <a:lnSpc>
                <a:spcPct val="112000"/>
              </a:lnSpc>
            </a:pPr>
            <a:r>
              <a:rPr sz="1700" b="1" i="0">
                <a:solidFill>
                  <a:srgbClr val="475569"/>
                </a:solidFill>
                <a:latin typeface="Arial"/>
              </a:rPr>
              <a:t>Fallback</a:t>
            </a:r>
          </a:p>
        </p:txBody>
      </p:sp>
      <p:sp>
        <p:nvSpPr>
          <p:cNvPr id="8" name="Rectangle 7"/>
          <p:cNvSpPr/>
          <p:nvPr/>
        </p:nvSpPr>
        <p:spPr>
          <a:xfrm>
            <a:off x="457200" y="2020824"/>
            <a:ext cx="11274552" cy="62179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103120"/>
            <a:ext cx="3291840" cy="457200"/>
          </a:xfrm>
          <a:prstGeom prst="rect">
            <a:avLst/>
          </a:prstGeom>
          <a:noFill/>
        </p:spPr>
        <p:txBody>
          <a:bodyPr wrap="square" lIns="0" rIns="0" tIns="18288" bIns="18288" anchor="ctr">
            <a:spAutoFit/>
          </a:bodyPr>
          <a:lstStyle/>
          <a:p>
            <a:pPr algn="l">
              <a:lnSpc>
                <a:spcPct val="112000"/>
              </a:lnSpc>
            </a:pPr>
            <a:r>
              <a:rPr sz="1800" b="1" i="0">
                <a:solidFill>
                  <a:srgbClr val="0F172A"/>
                </a:solidFill>
                <a:latin typeface="Arial"/>
              </a:rPr>
              <a:t>Translate, detect language</a:t>
            </a:r>
          </a:p>
        </p:txBody>
      </p:sp>
      <p:sp>
        <p:nvSpPr>
          <p:cNvPr id="10" name="TextBox 9"/>
          <p:cNvSpPr txBox="1"/>
          <p:nvPr/>
        </p:nvSpPr>
        <p:spPr>
          <a:xfrm>
            <a:off x="3931920" y="2103120"/>
            <a:ext cx="3749039" cy="457200"/>
          </a:xfrm>
          <a:prstGeom prst="rect">
            <a:avLst/>
          </a:prstGeom>
          <a:noFill/>
        </p:spPr>
        <p:txBody>
          <a:bodyPr wrap="square" lIns="0" rIns="0" tIns="18288" bIns="18288" anchor="ctr">
            <a:spAutoFit/>
          </a:bodyPr>
          <a:lstStyle/>
          <a:p>
            <a:pPr algn="l">
              <a:lnSpc>
                <a:spcPct val="112000"/>
              </a:lnSpc>
            </a:pPr>
            <a:r>
              <a:rPr sz="1700" b="1" i="0">
                <a:solidFill>
                  <a:srgbClr val="0E7490"/>
                </a:solidFill>
                <a:latin typeface="Arial"/>
              </a:rPr>
              <a:t>L5 Translator / Language Detector</a:t>
            </a:r>
          </a:p>
        </p:txBody>
      </p:sp>
      <p:sp>
        <p:nvSpPr>
          <p:cNvPr id="11" name="TextBox 10"/>
          <p:cNvSpPr txBox="1"/>
          <p:nvPr/>
        </p:nvSpPr>
        <p:spPr>
          <a:xfrm>
            <a:off x="7818120" y="2103120"/>
            <a:ext cx="3840480" cy="457200"/>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Transformers.js translation model</a:t>
            </a:r>
          </a:p>
        </p:txBody>
      </p:sp>
      <p:sp>
        <p:nvSpPr>
          <p:cNvPr id="12" name="TextBox 11"/>
          <p:cNvSpPr txBox="1"/>
          <p:nvPr/>
        </p:nvSpPr>
        <p:spPr>
          <a:xfrm>
            <a:off x="548640" y="2770632"/>
            <a:ext cx="3291840" cy="457200"/>
          </a:xfrm>
          <a:prstGeom prst="rect">
            <a:avLst/>
          </a:prstGeom>
          <a:noFill/>
        </p:spPr>
        <p:txBody>
          <a:bodyPr wrap="square" lIns="0" rIns="0" tIns="18288" bIns="18288" anchor="ctr">
            <a:spAutoFit/>
          </a:bodyPr>
          <a:lstStyle/>
          <a:p>
            <a:pPr algn="l">
              <a:lnSpc>
                <a:spcPct val="112000"/>
              </a:lnSpc>
            </a:pPr>
            <a:r>
              <a:rPr sz="1800" b="1" i="0">
                <a:solidFill>
                  <a:srgbClr val="0F172A"/>
                </a:solidFill>
                <a:latin typeface="Arial"/>
              </a:rPr>
              <a:t>Summarize, rewrite, proofread</a:t>
            </a:r>
          </a:p>
        </p:txBody>
      </p:sp>
      <p:sp>
        <p:nvSpPr>
          <p:cNvPr id="13" name="TextBox 12"/>
          <p:cNvSpPr txBox="1"/>
          <p:nvPr/>
        </p:nvSpPr>
        <p:spPr>
          <a:xfrm>
            <a:off x="3931920" y="2770632"/>
            <a:ext cx="3749039" cy="457200"/>
          </a:xfrm>
          <a:prstGeom prst="rect">
            <a:avLst/>
          </a:prstGeom>
          <a:noFill/>
        </p:spPr>
        <p:txBody>
          <a:bodyPr wrap="square" lIns="0" rIns="0" tIns="18288" bIns="18288" anchor="ctr">
            <a:spAutoFit/>
          </a:bodyPr>
          <a:lstStyle/>
          <a:p>
            <a:pPr algn="l">
              <a:lnSpc>
                <a:spcPct val="112000"/>
              </a:lnSpc>
            </a:pPr>
            <a:r>
              <a:rPr sz="1700" b="1" i="0">
                <a:solidFill>
                  <a:srgbClr val="0E7490"/>
                </a:solidFill>
                <a:latin typeface="Arial"/>
              </a:rPr>
              <a:t>L5 Summarizer, Writer, Rewriter</a:t>
            </a:r>
          </a:p>
        </p:txBody>
      </p:sp>
      <p:sp>
        <p:nvSpPr>
          <p:cNvPr id="14" name="TextBox 13"/>
          <p:cNvSpPr txBox="1"/>
          <p:nvPr/>
        </p:nvSpPr>
        <p:spPr>
          <a:xfrm>
            <a:off x="7818120" y="2770632"/>
            <a:ext cx="3840480" cy="457200"/>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L4 Prompt API → small LLM</a:t>
            </a:r>
          </a:p>
        </p:txBody>
      </p:sp>
      <p:sp>
        <p:nvSpPr>
          <p:cNvPr id="15" name="Rectangle 14"/>
          <p:cNvSpPr/>
          <p:nvPr/>
        </p:nvSpPr>
        <p:spPr>
          <a:xfrm>
            <a:off x="457200" y="3355848"/>
            <a:ext cx="11274552" cy="62179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8640" y="3438144"/>
            <a:ext cx="3291840" cy="457200"/>
          </a:xfrm>
          <a:prstGeom prst="rect">
            <a:avLst/>
          </a:prstGeom>
          <a:noFill/>
        </p:spPr>
        <p:txBody>
          <a:bodyPr wrap="square" lIns="0" rIns="0" tIns="18288" bIns="18288" anchor="ctr">
            <a:spAutoFit/>
          </a:bodyPr>
          <a:lstStyle/>
          <a:p>
            <a:pPr algn="l">
              <a:lnSpc>
                <a:spcPct val="112000"/>
              </a:lnSpc>
            </a:pPr>
            <a:r>
              <a:rPr sz="1800" b="1" i="0">
                <a:solidFill>
                  <a:srgbClr val="0F172A"/>
                </a:solidFill>
                <a:latin typeface="Arial"/>
              </a:rPr>
              <a:t>Chat, extraction, JSON output</a:t>
            </a:r>
          </a:p>
        </p:txBody>
      </p:sp>
      <p:sp>
        <p:nvSpPr>
          <p:cNvPr id="17" name="TextBox 16"/>
          <p:cNvSpPr txBox="1"/>
          <p:nvPr/>
        </p:nvSpPr>
        <p:spPr>
          <a:xfrm>
            <a:off x="3931920" y="3438144"/>
            <a:ext cx="3749039" cy="457200"/>
          </a:xfrm>
          <a:prstGeom prst="rect">
            <a:avLst/>
          </a:prstGeom>
          <a:noFill/>
        </p:spPr>
        <p:txBody>
          <a:bodyPr wrap="square" lIns="0" rIns="0" tIns="18288" bIns="18288" anchor="ctr">
            <a:spAutoFit/>
          </a:bodyPr>
          <a:lstStyle/>
          <a:p>
            <a:pPr algn="l">
              <a:lnSpc>
                <a:spcPct val="112000"/>
              </a:lnSpc>
            </a:pPr>
            <a:r>
              <a:rPr sz="1700" b="1" i="0">
                <a:solidFill>
                  <a:srgbClr val="0E7490"/>
                </a:solidFill>
                <a:latin typeface="Arial"/>
              </a:rPr>
              <a:t>L4 Prompt API</a:t>
            </a:r>
          </a:p>
        </p:txBody>
      </p:sp>
      <p:sp>
        <p:nvSpPr>
          <p:cNvPr id="18" name="TextBox 17"/>
          <p:cNvSpPr txBox="1"/>
          <p:nvPr/>
        </p:nvSpPr>
        <p:spPr>
          <a:xfrm>
            <a:off x="7818120" y="3438144"/>
            <a:ext cx="3840480" cy="457200"/>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Transformers.js / WebLLM, or cloud</a:t>
            </a:r>
          </a:p>
        </p:txBody>
      </p:sp>
      <p:sp>
        <p:nvSpPr>
          <p:cNvPr id="19" name="TextBox 18"/>
          <p:cNvSpPr txBox="1"/>
          <p:nvPr/>
        </p:nvSpPr>
        <p:spPr>
          <a:xfrm>
            <a:off x="548640" y="4105656"/>
            <a:ext cx="3291840" cy="457200"/>
          </a:xfrm>
          <a:prstGeom prst="rect">
            <a:avLst/>
          </a:prstGeom>
          <a:noFill/>
        </p:spPr>
        <p:txBody>
          <a:bodyPr wrap="square" lIns="0" rIns="0" tIns="18288" bIns="18288" anchor="ctr">
            <a:spAutoFit/>
          </a:bodyPr>
          <a:lstStyle/>
          <a:p>
            <a:pPr algn="l">
              <a:lnSpc>
                <a:spcPct val="112000"/>
              </a:lnSpc>
            </a:pPr>
            <a:r>
              <a:rPr sz="1800" b="1" i="0">
                <a:solidFill>
                  <a:srgbClr val="0F172A"/>
                </a:solidFill>
                <a:latin typeface="Arial"/>
              </a:rPr>
              <a:t>Vision: classify, detect</a:t>
            </a:r>
          </a:p>
        </p:txBody>
      </p:sp>
      <p:sp>
        <p:nvSpPr>
          <p:cNvPr id="20" name="TextBox 19"/>
          <p:cNvSpPr txBox="1"/>
          <p:nvPr/>
        </p:nvSpPr>
        <p:spPr>
          <a:xfrm>
            <a:off x="3931920" y="4105656"/>
            <a:ext cx="3749039" cy="457200"/>
          </a:xfrm>
          <a:prstGeom prst="rect">
            <a:avLst/>
          </a:prstGeom>
          <a:noFill/>
        </p:spPr>
        <p:txBody>
          <a:bodyPr wrap="square" lIns="0" rIns="0" tIns="18288" bIns="18288" anchor="ctr">
            <a:spAutoFit/>
          </a:bodyPr>
          <a:lstStyle/>
          <a:p>
            <a:pPr algn="l">
              <a:lnSpc>
                <a:spcPct val="112000"/>
              </a:lnSpc>
            </a:pPr>
            <a:r>
              <a:rPr sz="1700" b="1" i="0">
                <a:solidFill>
                  <a:srgbClr val="0E7490"/>
                </a:solidFill>
                <a:latin typeface="Arial"/>
              </a:rPr>
              <a:t>L3 Transformers.js</a:t>
            </a:r>
          </a:p>
        </p:txBody>
      </p:sp>
      <p:sp>
        <p:nvSpPr>
          <p:cNvPr id="21" name="TextBox 20"/>
          <p:cNvSpPr txBox="1"/>
          <p:nvPr/>
        </p:nvSpPr>
        <p:spPr>
          <a:xfrm>
            <a:off x="7818120" y="4105656"/>
            <a:ext cx="3840480" cy="457200"/>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Same model on WASM</a:t>
            </a:r>
          </a:p>
        </p:txBody>
      </p:sp>
      <p:sp>
        <p:nvSpPr>
          <p:cNvPr id="22" name="Rectangle 21"/>
          <p:cNvSpPr/>
          <p:nvPr/>
        </p:nvSpPr>
        <p:spPr>
          <a:xfrm>
            <a:off x="457200" y="4690872"/>
            <a:ext cx="11274552" cy="62179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4773168"/>
            <a:ext cx="3291840" cy="457200"/>
          </a:xfrm>
          <a:prstGeom prst="rect">
            <a:avLst/>
          </a:prstGeom>
          <a:noFill/>
        </p:spPr>
        <p:txBody>
          <a:bodyPr wrap="square" lIns="0" rIns="0" tIns="18288" bIns="18288" anchor="ctr">
            <a:spAutoFit/>
          </a:bodyPr>
          <a:lstStyle/>
          <a:p>
            <a:pPr algn="l">
              <a:lnSpc>
                <a:spcPct val="112000"/>
              </a:lnSpc>
            </a:pPr>
            <a:r>
              <a:rPr sz="1800" b="1" i="0">
                <a:solidFill>
                  <a:srgbClr val="0F172A"/>
                </a:solidFill>
                <a:latin typeface="Arial"/>
              </a:rPr>
              <a:t>Speech-to-text</a:t>
            </a:r>
          </a:p>
        </p:txBody>
      </p:sp>
      <p:sp>
        <p:nvSpPr>
          <p:cNvPr id="24" name="TextBox 23"/>
          <p:cNvSpPr txBox="1"/>
          <p:nvPr/>
        </p:nvSpPr>
        <p:spPr>
          <a:xfrm>
            <a:off x="3931920" y="4773168"/>
            <a:ext cx="3749039" cy="457200"/>
          </a:xfrm>
          <a:prstGeom prst="rect">
            <a:avLst/>
          </a:prstGeom>
          <a:noFill/>
        </p:spPr>
        <p:txBody>
          <a:bodyPr wrap="square" lIns="0" rIns="0" tIns="18288" bIns="18288" anchor="ctr">
            <a:spAutoFit/>
          </a:bodyPr>
          <a:lstStyle/>
          <a:p>
            <a:pPr algn="l">
              <a:lnSpc>
                <a:spcPct val="112000"/>
              </a:lnSpc>
            </a:pPr>
            <a:r>
              <a:rPr sz="1700" b="1" i="0">
                <a:solidFill>
                  <a:srgbClr val="0E7490"/>
                </a:solidFill>
                <a:latin typeface="Arial"/>
              </a:rPr>
              <a:t>Web Speech, processLocally</a:t>
            </a:r>
          </a:p>
        </p:txBody>
      </p:sp>
      <p:sp>
        <p:nvSpPr>
          <p:cNvPr id="25" name="TextBox 24"/>
          <p:cNvSpPr txBox="1"/>
          <p:nvPr/>
        </p:nvSpPr>
        <p:spPr>
          <a:xfrm>
            <a:off x="7818120" y="4773168"/>
            <a:ext cx="3840480" cy="457200"/>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Whisper / Moonshine in Transformers.js</a:t>
            </a:r>
          </a:p>
        </p:txBody>
      </p:sp>
      <p:sp>
        <p:nvSpPr>
          <p:cNvPr id="26" name="TextBox 25"/>
          <p:cNvSpPr txBox="1"/>
          <p:nvPr/>
        </p:nvSpPr>
        <p:spPr>
          <a:xfrm>
            <a:off x="548640" y="5440679"/>
            <a:ext cx="3291840" cy="457200"/>
          </a:xfrm>
          <a:prstGeom prst="rect">
            <a:avLst/>
          </a:prstGeom>
          <a:noFill/>
        </p:spPr>
        <p:txBody>
          <a:bodyPr wrap="square" lIns="0" rIns="0" tIns="18288" bIns="18288" anchor="ctr">
            <a:spAutoFit/>
          </a:bodyPr>
          <a:lstStyle/>
          <a:p>
            <a:pPr algn="l">
              <a:lnSpc>
                <a:spcPct val="112000"/>
              </a:lnSpc>
            </a:pPr>
            <a:r>
              <a:rPr sz="1800" b="1" i="0">
                <a:solidFill>
                  <a:srgbClr val="0F172A"/>
                </a:solidFill>
                <a:latin typeface="Arial"/>
              </a:rPr>
              <a:t>Your own ONNX model</a:t>
            </a:r>
          </a:p>
        </p:txBody>
      </p:sp>
      <p:sp>
        <p:nvSpPr>
          <p:cNvPr id="27" name="TextBox 26"/>
          <p:cNvSpPr txBox="1"/>
          <p:nvPr/>
        </p:nvSpPr>
        <p:spPr>
          <a:xfrm>
            <a:off x="3931920" y="5440679"/>
            <a:ext cx="3749039" cy="457200"/>
          </a:xfrm>
          <a:prstGeom prst="rect">
            <a:avLst/>
          </a:prstGeom>
          <a:noFill/>
        </p:spPr>
        <p:txBody>
          <a:bodyPr wrap="square" lIns="0" rIns="0" tIns="18288" bIns="18288" anchor="ctr">
            <a:spAutoFit/>
          </a:bodyPr>
          <a:lstStyle/>
          <a:p>
            <a:pPr algn="l">
              <a:lnSpc>
                <a:spcPct val="112000"/>
              </a:lnSpc>
            </a:pPr>
            <a:r>
              <a:rPr sz="1700" b="1" i="0">
                <a:solidFill>
                  <a:srgbClr val="0E7490"/>
                </a:solidFill>
                <a:latin typeface="Arial"/>
              </a:rPr>
              <a:t>L3 ONNX Runtime Web</a:t>
            </a:r>
          </a:p>
        </p:txBody>
      </p:sp>
      <p:sp>
        <p:nvSpPr>
          <p:cNvPr id="28" name="TextBox 27"/>
          <p:cNvSpPr txBox="1"/>
          <p:nvPr/>
        </p:nvSpPr>
        <p:spPr>
          <a:xfrm>
            <a:off x="7818120" y="5440679"/>
            <a:ext cx="3840480" cy="457200"/>
          </a:xfrm>
          <a:prstGeom prst="rect">
            <a:avLst/>
          </a:prstGeom>
          <a:noFill/>
        </p:spPr>
        <p:txBody>
          <a:bodyPr wrap="square" lIns="0" rIns="0" tIns="18288" bIns="18288" anchor="ctr">
            <a:spAutoFit/>
          </a:bodyPr>
          <a:lstStyle/>
          <a:p>
            <a:pPr algn="l">
              <a:lnSpc>
                <a:spcPct val="112000"/>
              </a:lnSpc>
            </a:pPr>
            <a:r>
              <a:rPr sz="1700" b="0" i="0">
                <a:solidFill>
                  <a:srgbClr val="0F172A"/>
                </a:solidFill>
                <a:latin typeface="Arial"/>
              </a:rPr>
              <a:t>WASM execution provider</a:t>
            </a:r>
          </a:p>
        </p:txBody>
      </p:sp>
      <p:sp>
        <p:nvSpPr>
          <p:cNvPr id="29" name="TextBox 28"/>
          <p:cNvSpPr txBox="1"/>
          <p:nvPr/>
        </p:nvSpPr>
        <p:spPr>
          <a:xfrm>
            <a:off x="548640" y="6172200"/>
            <a:ext cx="10972800" cy="320040"/>
          </a:xfrm>
          <a:prstGeom prst="rect">
            <a:avLst/>
          </a:prstGeom>
          <a:noFill/>
        </p:spPr>
        <p:txBody>
          <a:bodyPr wrap="square" lIns="0" rIns="0" tIns="18288" bIns="18288" anchor="t">
            <a:spAutoFit/>
          </a:bodyPr>
          <a:lstStyle/>
          <a:p>
            <a:pPr algn="l">
              <a:lnSpc>
                <a:spcPct val="112000"/>
              </a:lnSpc>
            </a:pPr>
            <a:r>
              <a:rPr sz="1600" b="0" i="1">
                <a:solidFill>
                  <a:srgbClr val="475569"/>
                </a:solidFill>
                <a:latin typeface="Arial"/>
              </a:rPr>
              <a:t>Rule: take the highest layer that does the job, and always have the next one down ready.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OFFLINE · STORAGE</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Models are big. Plan the bytes.</a:t>
            </a:r>
          </a:p>
        </p:txBody>
      </p:sp>
      <p:sp>
        <p:nvSpPr>
          <p:cNvPr id="4" name="TextBox 3"/>
          <p:cNvSpPr txBox="1"/>
          <p:nvPr/>
        </p:nvSpPr>
        <p:spPr>
          <a:xfrm>
            <a:off x="548640" y="6400800"/>
            <a:ext cx="10241280" cy="274320"/>
          </a:xfrm>
          <a:prstGeom prst="rect">
            <a:avLst/>
          </a:prstGeom>
          <a:noFill/>
        </p:spPr>
        <p:txBody>
          <a:bodyPr wrap="square" lIns="0" rIns="0" tIns="18288" bIns="18288" anchor="t">
            <a:spAutoFit/>
          </a:bodyPr>
          <a:lstStyle/>
          <a:p>
            <a:pPr algn="l">
              <a:lnSpc>
                <a:spcPct val="112000"/>
              </a:lnSpc>
            </a:pPr>
            <a:r>
              <a:rPr sz="1200" b="0" i="0">
                <a:solidFill>
                  <a:srgbClr val="475569"/>
                </a:solidFill>
                <a:latin typeface="Arial"/>
              </a:rPr>
              <a:t>Source: Hugging Face Hub file listings, WebLLM config.ts, MDN Storage quotas and eviction criteria — read 16 Oct 2026</a:t>
            </a:r>
          </a:p>
        </p:txBody>
      </p:sp>
      <p:sp>
        <p:nvSpPr>
          <p:cNvPr id="5" name="TextBox 4"/>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30</a:t>
            </a:r>
          </a:p>
        </p:txBody>
      </p:sp>
      <p:cxnSp>
        <p:nvCxnSpPr>
          <p:cNvPr id="6" name="Connector 5"/>
          <p:cNvCxnSpPr/>
          <p:nvPr/>
        </p:nvCxnSpPr>
        <p:spPr>
          <a:xfrm>
            <a:off x="3977639" y="1737360"/>
            <a:ext cx="0" cy="38862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520439" y="5650992"/>
            <a:ext cx="914400" cy="274320"/>
          </a:xfrm>
          <a:prstGeom prst="rect">
            <a:avLst/>
          </a:prstGeom>
          <a:noFill/>
        </p:spPr>
        <p:txBody>
          <a:bodyPr wrap="square" lIns="0" rIns="0" tIns="18288" bIns="18288" anchor="t">
            <a:spAutoFit/>
          </a:bodyPr>
          <a:lstStyle/>
          <a:p>
            <a:pPr algn="ctr">
              <a:lnSpc>
                <a:spcPct val="112000"/>
              </a:lnSpc>
            </a:pPr>
            <a:r>
              <a:rPr sz="1300" b="0" i="0">
                <a:solidFill>
                  <a:srgbClr val="475569"/>
                </a:solidFill>
                <a:latin typeface="Arial"/>
              </a:rPr>
              <a:t>10 MB</a:t>
            </a:r>
          </a:p>
        </p:txBody>
      </p:sp>
      <p:cxnSp>
        <p:nvCxnSpPr>
          <p:cNvPr id="8" name="Connector 7"/>
          <p:cNvCxnSpPr/>
          <p:nvPr/>
        </p:nvCxnSpPr>
        <p:spPr>
          <a:xfrm>
            <a:off x="4968239" y="1737360"/>
            <a:ext cx="0" cy="38862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511039" y="5650992"/>
            <a:ext cx="914400" cy="274320"/>
          </a:xfrm>
          <a:prstGeom prst="rect">
            <a:avLst/>
          </a:prstGeom>
          <a:noFill/>
        </p:spPr>
        <p:txBody>
          <a:bodyPr wrap="square" lIns="0" rIns="0" tIns="18288" bIns="18288" anchor="t">
            <a:spAutoFit/>
          </a:bodyPr>
          <a:lstStyle/>
          <a:p>
            <a:pPr algn="ctr">
              <a:lnSpc>
                <a:spcPct val="112000"/>
              </a:lnSpc>
            </a:pPr>
            <a:r>
              <a:rPr sz="1300" b="0" i="0">
                <a:solidFill>
                  <a:srgbClr val="475569"/>
                </a:solidFill>
                <a:latin typeface="Arial"/>
              </a:rPr>
              <a:t>100 MB</a:t>
            </a:r>
          </a:p>
        </p:txBody>
      </p:sp>
      <p:cxnSp>
        <p:nvCxnSpPr>
          <p:cNvPr id="10" name="Connector 9"/>
          <p:cNvCxnSpPr/>
          <p:nvPr/>
        </p:nvCxnSpPr>
        <p:spPr>
          <a:xfrm>
            <a:off x="5958839" y="1737360"/>
            <a:ext cx="0" cy="38862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501639" y="5650992"/>
            <a:ext cx="914400" cy="274320"/>
          </a:xfrm>
          <a:prstGeom prst="rect">
            <a:avLst/>
          </a:prstGeom>
          <a:noFill/>
        </p:spPr>
        <p:txBody>
          <a:bodyPr wrap="square" lIns="0" rIns="0" tIns="18288" bIns="18288" anchor="t">
            <a:spAutoFit/>
          </a:bodyPr>
          <a:lstStyle/>
          <a:p>
            <a:pPr algn="ctr">
              <a:lnSpc>
                <a:spcPct val="112000"/>
              </a:lnSpc>
            </a:pPr>
            <a:r>
              <a:rPr sz="1300" b="0" i="0">
                <a:solidFill>
                  <a:srgbClr val="475569"/>
                </a:solidFill>
                <a:latin typeface="Arial"/>
              </a:rPr>
              <a:t>1 GB</a:t>
            </a:r>
          </a:p>
        </p:txBody>
      </p:sp>
      <p:cxnSp>
        <p:nvCxnSpPr>
          <p:cNvPr id="12" name="Connector 11"/>
          <p:cNvCxnSpPr/>
          <p:nvPr/>
        </p:nvCxnSpPr>
        <p:spPr>
          <a:xfrm>
            <a:off x="6949440" y="1737360"/>
            <a:ext cx="0" cy="38862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92240" y="5650992"/>
            <a:ext cx="914400" cy="274320"/>
          </a:xfrm>
          <a:prstGeom prst="rect">
            <a:avLst/>
          </a:prstGeom>
          <a:noFill/>
        </p:spPr>
        <p:txBody>
          <a:bodyPr wrap="square" lIns="0" rIns="0" tIns="18288" bIns="18288" anchor="t">
            <a:spAutoFit/>
          </a:bodyPr>
          <a:lstStyle/>
          <a:p>
            <a:pPr algn="ctr">
              <a:lnSpc>
                <a:spcPct val="112000"/>
              </a:lnSpc>
            </a:pPr>
            <a:r>
              <a:rPr sz="1300" b="0" i="0">
                <a:solidFill>
                  <a:srgbClr val="475569"/>
                </a:solidFill>
                <a:latin typeface="Arial"/>
              </a:rPr>
              <a:t>10 GB</a:t>
            </a:r>
          </a:p>
        </p:txBody>
      </p:sp>
      <p:sp>
        <p:nvSpPr>
          <p:cNvPr id="14" name="TextBox 13"/>
          <p:cNvSpPr txBox="1"/>
          <p:nvPr/>
        </p:nvSpPr>
        <p:spPr>
          <a:xfrm>
            <a:off x="548640" y="5925312"/>
            <a:ext cx="6400800" cy="274320"/>
          </a:xfrm>
          <a:prstGeom prst="rect">
            <a:avLst/>
          </a:prstGeom>
          <a:noFill/>
        </p:spPr>
        <p:txBody>
          <a:bodyPr wrap="square" lIns="0" rIns="0" tIns="18288" bIns="18288" anchor="t">
            <a:spAutoFit/>
          </a:bodyPr>
          <a:lstStyle/>
          <a:p>
            <a:pPr algn="r">
              <a:lnSpc>
                <a:spcPct val="112000"/>
              </a:lnSpc>
            </a:pPr>
            <a:r>
              <a:rPr sz="1300" b="0" i="1">
                <a:solidFill>
                  <a:srgbClr val="475569"/>
                </a:solidFill>
                <a:latin typeface="Arial"/>
              </a:rPr>
              <a:t>log scale</a:t>
            </a:r>
          </a:p>
        </p:txBody>
      </p:sp>
      <p:sp>
        <p:nvSpPr>
          <p:cNvPr id="15" name="TextBox 14"/>
          <p:cNvSpPr txBox="1"/>
          <p:nvPr/>
        </p:nvSpPr>
        <p:spPr>
          <a:xfrm>
            <a:off x="548640" y="1810512"/>
            <a:ext cx="3337560" cy="384048"/>
          </a:xfrm>
          <a:prstGeom prst="rect">
            <a:avLst/>
          </a:prstGeom>
          <a:noFill/>
        </p:spPr>
        <p:txBody>
          <a:bodyPr wrap="square" lIns="0" rIns="0" tIns="18288" bIns="18288" anchor="ctr">
            <a:spAutoFit/>
          </a:bodyPr>
          <a:lstStyle/>
          <a:p>
            <a:pPr algn="r">
              <a:lnSpc>
                <a:spcPct val="112000"/>
              </a:lnSpc>
            </a:pPr>
            <a:r>
              <a:rPr sz="1500" b="0" i="0">
                <a:solidFill>
                  <a:srgbClr val="0F172A"/>
                </a:solidFill>
                <a:latin typeface="Arial"/>
              </a:rPr>
              <a:t>ResNet-50 · q8</a:t>
            </a:r>
          </a:p>
        </p:txBody>
      </p:sp>
      <p:sp>
        <p:nvSpPr>
          <p:cNvPr id="16" name="Rectangle 15"/>
          <p:cNvSpPr/>
          <p:nvPr/>
        </p:nvSpPr>
        <p:spPr>
          <a:xfrm>
            <a:off x="3977639" y="1874519"/>
            <a:ext cx="411072"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43576" y="1810512"/>
            <a:ext cx="1280160" cy="384048"/>
          </a:xfrm>
          <a:prstGeom prst="rect">
            <a:avLst/>
          </a:prstGeom>
          <a:noFill/>
        </p:spPr>
        <p:txBody>
          <a:bodyPr wrap="square" lIns="0" rIns="0" tIns="18288" bIns="18288" anchor="ctr">
            <a:spAutoFit/>
          </a:bodyPr>
          <a:lstStyle/>
          <a:p>
            <a:pPr algn="l">
              <a:lnSpc>
                <a:spcPct val="112000"/>
              </a:lnSpc>
            </a:pPr>
            <a:r>
              <a:rPr sz="1400" b="1" i="0">
                <a:solidFill>
                  <a:srgbClr val="0F172A"/>
                </a:solidFill>
                <a:latin typeface="Arial"/>
              </a:rPr>
              <a:t>26 MB</a:t>
            </a:r>
          </a:p>
        </p:txBody>
      </p:sp>
      <p:sp>
        <p:nvSpPr>
          <p:cNvPr id="18" name="TextBox 17"/>
          <p:cNvSpPr txBox="1"/>
          <p:nvPr/>
        </p:nvSpPr>
        <p:spPr>
          <a:xfrm>
            <a:off x="548640" y="2286000"/>
            <a:ext cx="3337560" cy="384048"/>
          </a:xfrm>
          <a:prstGeom prst="rect">
            <a:avLst/>
          </a:prstGeom>
          <a:noFill/>
        </p:spPr>
        <p:txBody>
          <a:bodyPr wrap="square" lIns="0" rIns="0" tIns="18288" bIns="18288" anchor="ctr">
            <a:spAutoFit/>
          </a:bodyPr>
          <a:lstStyle/>
          <a:p>
            <a:pPr algn="r">
              <a:lnSpc>
                <a:spcPct val="112000"/>
              </a:lnSpc>
            </a:pPr>
            <a:r>
              <a:rPr sz="1500" b="0" i="0">
                <a:solidFill>
                  <a:srgbClr val="0F172A"/>
                </a:solidFill>
                <a:latin typeface="Arial"/>
              </a:rPr>
              <a:t>Whisper tiny.en · q8 (demo download)</a:t>
            </a:r>
          </a:p>
        </p:txBody>
      </p:sp>
      <p:sp>
        <p:nvSpPr>
          <p:cNvPr id="19" name="Rectangle 18"/>
          <p:cNvSpPr/>
          <p:nvPr/>
        </p:nvSpPr>
        <p:spPr>
          <a:xfrm>
            <a:off x="3977639" y="2350008"/>
            <a:ext cx="607023"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39527" y="2286000"/>
            <a:ext cx="1280160" cy="384048"/>
          </a:xfrm>
          <a:prstGeom prst="rect">
            <a:avLst/>
          </a:prstGeom>
          <a:noFill/>
        </p:spPr>
        <p:txBody>
          <a:bodyPr wrap="square" lIns="0" rIns="0" tIns="18288" bIns="18288" anchor="ctr">
            <a:spAutoFit/>
          </a:bodyPr>
          <a:lstStyle/>
          <a:p>
            <a:pPr algn="l">
              <a:lnSpc>
                <a:spcPct val="112000"/>
              </a:lnSpc>
            </a:pPr>
            <a:r>
              <a:rPr sz="1400" b="1" i="0">
                <a:solidFill>
                  <a:srgbClr val="0F172A"/>
                </a:solidFill>
                <a:latin typeface="Arial"/>
              </a:rPr>
              <a:t>41 MB</a:t>
            </a:r>
          </a:p>
        </p:txBody>
      </p:sp>
      <p:sp>
        <p:nvSpPr>
          <p:cNvPr id="21" name="TextBox 20"/>
          <p:cNvSpPr txBox="1"/>
          <p:nvPr/>
        </p:nvSpPr>
        <p:spPr>
          <a:xfrm>
            <a:off x="548640" y="2761488"/>
            <a:ext cx="3337560" cy="384048"/>
          </a:xfrm>
          <a:prstGeom prst="rect">
            <a:avLst/>
          </a:prstGeom>
          <a:noFill/>
        </p:spPr>
        <p:txBody>
          <a:bodyPr wrap="square" lIns="0" rIns="0" tIns="18288" bIns="18288" anchor="ctr">
            <a:spAutoFit/>
          </a:bodyPr>
          <a:lstStyle/>
          <a:p>
            <a:pPr algn="r">
              <a:lnSpc>
                <a:spcPct val="112000"/>
              </a:lnSpc>
            </a:pPr>
            <a:r>
              <a:rPr sz="1500" b="0" i="0">
                <a:solidFill>
                  <a:srgbClr val="0F172A"/>
                </a:solidFill>
                <a:latin typeface="Arial"/>
              </a:rPr>
              <a:t>Moonshine tiny · q8</a:t>
            </a:r>
          </a:p>
        </p:txBody>
      </p:sp>
      <p:sp>
        <p:nvSpPr>
          <p:cNvPr id="22" name="Rectangle 21"/>
          <p:cNvSpPr/>
          <p:nvPr/>
        </p:nvSpPr>
        <p:spPr>
          <a:xfrm>
            <a:off x="3977639" y="2825496"/>
            <a:ext cx="656527"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689031" y="2761488"/>
            <a:ext cx="1280160" cy="384048"/>
          </a:xfrm>
          <a:prstGeom prst="rect">
            <a:avLst/>
          </a:prstGeom>
          <a:noFill/>
        </p:spPr>
        <p:txBody>
          <a:bodyPr wrap="square" lIns="0" rIns="0" tIns="18288" bIns="18288" anchor="ctr">
            <a:spAutoFit/>
          </a:bodyPr>
          <a:lstStyle/>
          <a:p>
            <a:pPr algn="l">
              <a:lnSpc>
                <a:spcPct val="112000"/>
              </a:lnSpc>
            </a:pPr>
            <a:r>
              <a:rPr sz="1400" b="1" i="0">
                <a:solidFill>
                  <a:srgbClr val="0F172A"/>
                </a:solidFill>
                <a:latin typeface="Arial"/>
              </a:rPr>
              <a:t>46 MB</a:t>
            </a:r>
          </a:p>
        </p:txBody>
      </p:sp>
      <p:sp>
        <p:nvSpPr>
          <p:cNvPr id="24" name="TextBox 23"/>
          <p:cNvSpPr txBox="1"/>
          <p:nvPr/>
        </p:nvSpPr>
        <p:spPr>
          <a:xfrm>
            <a:off x="548640" y="3236976"/>
            <a:ext cx="3337560" cy="384048"/>
          </a:xfrm>
          <a:prstGeom prst="rect">
            <a:avLst/>
          </a:prstGeom>
          <a:noFill/>
        </p:spPr>
        <p:txBody>
          <a:bodyPr wrap="square" lIns="0" rIns="0" tIns="18288" bIns="18288" anchor="ctr">
            <a:spAutoFit/>
          </a:bodyPr>
          <a:lstStyle/>
          <a:p>
            <a:pPr algn="r">
              <a:lnSpc>
                <a:spcPct val="112000"/>
              </a:lnSpc>
            </a:pPr>
            <a:r>
              <a:rPr sz="1500" b="0" i="0">
                <a:solidFill>
                  <a:srgbClr val="0F172A"/>
                </a:solidFill>
                <a:latin typeface="Arial"/>
              </a:rPr>
              <a:t>Kokoro-82M TTS · q8</a:t>
            </a:r>
          </a:p>
        </p:txBody>
      </p:sp>
      <p:sp>
        <p:nvSpPr>
          <p:cNvPr id="25" name="Rectangle 24"/>
          <p:cNvSpPr/>
          <p:nvPr/>
        </p:nvSpPr>
        <p:spPr>
          <a:xfrm>
            <a:off x="3977639" y="3300984"/>
            <a:ext cx="954728"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987232" y="3236976"/>
            <a:ext cx="1280160" cy="384048"/>
          </a:xfrm>
          <a:prstGeom prst="rect">
            <a:avLst/>
          </a:prstGeom>
          <a:noFill/>
        </p:spPr>
        <p:txBody>
          <a:bodyPr wrap="square" lIns="0" rIns="0" tIns="18288" bIns="18288" anchor="ctr">
            <a:spAutoFit/>
          </a:bodyPr>
          <a:lstStyle/>
          <a:p>
            <a:pPr algn="l">
              <a:lnSpc>
                <a:spcPct val="112000"/>
              </a:lnSpc>
            </a:pPr>
            <a:r>
              <a:rPr sz="1400" b="1" i="0">
                <a:solidFill>
                  <a:srgbClr val="0F172A"/>
                </a:solidFill>
                <a:latin typeface="Arial"/>
              </a:rPr>
              <a:t>92 MB</a:t>
            </a:r>
          </a:p>
        </p:txBody>
      </p:sp>
      <p:sp>
        <p:nvSpPr>
          <p:cNvPr id="27" name="TextBox 26"/>
          <p:cNvSpPr txBox="1"/>
          <p:nvPr/>
        </p:nvSpPr>
        <p:spPr>
          <a:xfrm>
            <a:off x="548640" y="3712464"/>
            <a:ext cx="3337560" cy="384048"/>
          </a:xfrm>
          <a:prstGeom prst="rect">
            <a:avLst/>
          </a:prstGeom>
          <a:noFill/>
        </p:spPr>
        <p:txBody>
          <a:bodyPr wrap="square" lIns="0" rIns="0" tIns="18288" bIns="18288" anchor="ctr">
            <a:spAutoFit/>
          </a:bodyPr>
          <a:lstStyle/>
          <a:p>
            <a:pPr algn="r">
              <a:lnSpc>
                <a:spcPct val="112000"/>
              </a:lnSpc>
            </a:pPr>
            <a:r>
              <a:rPr sz="1500" b="0" i="0">
                <a:solidFill>
                  <a:srgbClr val="0F172A"/>
                </a:solidFill>
                <a:latin typeface="Arial"/>
              </a:rPr>
              <a:t>SmolLM2-135M · q8</a:t>
            </a:r>
          </a:p>
        </p:txBody>
      </p:sp>
      <p:sp>
        <p:nvSpPr>
          <p:cNvPr id="28" name="Rectangle 27"/>
          <p:cNvSpPr/>
          <p:nvPr/>
        </p:nvSpPr>
        <p:spPr>
          <a:xfrm>
            <a:off x="3977639" y="3776472"/>
            <a:ext cx="1126035"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58539" y="3712464"/>
            <a:ext cx="1280160" cy="384048"/>
          </a:xfrm>
          <a:prstGeom prst="rect">
            <a:avLst/>
          </a:prstGeom>
          <a:noFill/>
        </p:spPr>
        <p:txBody>
          <a:bodyPr wrap="square" lIns="0" rIns="0" tIns="18288" bIns="18288" anchor="ctr">
            <a:spAutoFit/>
          </a:bodyPr>
          <a:lstStyle/>
          <a:p>
            <a:pPr algn="l">
              <a:lnSpc>
                <a:spcPct val="112000"/>
              </a:lnSpc>
            </a:pPr>
            <a:r>
              <a:rPr sz="1400" b="1" i="0">
                <a:solidFill>
                  <a:srgbClr val="0F172A"/>
                </a:solidFill>
                <a:latin typeface="Arial"/>
              </a:rPr>
              <a:t>137 MB</a:t>
            </a:r>
          </a:p>
        </p:txBody>
      </p:sp>
      <p:sp>
        <p:nvSpPr>
          <p:cNvPr id="30" name="TextBox 29"/>
          <p:cNvSpPr txBox="1"/>
          <p:nvPr/>
        </p:nvSpPr>
        <p:spPr>
          <a:xfrm>
            <a:off x="548640" y="4187952"/>
            <a:ext cx="3337560" cy="384048"/>
          </a:xfrm>
          <a:prstGeom prst="rect">
            <a:avLst/>
          </a:prstGeom>
          <a:noFill/>
        </p:spPr>
        <p:txBody>
          <a:bodyPr wrap="square" lIns="0" rIns="0" tIns="18288" bIns="18288" anchor="ctr">
            <a:spAutoFit/>
          </a:bodyPr>
          <a:lstStyle/>
          <a:p>
            <a:pPr algn="r">
              <a:lnSpc>
                <a:spcPct val="112000"/>
              </a:lnSpc>
            </a:pPr>
            <a:r>
              <a:rPr sz="1500" b="0" i="0">
                <a:solidFill>
                  <a:srgbClr val="0F172A"/>
                </a:solidFill>
                <a:latin typeface="Arial"/>
              </a:rPr>
              <a:t>Qwen3-0.6B · q4f16</a:t>
            </a:r>
          </a:p>
        </p:txBody>
      </p:sp>
      <p:sp>
        <p:nvSpPr>
          <p:cNvPr id="31" name="Rectangle 30"/>
          <p:cNvSpPr/>
          <p:nvPr/>
        </p:nvSpPr>
        <p:spPr>
          <a:xfrm>
            <a:off x="3977639" y="4251960"/>
            <a:ext cx="1739369" cy="2743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771873" y="4187952"/>
            <a:ext cx="1280160" cy="384048"/>
          </a:xfrm>
          <a:prstGeom prst="rect">
            <a:avLst/>
          </a:prstGeom>
          <a:noFill/>
        </p:spPr>
        <p:txBody>
          <a:bodyPr wrap="square" lIns="0" rIns="0" tIns="18288" bIns="18288" anchor="ctr">
            <a:spAutoFit/>
          </a:bodyPr>
          <a:lstStyle/>
          <a:p>
            <a:pPr algn="l">
              <a:lnSpc>
                <a:spcPct val="112000"/>
              </a:lnSpc>
            </a:pPr>
            <a:r>
              <a:rPr sz="1400" b="1" i="0">
                <a:solidFill>
                  <a:srgbClr val="0F172A"/>
                </a:solidFill>
                <a:latin typeface="Arial"/>
              </a:rPr>
              <a:t>570 MB</a:t>
            </a:r>
          </a:p>
        </p:txBody>
      </p:sp>
      <p:sp>
        <p:nvSpPr>
          <p:cNvPr id="33" name="TextBox 32"/>
          <p:cNvSpPr txBox="1"/>
          <p:nvPr/>
        </p:nvSpPr>
        <p:spPr>
          <a:xfrm>
            <a:off x="548640" y="4663440"/>
            <a:ext cx="3337560" cy="384048"/>
          </a:xfrm>
          <a:prstGeom prst="rect">
            <a:avLst/>
          </a:prstGeom>
          <a:noFill/>
        </p:spPr>
        <p:txBody>
          <a:bodyPr wrap="square" lIns="0" rIns="0" tIns="18288" bIns="18288" anchor="ctr">
            <a:spAutoFit/>
          </a:bodyPr>
          <a:lstStyle/>
          <a:p>
            <a:pPr algn="r">
              <a:lnSpc>
                <a:spcPct val="112000"/>
              </a:lnSpc>
            </a:pPr>
            <a:r>
              <a:rPr sz="1500" b="0" i="0">
                <a:solidFill>
                  <a:srgbClr val="0F172A"/>
                </a:solidFill>
                <a:latin typeface="Arial"/>
              </a:rPr>
              <a:t>Llama-3.2-1B · q4f16 (WebLLM)</a:t>
            </a:r>
          </a:p>
        </p:txBody>
      </p:sp>
      <p:sp>
        <p:nvSpPr>
          <p:cNvPr id="34" name="Rectangle 33"/>
          <p:cNvSpPr/>
          <p:nvPr/>
        </p:nvSpPr>
        <p:spPr>
          <a:xfrm>
            <a:off x="3977639" y="4727448"/>
            <a:ext cx="1925715" cy="2743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958219" y="4663440"/>
            <a:ext cx="1280160" cy="384048"/>
          </a:xfrm>
          <a:prstGeom prst="rect">
            <a:avLst/>
          </a:prstGeom>
          <a:noFill/>
        </p:spPr>
        <p:txBody>
          <a:bodyPr wrap="square" lIns="0" rIns="0" tIns="18288" bIns="18288" anchor="ctr">
            <a:spAutoFit/>
          </a:bodyPr>
          <a:lstStyle/>
          <a:p>
            <a:pPr algn="l">
              <a:lnSpc>
                <a:spcPct val="112000"/>
              </a:lnSpc>
            </a:pPr>
            <a:r>
              <a:rPr sz="1400" b="1" i="0">
                <a:solidFill>
                  <a:srgbClr val="0F172A"/>
                </a:solidFill>
                <a:latin typeface="Arial"/>
              </a:rPr>
              <a:t>879 MB</a:t>
            </a:r>
          </a:p>
        </p:txBody>
      </p:sp>
      <p:sp>
        <p:nvSpPr>
          <p:cNvPr id="36" name="TextBox 35"/>
          <p:cNvSpPr txBox="1"/>
          <p:nvPr/>
        </p:nvSpPr>
        <p:spPr>
          <a:xfrm>
            <a:off x="548640" y="5138928"/>
            <a:ext cx="3337560" cy="384048"/>
          </a:xfrm>
          <a:prstGeom prst="rect">
            <a:avLst/>
          </a:prstGeom>
          <a:noFill/>
        </p:spPr>
        <p:txBody>
          <a:bodyPr wrap="square" lIns="0" rIns="0" tIns="18288" bIns="18288" anchor="ctr">
            <a:spAutoFit/>
          </a:bodyPr>
          <a:lstStyle/>
          <a:p>
            <a:pPr algn="r">
              <a:lnSpc>
                <a:spcPct val="112000"/>
              </a:lnSpc>
            </a:pPr>
            <a:r>
              <a:rPr sz="1500" b="0" i="0">
                <a:solidFill>
                  <a:srgbClr val="0F172A"/>
                </a:solidFill>
                <a:latin typeface="Arial"/>
              </a:rPr>
              <a:t>Phi-3.5-mini · q4f16 (WebLLM)</a:t>
            </a:r>
          </a:p>
        </p:txBody>
      </p:sp>
      <p:sp>
        <p:nvSpPr>
          <p:cNvPr id="37" name="Rectangle 36"/>
          <p:cNvSpPr/>
          <p:nvPr/>
        </p:nvSpPr>
        <p:spPr>
          <a:xfrm>
            <a:off x="3977639" y="5202936"/>
            <a:ext cx="2544060" cy="2743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76564" y="5138928"/>
            <a:ext cx="1280160" cy="384048"/>
          </a:xfrm>
          <a:prstGeom prst="rect">
            <a:avLst/>
          </a:prstGeom>
          <a:noFill/>
        </p:spPr>
        <p:txBody>
          <a:bodyPr wrap="square" lIns="0" rIns="0" tIns="18288" bIns="18288" anchor="ctr">
            <a:spAutoFit/>
          </a:bodyPr>
          <a:lstStyle/>
          <a:p>
            <a:pPr algn="l">
              <a:lnSpc>
                <a:spcPct val="112000"/>
              </a:lnSpc>
            </a:pPr>
            <a:r>
              <a:rPr sz="1400" b="1" i="0">
                <a:solidFill>
                  <a:srgbClr val="0F172A"/>
                </a:solidFill>
                <a:latin typeface="Arial"/>
              </a:rPr>
              <a:t>≈ 3.7 GB</a:t>
            </a:r>
          </a:p>
        </p:txBody>
      </p:sp>
      <p:sp>
        <p:nvSpPr>
          <p:cNvPr id="39" name="Rounded Rectangle 38"/>
          <p:cNvSpPr/>
          <p:nvPr/>
        </p:nvSpPr>
        <p:spPr>
          <a:xfrm>
            <a:off x="8366760" y="1691640"/>
            <a:ext cx="3273552" cy="44805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000" b="1" i="0">
                <a:solidFill>
                  <a:srgbClr val="0E7490"/>
                </a:solidFill>
                <a:latin typeface="Arial"/>
              </a:rPr>
              <a:t>Where they live</a:t>
            </a:r>
          </a:p>
          <a:p>
            <a:pPr algn="l">
              <a:lnSpc>
                <a:spcPct val="112000"/>
              </a:lnSpc>
              <a:spcBef>
                <a:spcPts val="600"/>
              </a:spcBef>
            </a:pPr>
            <a:r>
              <a:rPr sz="1600" b="0" i="0">
                <a:solidFill>
                  <a:srgbClr val="0F172A"/>
                </a:solidFill>
                <a:latin typeface="Arial"/>
              </a:rPr>
              <a:t>Cache Storage: Transformers.js default</a:t>
            </a:r>
          </a:p>
          <a:p>
            <a:pPr algn="l">
              <a:lnSpc>
                <a:spcPct val="112000"/>
              </a:lnSpc>
              <a:spcBef>
                <a:spcPts val="600"/>
              </a:spcBef>
            </a:pPr>
            <a:r>
              <a:rPr sz="1600" b="0" i="0">
                <a:solidFill>
                  <a:srgbClr val="0F172A"/>
                </a:solidFill>
                <a:latin typeface="Arial"/>
              </a:rPr>
              <a:t>OPFS or your own store: env.useCustomCache</a:t>
            </a:r>
          </a:p>
          <a:p>
            <a:pPr algn="l">
              <a:lnSpc>
                <a:spcPct val="112000"/>
              </a:lnSpc>
              <a:spcBef>
                <a:spcPts val="600"/>
              </a:spcBef>
            </a:pPr>
            <a:r>
              <a:rPr sz="1600" b="0" i="0">
                <a:solidFill>
                  <a:srgbClr val="0F172A"/>
                </a:solidFill>
                <a:latin typeface="Arial"/>
              </a:rPr>
              <a:t>Chromium: up to 60 % of disk per origin</a:t>
            </a:r>
          </a:p>
          <a:p>
            <a:pPr algn="l">
              <a:lnSpc>
                <a:spcPct val="112000"/>
              </a:lnSpc>
              <a:spcBef>
                <a:spcPts val="600"/>
              </a:spcBef>
            </a:pPr>
            <a:r>
              <a:rPr sz="1600" b="0" i="0">
                <a:solidFill>
                  <a:srgbClr val="0F172A"/>
                </a:solidFill>
                <a:latin typeface="Arial"/>
              </a:rPr>
              <a:t>Safari apps ≈ 60 %, embedded WebKit ≈ 15 %</a:t>
            </a:r>
          </a:p>
          <a:p>
            <a:pPr algn="l">
              <a:lnSpc>
                <a:spcPct val="112000"/>
              </a:lnSpc>
              <a:spcBef>
                <a:spcPts val="600"/>
              </a:spcBef>
            </a:pPr>
            <a:r>
              <a:rPr sz="1600" b="0" i="0">
                <a:solidFill>
                  <a:srgbClr val="0F172A"/>
                </a:solidFill>
                <a:latin typeface="Arial"/>
              </a:rPr>
              <a:t>Ask for navigator.storage.persist()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OFFLINE · CODE FROM THE DEMO</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Offline: app shell + model cache</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31</a:t>
            </a:r>
          </a:p>
        </p:txBody>
      </p:sp>
      <p:sp>
        <p:nvSpPr>
          <p:cNvPr id="5" name="Rounded Rectangle 4"/>
          <p:cNvSpPr/>
          <p:nvPr/>
        </p:nvSpPr>
        <p:spPr>
          <a:xfrm>
            <a:off x="548640" y="1691640"/>
            <a:ext cx="6903720" cy="448056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300" b="1" i="0">
                <a:solidFill>
                  <a:srgbClr val="22D3EE"/>
                </a:solidFill>
                <a:latin typeface="Arial"/>
              </a:rPr>
              <a:t>Service worker (condensed from the demo's sw.js)</a:t>
            </a:r>
          </a:p>
          <a:p>
            <a:pPr algn="l">
              <a:lnSpc>
                <a:spcPct val="110000"/>
              </a:lnSpc>
            </a:pPr>
            <a:r>
              <a:rPr sz="1400" b="0" i="0">
                <a:solidFill>
                  <a:srgbClr val="94A3B8"/>
                </a:solidFill>
                <a:latin typeface="Consolas"/>
              </a:rPr>
              <a:t>// sw.js — model files from the Hub</a:t>
            </a:r>
          </a:p>
          <a:p>
            <a:pPr algn="l">
              <a:lnSpc>
                <a:spcPct val="110000"/>
              </a:lnSpc>
            </a:pPr>
            <a:r>
              <a:rPr sz="1400" b="0" i="0">
                <a:solidFill>
                  <a:srgbClr val="67E8F9"/>
                </a:solidFill>
                <a:latin typeface="Consolas"/>
              </a:rPr>
              <a:t>if</a:t>
            </a:r>
            <a:r>
              <a:rPr sz="1400" b="0" i="0">
                <a:solidFill>
                  <a:srgbClr val="E2E8F0"/>
                </a:solidFill>
                <a:latin typeface="Consolas"/>
              </a:rPr>
              <a:t> (url.pathname.includes(</a:t>
            </a:r>
            <a:r>
              <a:rPr sz="1400" b="0" i="0">
                <a:solidFill>
                  <a:srgbClr val="FCD34D"/>
                </a:solidFill>
                <a:latin typeface="Consolas"/>
              </a:rPr>
              <a:t>'/resolve/'</a:t>
            </a:r>
            <a:r>
              <a:rPr sz="1400" b="0" i="0">
                <a:solidFill>
                  <a:srgbClr val="E2E8F0"/>
                </a:solidFill>
                <a:latin typeface="Consolas"/>
              </a:rPr>
              <a:t>)) {</a:t>
            </a:r>
          </a:p>
          <a:p>
            <a:pPr algn="l">
              <a:lnSpc>
                <a:spcPct val="110000"/>
              </a:lnSpc>
            </a:pPr>
            <a:r>
              <a:rPr sz="1400" b="0" i="0">
                <a:solidFill>
                  <a:srgbClr val="E2E8F0"/>
                </a:solidFill>
                <a:latin typeface="Consolas"/>
              </a:rPr>
              <a:t>  e.respondWith(fetch(e.request).</a:t>
            </a:r>
            <a:r>
              <a:rPr sz="1400" b="0" i="0">
                <a:solidFill>
                  <a:srgbClr val="67E8F9"/>
                </a:solidFill>
                <a:latin typeface="Consolas"/>
              </a:rPr>
              <a:t>catch</a:t>
            </a:r>
            <a:r>
              <a:rPr sz="1400" b="0" i="0">
                <a:solidFill>
                  <a:srgbClr val="E2E8F0"/>
                </a:solidFill>
                <a:latin typeface="Consolas"/>
              </a:rPr>
              <a:t>(</a:t>
            </a:r>
            <a:r>
              <a:rPr sz="1400" b="0" i="0">
                <a:solidFill>
                  <a:srgbClr val="67E8F9"/>
                </a:solidFill>
                <a:latin typeface="Consolas"/>
              </a:rPr>
              <a:t>async</a:t>
            </a:r>
            <a:r>
              <a:rPr sz="1400" b="0" i="0">
                <a:solidFill>
                  <a:srgbClr val="E2E8F0"/>
                </a:solidFill>
                <a:latin typeface="Consolas"/>
              </a:rPr>
              <a:t> () =&gt;</a:t>
            </a:r>
          </a:p>
          <a:p>
            <a:pPr algn="l">
              <a:lnSpc>
                <a:spcPct val="110000"/>
              </a:lnSpc>
            </a:pPr>
            <a:r>
              <a:rPr sz="1400" b="0" i="0">
                <a:solidFill>
                  <a:srgbClr val="E2E8F0"/>
                </a:solidFill>
                <a:latin typeface="Consolas"/>
              </a:rPr>
              <a:t>    (</a:t>
            </a:r>
            <a:r>
              <a:rPr sz="1400" b="0" i="0">
                <a:solidFill>
                  <a:srgbClr val="67E8F9"/>
                </a:solidFill>
                <a:latin typeface="Consolas"/>
              </a:rPr>
              <a:t>await</a:t>
            </a:r>
            <a:r>
              <a:rPr sz="1400" b="0" i="0">
                <a:solidFill>
                  <a:srgbClr val="E2E8F0"/>
                </a:solidFill>
                <a:latin typeface="Consolas"/>
              </a:rPr>
              <a:t> caches.match(e.request)) ||</a:t>
            </a:r>
          </a:p>
          <a:p>
            <a:pPr algn="l">
              <a:lnSpc>
                <a:spcPct val="110000"/>
              </a:lnSpc>
            </a:pPr>
            <a:r>
              <a:rPr sz="1400" b="0" i="0">
                <a:solidFill>
                  <a:srgbClr val="E2E8F0"/>
                </a:solidFill>
                <a:latin typeface="Consolas"/>
              </a:rPr>
              <a:t>    </a:t>
            </a:r>
            <a:r>
              <a:rPr sz="1400" b="0" i="0">
                <a:solidFill>
                  <a:srgbClr val="67E8F9"/>
                </a:solidFill>
                <a:latin typeface="Consolas"/>
              </a:rPr>
              <a:t>new</a:t>
            </a:r>
            <a:r>
              <a:rPr sz="1400" b="0" i="0">
                <a:solidFill>
                  <a:srgbClr val="E2E8F0"/>
                </a:solidFill>
                <a:latin typeface="Consolas"/>
              </a:rPr>
              <a:t> Response(</a:t>
            </a:r>
            <a:r>
              <a:rPr sz="1400" b="0" i="0">
                <a:solidFill>
                  <a:srgbClr val="FCD34D"/>
                </a:solidFill>
                <a:latin typeface="Consolas"/>
              </a:rPr>
              <a:t>''</a:t>
            </a:r>
            <a:r>
              <a:rPr sz="1400" b="0" i="0">
                <a:solidFill>
                  <a:srgbClr val="E2E8F0"/>
                </a:solidFill>
                <a:latin typeface="Consolas"/>
              </a:rPr>
              <a:t>, { status: 404 })));</a:t>
            </a:r>
          </a:p>
          <a:p>
            <a:pPr algn="l">
              <a:lnSpc>
                <a:spcPct val="110000"/>
              </a:lnSpc>
            </a:pPr>
            <a:r>
              <a:rPr sz="1400" b="0" i="0">
                <a:solidFill>
                  <a:srgbClr val="E2E8F0"/>
                </a:solidFill>
                <a:latin typeface="Consolas"/>
              </a:rPr>
              <a:t>  </a:t>
            </a:r>
            <a:r>
              <a:rPr sz="1400" b="0" i="0">
                <a:solidFill>
                  <a:srgbClr val="67E8F9"/>
                </a:solidFill>
                <a:latin typeface="Consolas"/>
              </a:rPr>
              <a:t>return</a:t>
            </a:r>
            <a:r>
              <a:rPr sz="1400" b="0" i="0">
                <a:solidFill>
                  <a:srgbClr val="E2E8F0"/>
                </a:solidFill>
                <a:latin typeface="Consolas"/>
              </a:rPr>
              <a:t>;</a:t>
            </a:r>
          </a:p>
          <a:p>
            <a:pPr algn="l">
              <a:lnSpc>
                <a:spcPct val="110000"/>
              </a:lnSpc>
            </a:pPr>
            <a:r>
              <a:rPr sz="1400" b="0" i="0">
                <a:solidFill>
                  <a:srgbClr val="E2E8F0"/>
                </a:solidFill>
                <a:latin typeface="Consolas"/>
              </a:rPr>
              <a:t>}</a:t>
            </a:r>
          </a:p>
          <a:p>
            <a:pPr algn="l">
              <a:lnSpc>
                <a:spcPct val="110000"/>
              </a:lnSpc>
            </a:pPr>
            <a:r>
              <a:rPr sz="1400" b="0" i="0">
                <a:solidFill>
                  <a:srgbClr val="94A3B8"/>
                </a:solidFill>
                <a:latin typeface="Consolas"/>
              </a:rPr>
              <a:t>// app shell: cache-first, refresh in background</a:t>
            </a:r>
          </a:p>
          <a:p>
            <a:pPr algn="l">
              <a:lnSpc>
                <a:spcPct val="110000"/>
              </a:lnSpc>
            </a:pPr>
            <a:r>
              <a:rPr sz="1400" b="0" i="0">
                <a:solidFill>
                  <a:srgbClr val="67E8F9"/>
                </a:solidFill>
                <a:latin typeface="Consolas"/>
              </a:rPr>
              <a:t>const</a:t>
            </a:r>
            <a:r>
              <a:rPr sz="1400" b="0" i="0">
                <a:solidFill>
                  <a:srgbClr val="E2E8F0"/>
                </a:solidFill>
                <a:latin typeface="Consolas"/>
              </a:rPr>
              <a:t> hit = </a:t>
            </a:r>
            <a:r>
              <a:rPr sz="1400" b="0" i="0">
                <a:solidFill>
                  <a:srgbClr val="67E8F9"/>
                </a:solidFill>
                <a:latin typeface="Consolas"/>
              </a:rPr>
              <a:t>await</a:t>
            </a:r>
            <a:r>
              <a:rPr sz="1400" b="0" i="0">
                <a:solidFill>
                  <a:srgbClr val="E2E8F0"/>
                </a:solidFill>
                <a:latin typeface="Consolas"/>
              </a:rPr>
              <a:t> c.match(e.request,</a:t>
            </a:r>
          </a:p>
          <a:p>
            <a:pPr algn="l">
              <a:lnSpc>
                <a:spcPct val="110000"/>
              </a:lnSpc>
            </a:pPr>
            <a:r>
              <a:rPr sz="1400" b="0" i="0">
                <a:solidFill>
                  <a:srgbClr val="E2E8F0"/>
                </a:solidFill>
                <a:latin typeface="Consolas"/>
              </a:rPr>
              <a:t>  { ignoreSearch: </a:t>
            </a:r>
            <a:r>
              <a:rPr sz="1400" b="0" i="0">
                <a:solidFill>
                  <a:srgbClr val="67E8F9"/>
                </a:solidFill>
                <a:latin typeface="Consolas"/>
              </a:rPr>
              <a:t>true</a:t>
            </a:r>
            <a:r>
              <a:rPr sz="1400" b="0" i="0">
                <a:solidFill>
                  <a:srgbClr val="E2E8F0"/>
                </a:solidFill>
                <a:latin typeface="Consolas"/>
              </a:rPr>
              <a:t> });</a:t>
            </a:r>
          </a:p>
          <a:p>
            <a:pPr algn="l">
              <a:lnSpc>
                <a:spcPct val="110000"/>
              </a:lnSpc>
            </a:pPr>
            <a:r>
              <a:rPr sz="1400" b="0" i="0">
                <a:solidFill>
                  <a:srgbClr val="67E8F9"/>
                </a:solidFill>
                <a:latin typeface="Consolas"/>
              </a:rPr>
              <a:t>return</a:t>
            </a:r>
            <a:r>
              <a:rPr sz="1400" b="0" i="0">
                <a:solidFill>
                  <a:srgbClr val="E2E8F0"/>
                </a:solidFill>
                <a:latin typeface="Consolas"/>
              </a:rPr>
              <a:t> hit || (</a:t>
            </a:r>
            <a:r>
              <a:rPr sz="1400" b="0" i="0">
                <a:solidFill>
                  <a:srgbClr val="67E8F9"/>
                </a:solidFill>
                <a:latin typeface="Consolas"/>
              </a:rPr>
              <a:t>await</a:t>
            </a:r>
            <a:r>
              <a:rPr sz="1400" b="0" i="0">
                <a:solidFill>
                  <a:srgbClr val="E2E8F0"/>
                </a:solidFill>
                <a:latin typeface="Consolas"/>
              </a:rPr>
              <a:t> fetchP) ||</a:t>
            </a:r>
          </a:p>
          <a:p>
            <a:pPr algn="l">
              <a:lnSpc>
                <a:spcPct val="110000"/>
              </a:lnSpc>
            </a:pPr>
            <a:r>
              <a:rPr sz="1400" b="0" i="0">
                <a:solidFill>
                  <a:srgbClr val="E2E8F0"/>
                </a:solidFill>
                <a:latin typeface="Consolas"/>
              </a:rPr>
              <a:t>  </a:t>
            </a:r>
            <a:r>
              <a:rPr sz="1400" b="0" i="0">
                <a:solidFill>
                  <a:srgbClr val="67E8F9"/>
                </a:solidFill>
                <a:latin typeface="Consolas"/>
              </a:rPr>
              <a:t>new</a:t>
            </a:r>
            <a:r>
              <a:rPr sz="1400" b="0" i="0">
                <a:solidFill>
                  <a:srgbClr val="E2E8F0"/>
                </a:solidFill>
                <a:latin typeface="Consolas"/>
              </a:rPr>
              <a:t> Response(</a:t>
            </a:r>
            <a:r>
              <a:rPr sz="1400" b="0" i="0">
                <a:solidFill>
                  <a:srgbClr val="FCD34D"/>
                </a:solidFill>
                <a:latin typeface="Consolas"/>
              </a:rPr>
              <a:t>'offline'</a:t>
            </a:r>
            <a:r>
              <a:rPr sz="1400" b="0" i="0">
                <a:solidFill>
                  <a:srgbClr val="E2E8F0"/>
                </a:solidFill>
                <a:latin typeface="Consolas"/>
              </a:rPr>
              <a:t>, { status: 503 });</a:t>
            </a:r>
          </a:p>
        </p:txBody>
      </p:sp>
      <p:sp>
        <p:nvSpPr>
          <p:cNvPr id="6" name="Rounded Rectangle 5"/>
          <p:cNvSpPr/>
          <p:nvPr/>
        </p:nvSpPr>
        <p:spPr>
          <a:xfrm>
            <a:off x="7680960" y="1691640"/>
            <a:ext cx="3959352" cy="160020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300" b="1" i="0">
                <a:solidFill>
                  <a:srgbClr val="22D3EE"/>
                </a:solidFill>
                <a:latin typeface="Arial"/>
              </a:rPr>
              <a:t>inference-worker.js</a:t>
            </a:r>
          </a:p>
          <a:p>
            <a:pPr algn="l">
              <a:lnSpc>
                <a:spcPct val="110000"/>
              </a:lnSpc>
            </a:pPr>
            <a:r>
              <a:rPr sz="1400" b="0" i="0">
                <a:solidFill>
                  <a:srgbClr val="E2E8F0"/>
                </a:solidFill>
                <a:latin typeface="Consolas"/>
              </a:rPr>
              <a:t>env.useBrowserCache = </a:t>
            </a:r>
            <a:r>
              <a:rPr sz="1400" b="0" i="0">
                <a:solidFill>
                  <a:srgbClr val="67E8F9"/>
                </a:solidFill>
                <a:latin typeface="Consolas"/>
              </a:rPr>
              <a:t>true</a:t>
            </a:r>
            <a:r>
              <a:rPr sz="1400" b="0" i="0">
                <a:solidFill>
                  <a:srgbClr val="E2E8F0"/>
                </a:solidFill>
                <a:latin typeface="Consolas"/>
              </a:rPr>
              <a:t>;</a:t>
            </a:r>
          </a:p>
          <a:p>
            <a:pPr algn="l">
              <a:lnSpc>
                <a:spcPct val="110000"/>
              </a:lnSpc>
            </a:pPr>
            <a:r>
              <a:rPr sz="1400" b="0" i="0">
                <a:solidFill>
                  <a:srgbClr val="94A3B8"/>
                </a:solidFill>
                <a:latin typeface="Consolas"/>
              </a:rPr>
              <a:t>// → 'transformers-cache'</a:t>
            </a:r>
          </a:p>
        </p:txBody>
      </p:sp>
      <p:sp>
        <p:nvSpPr>
          <p:cNvPr id="7" name="Rounded Rectangle 6"/>
          <p:cNvSpPr/>
          <p:nvPr/>
        </p:nvSpPr>
        <p:spPr>
          <a:xfrm>
            <a:off x="7680960" y="3474720"/>
            <a:ext cx="3959352" cy="26974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2000"/>
              </a:lnSpc>
            </a:pPr>
            <a:r>
              <a:rPr sz="2000" b="1" i="0">
                <a:solidFill>
                  <a:srgbClr val="0E7490"/>
                </a:solidFill>
                <a:latin typeface="Arial"/>
              </a:rPr>
              <a:t>The bug we hit</a:t>
            </a:r>
          </a:p>
          <a:p>
            <a:pPr algn="l">
              <a:lnSpc>
                <a:spcPct val="112000"/>
              </a:lnSpc>
              <a:spcBef>
                <a:spcPts val="600"/>
              </a:spcBef>
            </a:pPr>
            <a:r>
              <a:rPr sz="1600" b="0" i="0">
                <a:solidFill>
                  <a:srgbClr val="0F172A"/>
                </a:solidFill>
                <a:latin typeface="Arial"/>
              </a:rPr>
              <a:t>Optional files that 404 online were never cached, so offline the fetch threw.</a:t>
            </a:r>
          </a:p>
          <a:p>
            <a:pPr algn="l">
              <a:lnSpc>
                <a:spcPct val="112000"/>
              </a:lnSpc>
              <a:spcBef>
                <a:spcPts val="600"/>
              </a:spcBef>
            </a:pPr>
            <a:r>
              <a:rPr sz="1600" b="0" i="0">
                <a:solidFill>
                  <a:srgbClr val="0F172A"/>
                </a:solidFill>
                <a:latin typeface="Arial"/>
              </a:rPr>
              <a:t>Fix: answer a synthetic 404 when there's no cached copy.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FUTURE-PROOF</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The fallback chain</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32</a:t>
            </a:r>
          </a:p>
        </p:txBody>
      </p:sp>
      <p:sp>
        <p:nvSpPr>
          <p:cNvPr id="5" name="Rounded Rectangle 4"/>
          <p:cNvSpPr/>
          <p:nvPr/>
        </p:nvSpPr>
        <p:spPr>
          <a:xfrm>
            <a:off x="548640" y="1691640"/>
            <a:ext cx="1920240" cy="1143000"/>
          </a:xfrm>
          <a:prstGeom prst="roundRect">
            <a:avLst>
              <a:gd name="adj" fmla="val 12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691640"/>
            <a:ext cx="1920240" cy="1143000"/>
          </a:xfrm>
          <a:prstGeom prst="rect">
            <a:avLst/>
          </a:prstGeom>
          <a:noFill/>
        </p:spPr>
        <p:txBody>
          <a:bodyPr wrap="square" lIns="0" rIns="0" tIns="18288" bIns="18288" anchor="ctr">
            <a:spAutoFit/>
          </a:bodyPr>
          <a:lstStyle/>
          <a:p>
            <a:pPr algn="ctr">
              <a:lnSpc>
                <a:spcPct val="110000"/>
              </a:lnSpc>
            </a:pPr>
            <a:r>
              <a:rPr sz="2000" b="1" i="0">
                <a:solidFill>
                  <a:srgbClr val="FFFFFF"/>
                </a:solidFill>
                <a:latin typeface="Arial"/>
              </a:rPr>
              <a:t>Built-in API</a:t>
            </a:r>
          </a:p>
          <a:p>
            <a:pPr algn="ctr">
              <a:lnSpc>
                <a:spcPct val="110000"/>
              </a:lnSpc>
              <a:spcBef>
                <a:spcPts val="400"/>
              </a:spcBef>
            </a:pPr>
            <a:r>
              <a:rPr sz="1400" b="0" i="0">
                <a:solidFill>
                  <a:srgbClr val="22D3EE"/>
                </a:solidFill>
                <a:latin typeface="Consolas"/>
              </a:rPr>
              <a:t>availability()</a:t>
            </a:r>
          </a:p>
        </p:txBody>
      </p:sp>
      <p:cxnSp>
        <p:nvCxnSpPr>
          <p:cNvPr id="7" name="Connector 6"/>
          <p:cNvCxnSpPr/>
          <p:nvPr/>
        </p:nvCxnSpPr>
        <p:spPr>
          <a:xfrm>
            <a:off x="2487168" y="2258568"/>
            <a:ext cx="329184" cy="0"/>
          </a:xfrm>
          <a:prstGeom prst="line">
            <a:avLst/>
          </a:prstGeom>
          <a:ln w="3175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34640" y="1691640"/>
            <a:ext cx="1920240" cy="1143000"/>
          </a:xfrm>
          <a:prstGeom prst="roundRect">
            <a:avLst>
              <a:gd name="adj" fmla="val 12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834640" y="1691640"/>
            <a:ext cx="1920240" cy="1143000"/>
          </a:xfrm>
          <a:prstGeom prst="rect">
            <a:avLst/>
          </a:prstGeom>
          <a:noFill/>
        </p:spPr>
        <p:txBody>
          <a:bodyPr wrap="square" lIns="0" rIns="0" tIns="18288" bIns="18288" anchor="ctr">
            <a:spAutoFit/>
          </a:bodyPr>
          <a:lstStyle/>
          <a:p>
            <a:pPr algn="ctr">
              <a:lnSpc>
                <a:spcPct val="110000"/>
              </a:lnSpc>
            </a:pPr>
            <a:r>
              <a:rPr sz="2000" b="1" i="0">
                <a:solidFill>
                  <a:srgbClr val="FFFFFF"/>
                </a:solidFill>
                <a:latin typeface="Arial"/>
              </a:rPr>
              <a:t>WebNN</a:t>
            </a:r>
          </a:p>
          <a:p>
            <a:pPr algn="ctr">
              <a:lnSpc>
                <a:spcPct val="110000"/>
              </a:lnSpc>
              <a:spcBef>
                <a:spcPts val="400"/>
              </a:spcBef>
            </a:pPr>
            <a:r>
              <a:rPr sz="1400" b="0" i="0">
                <a:solidFill>
                  <a:srgbClr val="22D3EE"/>
                </a:solidFill>
                <a:latin typeface="Consolas"/>
              </a:rPr>
              <a:t>createContext()</a:t>
            </a:r>
          </a:p>
        </p:txBody>
      </p:sp>
      <p:cxnSp>
        <p:nvCxnSpPr>
          <p:cNvPr id="10" name="Connector 9"/>
          <p:cNvCxnSpPr/>
          <p:nvPr/>
        </p:nvCxnSpPr>
        <p:spPr>
          <a:xfrm>
            <a:off x="4773168" y="2258568"/>
            <a:ext cx="329184" cy="0"/>
          </a:xfrm>
          <a:prstGeom prst="line">
            <a:avLst/>
          </a:prstGeom>
          <a:ln w="3175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20640" y="1691640"/>
            <a:ext cx="1920240" cy="1143000"/>
          </a:xfrm>
          <a:prstGeom prst="roundRect">
            <a:avLst>
              <a:gd name="adj" fmla="val 12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120640" y="1691640"/>
            <a:ext cx="1920240" cy="1143000"/>
          </a:xfrm>
          <a:prstGeom prst="rect">
            <a:avLst/>
          </a:prstGeom>
          <a:noFill/>
        </p:spPr>
        <p:txBody>
          <a:bodyPr wrap="square" lIns="0" rIns="0" tIns="18288" bIns="18288" anchor="ctr">
            <a:spAutoFit/>
          </a:bodyPr>
          <a:lstStyle/>
          <a:p>
            <a:pPr algn="ctr">
              <a:lnSpc>
                <a:spcPct val="110000"/>
              </a:lnSpc>
            </a:pPr>
            <a:r>
              <a:rPr sz="2000" b="1" i="0">
                <a:solidFill>
                  <a:srgbClr val="FFFFFF"/>
                </a:solidFill>
                <a:latin typeface="Arial"/>
              </a:rPr>
              <a:t>WebGPU</a:t>
            </a:r>
          </a:p>
          <a:p>
            <a:pPr algn="ctr">
              <a:lnSpc>
                <a:spcPct val="110000"/>
              </a:lnSpc>
              <a:spcBef>
                <a:spcPts val="400"/>
              </a:spcBef>
            </a:pPr>
            <a:r>
              <a:rPr sz="1400" b="0" i="0">
                <a:solidFill>
                  <a:srgbClr val="22D3EE"/>
                </a:solidFill>
                <a:latin typeface="Consolas"/>
              </a:rPr>
              <a:t>requestAdapter()</a:t>
            </a:r>
          </a:p>
        </p:txBody>
      </p:sp>
      <p:cxnSp>
        <p:nvCxnSpPr>
          <p:cNvPr id="13" name="Connector 12"/>
          <p:cNvCxnSpPr/>
          <p:nvPr/>
        </p:nvCxnSpPr>
        <p:spPr>
          <a:xfrm>
            <a:off x="7059168" y="2258568"/>
            <a:ext cx="329184" cy="0"/>
          </a:xfrm>
          <a:prstGeom prst="line">
            <a:avLst/>
          </a:prstGeom>
          <a:ln w="3175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06640" y="1691640"/>
            <a:ext cx="1920240" cy="1143000"/>
          </a:xfrm>
          <a:prstGeom prst="roundRect">
            <a:avLst>
              <a:gd name="adj" fmla="val 12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406640" y="1691640"/>
            <a:ext cx="1920240" cy="1143000"/>
          </a:xfrm>
          <a:prstGeom prst="rect">
            <a:avLst/>
          </a:prstGeom>
          <a:noFill/>
        </p:spPr>
        <p:txBody>
          <a:bodyPr wrap="square" lIns="0" rIns="0" tIns="18288" bIns="18288" anchor="ctr">
            <a:spAutoFit/>
          </a:bodyPr>
          <a:lstStyle/>
          <a:p>
            <a:pPr algn="ctr">
              <a:lnSpc>
                <a:spcPct val="110000"/>
              </a:lnSpc>
            </a:pPr>
            <a:r>
              <a:rPr sz="2000" b="1" i="0">
                <a:solidFill>
                  <a:srgbClr val="FFFFFF"/>
                </a:solidFill>
                <a:latin typeface="Arial"/>
              </a:rPr>
              <a:t>WASM</a:t>
            </a:r>
          </a:p>
          <a:p>
            <a:pPr algn="ctr">
              <a:lnSpc>
                <a:spcPct val="110000"/>
              </a:lnSpc>
              <a:spcBef>
                <a:spcPts val="400"/>
              </a:spcBef>
            </a:pPr>
            <a:r>
              <a:rPr sz="1400" b="0" i="0">
                <a:solidFill>
                  <a:srgbClr val="22D3EE"/>
                </a:solidFill>
                <a:latin typeface="Consolas"/>
              </a:rPr>
              <a:t>always</a:t>
            </a:r>
          </a:p>
        </p:txBody>
      </p:sp>
      <p:cxnSp>
        <p:nvCxnSpPr>
          <p:cNvPr id="16" name="Connector 15"/>
          <p:cNvCxnSpPr/>
          <p:nvPr/>
        </p:nvCxnSpPr>
        <p:spPr>
          <a:xfrm>
            <a:off x="9345167" y="2258568"/>
            <a:ext cx="329185" cy="0"/>
          </a:xfrm>
          <a:prstGeom prst="line">
            <a:avLst/>
          </a:prstGeom>
          <a:ln w="3175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692640" y="1691640"/>
            <a:ext cx="1920240" cy="1143000"/>
          </a:xfrm>
          <a:prstGeom prst="roundRect">
            <a:avLst>
              <a:gd name="adj" fmla="val 12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692640" y="1691640"/>
            <a:ext cx="1920240" cy="1143000"/>
          </a:xfrm>
          <a:prstGeom prst="rect">
            <a:avLst/>
          </a:prstGeom>
          <a:noFill/>
        </p:spPr>
        <p:txBody>
          <a:bodyPr wrap="square" lIns="0" rIns="0" tIns="18288" bIns="18288" anchor="ctr">
            <a:spAutoFit/>
          </a:bodyPr>
          <a:lstStyle/>
          <a:p>
            <a:pPr algn="ctr">
              <a:lnSpc>
                <a:spcPct val="110000"/>
              </a:lnSpc>
            </a:pPr>
            <a:r>
              <a:rPr sz="2000" b="1" i="0">
                <a:solidFill>
                  <a:srgbClr val="FFFFFF"/>
                </a:solidFill>
                <a:latin typeface="Arial"/>
              </a:rPr>
              <a:t>Cloud</a:t>
            </a:r>
          </a:p>
          <a:p>
            <a:pPr algn="ctr">
              <a:lnSpc>
                <a:spcPct val="110000"/>
              </a:lnSpc>
              <a:spcBef>
                <a:spcPts val="400"/>
              </a:spcBef>
            </a:pPr>
            <a:r>
              <a:rPr sz="1400" b="0" i="0">
                <a:solidFill>
                  <a:srgbClr val="FFFFFF"/>
                </a:solidFill>
                <a:latin typeface="Consolas"/>
              </a:rPr>
              <a:t>last resort</a:t>
            </a:r>
          </a:p>
        </p:txBody>
      </p:sp>
      <p:sp>
        <p:nvSpPr>
          <p:cNvPr id="19" name="Rounded Rectangle 18"/>
          <p:cNvSpPr/>
          <p:nvPr/>
        </p:nvSpPr>
        <p:spPr>
          <a:xfrm>
            <a:off x="548640" y="3108960"/>
            <a:ext cx="11091672" cy="30632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300" b="1" i="0">
                <a:solidFill>
                  <a:srgbClr val="22D3EE"/>
                </a:solidFill>
                <a:latin typeface="Arial"/>
              </a:rPr>
              <a:t>Pattern — every check is safe in every browser</a:t>
            </a:r>
          </a:p>
          <a:p>
            <a:pPr algn="l">
              <a:lnSpc>
                <a:spcPct val="110000"/>
              </a:lnSpc>
            </a:pPr>
            <a:r>
              <a:rPr sz="1500" b="0" i="0">
                <a:solidFill>
                  <a:srgbClr val="67E8F9"/>
                </a:solidFill>
                <a:latin typeface="Consolas"/>
              </a:rPr>
              <a:t>async</a:t>
            </a:r>
            <a:r>
              <a:rPr sz="1500" b="0" i="0">
                <a:solidFill>
                  <a:srgbClr val="E2E8F0"/>
                </a:solidFill>
                <a:latin typeface="Consolas"/>
              </a:rPr>
              <a:t> </a:t>
            </a:r>
            <a:r>
              <a:rPr sz="1500" b="0" i="0">
                <a:solidFill>
                  <a:srgbClr val="67E8F9"/>
                </a:solidFill>
                <a:latin typeface="Consolas"/>
              </a:rPr>
              <a:t>function</a:t>
            </a:r>
            <a:r>
              <a:rPr sz="1500" b="0" i="0">
                <a:solidFill>
                  <a:srgbClr val="E2E8F0"/>
                </a:solidFill>
                <a:latin typeface="Consolas"/>
              </a:rPr>
              <a:t> pickBackend() {</a:t>
            </a:r>
          </a:p>
          <a:p>
            <a:pPr algn="l">
              <a:lnSpc>
                <a:spcPct val="110000"/>
              </a:lnSpc>
            </a:pPr>
            <a:r>
              <a:rPr sz="1500" b="0" i="0">
                <a:solidFill>
                  <a:srgbClr val="E2E8F0"/>
                </a:solidFill>
                <a:latin typeface="Consolas"/>
              </a:rPr>
              <a:t>  </a:t>
            </a:r>
            <a:r>
              <a:rPr sz="1500" b="0" i="0">
                <a:solidFill>
                  <a:srgbClr val="67E8F9"/>
                </a:solidFill>
                <a:latin typeface="Consolas"/>
              </a:rPr>
              <a:t>if</a:t>
            </a:r>
            <a:r>
              <a:rPr sz="1500" b="0" i="0">
                <a:solidFill>
                  <a:srgbClr val="E2E8F0"/>
                </a:solidFill>
                <a:latin typeface="Consolas"/>
              </a:rPr>
              <a:t> (</a:t>
            </a:r>
            <a:r>
              <a:rPr sz="1500" b="0" i="0">
                <a:solidFill>
                  <a:srgbClr val="FCD34D"/>
                </a:solidFill>
                <a:latin typeface="Consolas"/>
              </a:rPr>
              <a:t>'LanguageModel'</a:t>
            </a:r>
            <a:r>
              <a:rPr sz="1500" b="0" i="0">
                <a:solidFill>
                  <a:srgbClr val="E2E8F0"/>
                </a:solidFill>
                <a:latin typeface="Consolas"/>
              </a:rPr>
              <a:t> </a:t>
            </a:r>
            <a:r>
              <a:rPr sz="1500" b="0" i="0">
                <a:solidFill>
                  <a:srgbClr val="67E8F9"/>
                </a:solidFill>
                <a:latin typeface="Consolas"/>
              </a:rPr>
              <a:t>in</a:t>
            </a:r>
            <a:r>
              <a:rPr sz="1500" b="0" i="0">
                <a:solidFill>
                  <a:srgbClr val="E2E8F0"/>
                </a:solidFill>
                <a:latin typeface="Consolas"/>
              </a:rPr>
              <a:t> self &amp;&amp;</a:t>
            </a:r>
          </a:p>
          <a:p>
            <a:pPr algn="l">
              <a:lnSpc>
                <a:spcPct val="110000"/>
              </a:lnSpc>
            </a:pPr>
            <a:r>
              <a:rPr sz="1500" b="0" i="0">
                <a:solidFill>
                  <a:srgbClr val="E2E8F0"/>
                </a:solidFill>
                <a:latin typeface="Consolas"/>
              </a:rPr>
              <a:t>      (</a:t>
            </a:r>
            <a:r>
              <a:rPr sz="1500" b="0" i="0">
                <a:solidFill>
                  <a:srgbClr val="67E8F9"/>
                </a:solidFill>
                <a:latin typeface="Consolas"/>
              </a:rPr>
              <a:t>await</a:t>
            </a:r>
            <a:r>
              <a:rPr sz="1500" b="0" i="0">
                <a:solidFill>
                  <a:srgbClr val="E2E8F0"/>
                </a:solidFill>
                <a:latin typeface="Consolas"/>
              </a:rPr>
              <a:t> LanguageModel.availability()) !== </a:t>
            </a:r>
            <a:r>
              <a:rPr sz="1500" b="0" i="0">
                <a:solidFill>
                  <a:srgbClr val="FCD34D"/>
                </a:solidFill>
                <a:latin typeface="Consolas"/>
              </a:rPr>
              <a:t>'unavailable'</a:t>
            </a:r>
            <a:r>
              <a:rPr sz="1500" b="0" i="0">
                <a:solidFill>
                  <a:srgbClr val="E2E8F0"/>
                </a:solidFill>
                <a:latin typeface="Consolas"/>
              </a:rPr>
              <a:t>) </a:t>
            </a:r>
            <a:r>
              <a:rPr sz="1500" b="0" i="0">
                <a:solidFill>
                  <a:srgbClr val="67E8F9"/>
                </a:solidFill>
                <a:latin typeface="Consolas"/>
              </a:rPr>
              <a:t>return</a:t>
            </a:r>
            <a:r>
              <a:rPr sz="1500" b="0" i="0">
                <a:solidFill>
                  <a:srgbClr val="E2E8F0"/>
                </a:solidFill>
                <a:latin typeface="Consolas"/>
              </a:rPr>
              <a:t> </a:t>
            </a:r>
            <a:r>
              <a:rPr sz="1500" b="0" i="0">
                <a:solidFill>
                  <a:srgbClr val="FCD34D"/>
                </a:solidFill>
                <a:latin typeface="Consolas"/>
              </a:rPr>
              <a:t>'built-in'</a:t>
            </a:r>
            <a:r>
              <a:rPr sz="1500" b="0" i="0">
                <a:solidFill>
                  <a:srgbClr val="E2E8F0"/>
                </a:solidFill>
                <a:latin typeface="Consolas"/>
              </a:rPr>
              <a:t>;</a:t>
            </a:r>
          </a:p>
          <a:p>
            <a:pPr algn="l">
              <a:lnSpc>
                <a:spcPct val="110000"/>
              </a:lnSpc>
            </a:pPr>
            <a:r>
              <a:rPr sz="1500" b="0" i="0">
                <a:solidFill>
                  <a:srgbClr val="E2E8F0"/>
                </a:solidFill>
                <a:latin typeface="Consolas"/>
              </a:rPr>
              <a:t>  </a:t>
            </a:r>
            <a:r>
              <a:rPr sz="1500" b="0" i="0">
                <a:solidFill>
                  <a:srgbClr val="67E8F9"/>
                </a:solidFill>
                <a:latin typeface="Consolas"/>
              </a:rPr>
              <a:t>if</a:t>
            </a:r>
            <a:r>
              <a:rPr sz="1500" b="0" i="0">
                <a:solidFill>
                  <a:srgbClr val="E2E8F0"/>
                </a:solidFill>
                <a:latin typeface="Consolas"/>
              </a:rPr>
              <a:t> (</a:t>
            </a:r>
            <a:r>
              <a:rPr sz="1500" b="0" i="0">
                <a:solidFill>
                  <a:srgbClr val="FCD34D"/>
                </a:solidFill>
                <a:latin typeface="Consolas"/>
              </a:rPr>
              <a:t>'ml'</a:t>
            </a:r>
            <a:r>
              <a:rPr sz="1500" b="0" i="0">
                <a:solidFill>
                  <a:srgbClr val="E2E8F0"/>
                </a:solidFill>
                <a:latin typeface="Consolas"/>
              </a:rPr>
              <a:t> </a:t>
            </a:r>
            <a:r>
              <a:rPr sz="1500" b="0" i="0">
                <a:solidFill>
                  <a:srgbClr val="67E8F9"/>
                </a:solidFill>
                <a:latin typeface="Consolas"/>
              </a:rPr>
              <a:t>in</a:t>
            </a:r>
            <a:r>
              <a:rPr sz="1500" b="0" i="0">
                <a:solidFill>
                  <a:srgbClr val="E2E8F0"/>
                </a:solidFill>
                <a:latin typeface="Consolas"/>
              </a:rPr>
              <a:t> navigator) {</a:t>
            </a:r>
          </a:p>
          <a:p>
            <a:pPr algn="l">
              <a:lnSpc>
                <a:spcPct val="110000"/>
              </a:lnSpc>
            </a:pPr>
            <a:r>
              <a:rPr sz="1500" b="0" i="0">
                <a:solidFill>
                  <a:srgbClr val="E2E8F0"/>
                </a:solidFill>
                <a:latin typeface="Consolas"/>
              </a:rPr>
              <a:t>    </a:t>
            </a:r>
            <a:r>
              <a:rPr sz="1500" b="0" i="0">
                <a:solidFill>
                  <a:srgbClr val="67E8F9"/>
                </a:solidFill>
                <a:latin typeface="Consolas"/>
              </a:rPr>
              <a:t>try</a:t>
            </a:r>
            <a:r>
              <a:rPr sz="1500" b="0" i="0">
                <a:solidFill>
                  <a:srgbClr val="E2E8F0"/>
                </a:solidFill>
                <a:latin typeface="Consolas"/>
              </a:rPr>
              <a:t> { </a:t>
            </a:r>
            <a:r>
              <a:rPr sz="1500" b="0" i="0">
                <a:solidFill>
                  <a:srgbClr val="67E8F9"/>
                </a:solidFill>
                <a:latin typeface="Consolas"/>
              </a:rPr>
              <a:t>await</a:t>
            </a:r>
            <a:r>
              <a:rPr sz="1500" b="0" i="0">
                <a:solidFill>
                  <a:srgbClr val="E2E8F0"/>
                </a:solidFill>
                <a:latin typeface="Consolas"/>
              </a:rPr>
              <a:t> navigator.ml.createContext({ deviceType: </a:t>
            </a:r>
            <a:r>
              <a:rPr sz="1500" b="0" i="0">
                <a:solidFill>
                  <a:srgbClr val="FCD34D"/>
                </a:solidFill>
                <a:latin typeface="Consolas"/>
              </a:rPr>
              <a:t>'npu'</a:t>
            </a:r>
            <a:r>
              <a:rPr sz="1500" b="0" i="0">
                <a:solidFill>
                  <a:srgbClr val="E2E8F0"/>
                </a:solidFill>
                <a:latin typeface="Consolas"/>
              </a:rPr>
              <a:t> }); </a:t>
            </a:r>
            <a:r>
              <a:rPr sz="1500" b="0" i="0">
                <a:solidFill>
                  <a:srgbClr val="67E8F9"/>
                </a:solidFill>
                <a:latin typeface="Consolas"/>
              </a:rPr>
              <a:t>return</a:t>
            </a:r>
            <a:r>
              <a:rPr sz="1500" b="0" i="0">
                <a:solidFill>
                  <a:srgbClr val="E2E8F0"/>
                </a:solidFill>
                <a:latin typeface="Consolas"/>
              </a:rPr>
              <a:t> </a:t>
            </a:r>
            <a:r>
              <a:rPr sz="1500" b="0" i="0">
                <a:solidFill>
                  <a:srgbClr val="FCD34D"/>
                </a:solidFill>
                <a:latin typeface="Consolas"/>
              </a:rPr>
              <a:t>'webnn-npu'</a:t>
            </a:r>
            <a:r>
              <a:rPr sz="1500" b="0" i="0">
                <a:solidFill>
                  <a:srgbClr val="E2E8F0"/>
                </a:solidFill>
                <a:latin typeface="Consolas"/>
              </a:rPr>
              <a:t>; }</a:t>
            </a:r>
          </a:p>
          <a:p>
            <a:pPr algn="l">
              <a:lnSpc>
                <a:spcPct val="110000"/>
              </a:lnSpc>
            </a:pPr>
            <a:r>
              <a:rPr sz="1500" b="0" i="0">
                <a:solidFill>
                  <a:srgbClr val="E2E8F0"/>
                </a:solidFill>
                <a:latin typeface="Consolas"/>
              </a:rPr>
              <a:t>    </a:t>
            </a:r>
            <a:r>
              <a:rPr sz="1500" b="0" i="0">
                <a:solidFill>
                  <a:srgbClr val="67E8F9"/>
                </a:solidFill>
                <a:latin typeface="Consolas"/>
              </a:rPr>
              <a:t>catch</a:t>
            </a:r>
            <a:r>
              <a:rPr sz="1500" b="0" i="0">
                <a:solidFill>
                  <a:srgbClr val="E2E8F0"/>
                </a:solidFill>
                <a:latin typeface="Consolas"/>
              </a:rPr>
              <a:t> { /* no NPU context: keep going */ }</a:t>
            </a:r>
          </a:p>
          <a:p>
            <a:pPr algn="l">
              <a:lnSpc>
                <a:spcPct val="110000"/>
              </a:lnSpc>
            </a:pPr>
            <a:r>
              <a:rPr sz="1500" b="0" i="0">
                <a:solidFill>
                  <a:srgbClr val="E2E8F0"/>
                </a:solidFill>
                <a:latin typeface="Consolas"/>
              </a:rPr>
              <a:t>  }</a:t>
            </a:r>
          </a:p>
          <a:p>
            <a:pPr algn="l">
              <a:lnSpc>
                <a:spcPct val="110000"/>
              </a:lnSpc>
            </a:pPr>
            <a:r>
              <a:rPr sz="1500" b="0" i="0">
                <a:solidFill>
                  <a:srgbClr val="E2E8F0"/>
                </a:solidFill>
                <a:latin typeface="Consolas"/>
              </a:rPr>
              <a:t>  </a:t>
            </a:r>
            <a:r>
              <a:rPr sz="1500" b="0" i="0">
                <a:solidFill>
                  <a:srgbClr val="67E8F9"/>
                </a:solidFill>
                <a:latin typeface="Consolas"/>
              </a:rPr>
              <a:t>if</a:t>
            </a:r>
            <a:r>
              <a:rPr sz="1500" b="0" i="0">
                <a:solidFill>
                  <a:srgbClr val="E2E8F0"/>
                </a:solidFill>
                <a:latin typeface="Consolas"/>
              </a:rPr>
              <a:t> (</a:t>
            </a:r>
            <a:r>
              <a:rPr sz="1500" b="0" i="0">
                <a:solidFill>
                  <a:srgbClr val="67E8F9"/>
                </a:solidFill>
                <a:latin typeface="Consolas"/>
              </a:rPr>
              <a:t>await</a:t>
            </a:r>
            <a:r>
              <a:rPr sz="1500" b="0" i="0">
                <a:solidFill>
                  <a:srgbClr val="E2E8F0"/>
                </a:solidFill>
                <a:latin typeface="Consolas"/>
              </a:rPr>
              <a:t> navigator.gpu?.requestAdapter()) </a:t>
            </a:r>
            <a:r>
              <a:rPr sz="1500" b="0" i="0">
                <a:solidFill>
                  <a:srgbClr val="67E8F9"/>
                </a:solidFill>
                <a:latin typeface="Consolas"/>
              </a:rPr>
              <a:t>return</a:t>
            </a:r>
            <a:r>
              <a:rPr sz="1500" b="0" i="0">
                <a:solidFill>
                  <a:srgbClr val="E2E8F0"/>
                </a:solidFill>
                <a:latin typeface="Consolas"/>
              </a:rPr>
              <a:t> </a:t>
            </a:r>
            <a:r>
              <a:rPr sz="1500" b="0" i="0">
                <a:solidFill>
                  <a:srgbClr val="FCD34D"/>
                </a:solidFill>
                <a:latin typeface="Consolas"/>
              </a:rPr>
              <a:t>'webgpu'</a:t>
            </a:r>
            <a:r>
              <a:rPr sz="1500" b="0" i="0">
                <a:solidFill>
                  <a:srgbClr val="E2E8F0"/>
                </a:solidFill>
                <a:latin typeface="Consolas"/>
              </a:rPr>
              <a:t>;</a:t>
            </a:r>
          </a:p>
          <a:p>
            <a:pPr algn="l">
              <a:lnSpc>
                <a:spcPct val="110000"/>
              </a:lnSpc>
            </a:pPr>
            <a:r>
              <a:rPr sz="1500" b="0" i="0">
                <a:solidFill>
                  <a:srgbClr val="E2E8F0"/>
                </a:solidFill>
                <a:latin typeface="Consolas"/>
              </a:rPr>
              <a:t>  </a:t>
            </a:r>
            <a:r>
              <a:rPr sz="1500" b="0" i="0">
                <a:solidFill>
                  <a:srgbClr val="67E8F9"/>
                </a:solidFill>
                <a:latin typeface="Consolas"/>
              </a:rPr>
              <a:t>return</a:t>
            </a:r>
            <a:r>
              <a:rPr sz="1500" b="0" i="0">
                <a:solidFill>
                  <a:srgbClr val="E2E8F0"/>
                </a:solidFill>
                <a:latin typeface="Consolas"/>
              </a:rPr>
              <a:t> </a:t>
            </a:r>
            <a:r>
              <a:rPr sz="1500" b="0" i="0">
                <a:solidFill>
                  <a:srgbClr val="FCD34D"/>
                </a:solidFill>
                <a:latin typeface="Consolas"/>
              </a:rPr>
              <a:t>'wasm'</a:t>
            </a:r>
            <a:r>
              <a:rPr sz="1500" b="0" i="0">
                <a:solidFill>
                  <a:srgbClr val="E2E8F0"/>
                </a:solidFill>
                <a:latin typeface="Consolas"/>
              </a:rPr>
              <a:t>;   </a:t>
            </a:r>
            <a:r>
              <a:rPr sz="1500" b="0" i="0">
                <a:solidFill>
                  <a:srgbClr val="94A3B8"/>
                </a:solidFill>
                <a:latin typeface="Consolas"/>
              </a:rPr>
              <a:t>// works everywhere; offer the cloud only if the device is too slow</a:t>
            </a:r>
          </a:p>
          <a:p>
            <a:pPr algn="l">
              <a:lnSpc>
                <a:spcPct val="110000"/>
              </a:lnSpc>
            </a:pPr>
            <a:r>
              <a:rPr sz="1500" b="0" i="0">
                <a:solidFill>
                  <a:srgbClr val="E2E8F0"/>
                </a:solidFill>
                <a:latin typeface="Consolas"/>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0891B2"/>
                </a:solidFill>
                <a:latin typeface="Arial"/>
              </a:rPr>
              <a:t>THE NEXT LAYER</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0F172A"/>
                </a:solidFill>
                <a:latin typeface="Arial"/>
              </a:rPr>
              <a:t>What's next: WebMCP — tools, not clicks</a:t>
            </a:r>
          </a:p>
        </p:txBody>
      </p:sp>
      <p:sp>
        <p:nvSpPr>
          <p:cNvPr id="4" name="TextBox 3"/>
          <p:cNvSpPr txBox="1"/>
          <p:nvPr/>
        </p:nvSpPr>
        <p:spPr>
          <a:xfrm>
            <a:off x="548640" y="6400800"/>
            <a:ext cx="10241280" cy="274320"/>
          </a:xfrm>
          <a:prstGeom prst="rect">
            <a:avLst/>
          </a:prstGeom>
          <a:noFill/>
        </p:spPr>
        <p:txBody>
          <a:bodyPr wrap="square" lIns="0" rIns="0" tIns="18288" bIns="18288" anchor="t">
            <a:spAutoFit/>
          </a:bodyPr>
          <a:lstStyle/>
          <a:p>
            <a:pPr algn="l">
              <a:lnSpc>
                <a:spcPct val="112000"/>
              </a:lnSpc>
            </a:pPr>
            <a:r>
              <a:rPr sz="1200" b="0" i="0">
                <a:solidFill>
                  <a:srgbClr val="475569"/>
                </a:solidFill>
                <a:latin typeface="Arial"/>
              </a:rPr>
              <a:t>Source: webmachinelearning.github.io/webmcp, chromestatus.com/feature/5117755740913664, standards-positions repos — as of 16 Oct 2026</a:t>
            </a:r>
          </a:p>
        </p:txBody>
      </p:sp>
      <p:sp>
        <p:nvSpPr>
          <p:cNvPr id="5" name="TextBox 4"/>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475569"/>
                </a:solidFill>
                <a:latin typeface="Arial"/>
              </a:rPr>
              <a:t>33</a:t>
            </a:r>
          </a:p>
        </p:txBody>
      </p:sp>
      <p:sp>
        <p:nvSpPr>
          <p:cNvPr id="6" name="TextBox 5"/>
          <p:cNvSpPr txBox="1"/>
          <p:nvPr/>
        </p:nvSpPr>
        <p:spPr>
          <a:xfrm>
            <a:off x="548640" y="1691640"/>
            <a:ext cx="6766560" cy="1188720"/>
          </a:xfrm>
          <a:prstGeom prst="rect">
            <a:avLst/>
          </a:prstGeom>
          <a:noFill/>
        </p:spPr>
        <p:txBody>
          <a:bodyPr wrap="square" lIns="0" rIns="0" tIns="18288" bIns="18288" anchor="t">
            <a:spAutoFit/>
          </a:bodyPr>
          <a:lstStyle/>
          <a:p>
            <a:pPr algn="l">
              <a:lnSpc>
                <a:spcPct val="112000"/>
              </a:lnSpc>
            </a:pPr>
            <a:r>
              <a:rPr sz="1900" b="0" i="0">
                <a:solidFill>
                  <a:srgbClr val="0F172A"/>
                </a:solidFill>
                <a:latin typeface="Arial"/>
              </a:rPr>
              <a:t>Your page exposes typed tools — JS functions with descriptions and JSON-Schema inputs — that the browser's AI agent can call in the user's session.</a:t>
            </a:r>
          </a:p>
        </p:txBody>
      </p:sp>
      <p:sp>
        <p:nvSpPr>
          <p:cNvPr id="7" name="Rounded Rectangle 6"/>
          <p:cNvSpPr/>
          <p:nvPr/>
        </p:nvSpPr>
        <p:spPr>
          <a:xfrm>
            <a:off x="548640" y="2926080"/>
            <a:ext cx="6766560" cy="224028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lnSpc>
                <a:spcPct val="110000"/>
              </a:lnSpc>
            </a:pPr>
            <a:r>
              <a:rPr sz="1600" b="0" i="0">
                <a:solidFill>
                  <a:srgbClr val="E2E8F0"/>
                </a:solidFill>
                <a:latin typeface="Consolas"/>
              </a:rPr>
              <a:t>document.modelContext.registerTool({</a:t>
            </a:r>
          </a:p>
          <a:p>
            <a:pPr algn="l">
              <a:lnSpc>
                <a:spcPct val="110000"/>
              </a:lnSpc>
            </a:pPr>
            <a:r>
              <a:rPr sz="1600" b="0" i="0">
                <a:solidFill>
                  <a:srgbClr val="E2E8F0"/>
                </a:solidFill>
                <a:latin typeface="Consolas"/>
              </a:rPr>
              <a:t>  name: </a:t>
            </a:r>
            <a:r>
              <a:rPr sz="1600" b="0" i="0">
                <a:solidFill>
                  <a:srgbClr val="FCD34D"/>
                </a:solidFill>
                <a:latin typeface="Consolas"/>
              </a:rPr>
              <a:t>'add_to_cart'</a:t>
            </a:r>
            <a:r>
              <a:rPr sz="1600" b="0" i="0">
                <a:solidFill>
                  <a:srgbClr val="E2E8F0"/>
                </a:solidFill>
                <a:latin typeface="Consolas"/>
              </a:rPr>
              <a:t>,</a:t>
            </a:r>
          </a:p>
          <a:p>
            <a:pPr algn="l">
              <a:lnSpc>
                <a:spcPct val="110000"/>
              </a:lnSpc>
            </a:pPr>
            <a:r>
              <a:rPr sz="1600" b="0" i="0">
                <a:solidFill>
                  <a:srgbClr val="E2E8F0"/>
                </a:solidFill>
                <a:latin typeface="Consolas"/>
              </a:rPr>
              <a:t>  description: </a:t>
            </a:r>
            <a:r>
              <a:rPr sz="1600" b="0" i="0">
                <a:solidFill>
                  <a:srgbClr val="FCD34D"/>
                </a:solidFill>
                <a:latin typeface="Consolas"/>
              </a:rPr>
              <a:t>'Add a product to the cart'</a:t>
            </a:r>
            <a:r>
              <a:rPr sz="1600" b="0" i="0">
                <a:solidFill>
                  <a:srgbClr val="E2E8F0"/>
                </a:solidFill>
                <a:latin typeface="Consolas"/>
              </a:rPr>
              <a:t>,</a:t>
            </a:r>
          </a:p>
          <a:p>
            <a:pPr algn="l">
              <a:lnSpc>
                <a:spcPct val="110000"/>
              </a:lnSpc>
            </a:pPr>
            <a:r>
              <a:rPr sz="1600" b="0" i="0">
                <a:solidFill>
                  <a:srgbClr val="E2E8F0"/>
                </a:solidFill>
                <a:latin typeface="Consolas"/>
              </a:rPr>
              <a:t>  inputSchema: { type: </a:t>
            </a:r>
            <a:r>
              <a:rPr sz="1600" b="0" i="0">
                <a:solidFill>
                  <a:srgbClr val="FCD34D"/>
                </a:solidFill>
                <a:latin typeface="Consolas"/>
              </a:rPr>
              <a:t>'object'</a:t>
            </a:r>
            <a:r>
              <a:rPr sz="1600" b="0" i="0">
                <a:solidFill>
                  <a:srgbClr val="E2E8F0"/>
                </a:solidFill>
                <a:latin typeface="Consolas"/>
              </a:rPr>
              <a:t>,</a:t>
            </a:r>
          </a:p>
          <a:p>
            <a:pPr algn="l">
              <a:lnSpc>
                <a:spcPct val="110000"/>
              </a:lnSpc>
            </a:pPr>
            <a:r>
              <a:rPr sz="1600" b="0" i="0">
                <a:solidFill>
                  <a:srgbClr val="E2E8F0"/>
                </a:solidFill>
                <a:latin typeface="Consolas"/>
              </a:rPr>
              <a:t>    properties: { sku: { type: </a:t>
            </a:r>
            <a:r>
              <a:rPr sz="1600" b="0" i="0">
                <a:solidFill>
                  <a:srgbClr val="FCD34D"/>
                </a:solidFill>
                <a:latin typeface="Consolas"/>
              </a:rPr>
              <a:t>'string'</a:t>
            </a:r>
            <a:r>
              <a:rPr sz="1600" b="0" i="0">
                <a:solidFill>
                  <a:srgbClr val="E2E8F0"/>
                </a:solidFill>
                <a:latin typeface="Consolas"/>
              </a:rPr>
              <a:t> } } },</a:t>
            </a:r>
          </a:p>
          <a:p>
            <a:pPr algn="l">
              <a:lnSpc>
                <a:spcPct val="110000"/>
              </a:lnSpc>
            </a:pPr>
            <a:r>
              <a:rPr sz="1600" b="0" i="0">
                <a:solidFill>
                  <a:srgbClr val="E2E8F0"/>
                </a:solidFill>
                <a:latin typeface="Consolas"/>
              </a:rPr>
              <a:t>  execute: </a:t>
            </a:r>
            <a:r>
              <a:rPr sz="1600" b="0" i="0">
                <a:solidFill>
                  <a:srgbClr val="67E8F9"/>
                </a:solidFill>
                <a:latin typeface="Consolas"/>
              </a:rPr>
              <a:t>async</a:t>
            </a:r>
            <a:r>
              <a:rPr sz="1600" b="0" i="0">
                <a:solidFill>
                  <a:srgbClr val="E2E8F0"/>
                </a:solidFill>
                <a:latin typeface="Consolas"/>
              </a:rPr>
              <a:t> ({ sku }) =&gt; cart.add(sku),</a:t>
            </a:r>
          </a:p>
          <a:p>
            <a:pPr algn="l">
              <a:lnSpc>
                <a:spcPct val="110000"/>
              </a:lnSpc>
            </a:pPr>
            <a:r>
              <a:rPr sz="1600" b="0" i="0">
                <a:solidFill>
                  <a:srgbClr val="E2E8F0"/>
                </a:solidFill>
                <a:latin typeface="Consolas"/>
              </a:rPr>
              <a:t>});</a:t>
            </a:r>
          </a:p>
        </p:txBody>
      </p:sp>
      <p:sp>
        <p:nvSpPr>
          <p:cNvPr id="8" name="Rounded Rectangle 7"/>
          <p:cNvSpPr/>
          <p:nvPr/>
        </p:nvSpPr>
        <p:spPr>
          <a:xfrm>
            <a:off x="548640" y="5321808"/>
            <a:ext cx="2743200" cy="347472"/>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Chrome OT · M149–M162</a:t>
            </a:r>
          </a:p>
        </p:txBody>
      </p:sp>
      <p:sp>
        <p:nvSpPr>
          <p:cNvPr id="9" name="Rounded Rectangle 8"/>
          <p:cNvSpPr/>
          <p:nvPr/>
        </p:nvSpPr>
        <p:spPr>
          <a:xfrm>
            <a:off x="3429000" y="5321808"/>
            <a:ext cx="3017520" cy="347472"/>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12000"/>
              </a:lnSpc>
            </a:pPr>
            <a:r>
              <a:rPr sz="1500" b="1" i="0">
                <a:solidFill>
                  <a:srgbClr val="FFFFFF"/>
                </a:solidFill>
                <a:latin typeface="Arial"/>
              </a:rPr>
              <a:t>W3C CG draft · 16 Oct 2026</a:t>
            </a:r>
          </a:p>
        </p:txBody>
      </p:sp>
      <p:sp>
        <p:nvSpPr>
          <p:cNvPr id="10" name="TextBox 9"/>
          <p:cNvSpPr txBox="1"/>
          <p:nvPr/>
        </p:nvSpPr>
        <p:spPr>
          <a:xfrm>
            <a:off x="548640" y="5806440"/>
            <a:ext cx="6766560" cy="457200"/>
          </a:xfrm>
          <a:prstGeom prst="rect">
            <a:avLst/>
          </a:prstGeom>
          <a:noFill/>
        </p:spPr>
        <p:txBody>
          <a:bodyPr wrap="square" lIns="0" rIns="0" tIns="18288" bIns="18288" anchor="t">
            <a:spAutoFit/>
          </a:bodyPr>
          <a:lstStyle/>
          <a:p>
            <a:pPr algn="l">
              <a:lnSpc>
                <a:spcPct val="112000"/>
              </a:lnSpc>
            </a:pPr>
            <a:r>
              <a:rPr sz="1600" b="0" i="0">
                <a:solidFill>
                  <a:srgbClr val="475569"/>
                </a:solidFill>
                <a:latin typeface="Arial"/>
              </a:rPr>
              <a:t>Mozilla: neutral · WebKit: oppose</a:t>
            </a:r>
          </a:p>
        </p:txBody>
      </p:sp>
      <p:pic>
        <p:nvPicPr>
          <p:cNvPr id="11" name="Picture 10" descr="qr-book.png"/>
          <p:cNvPicPr>
            <a:picLocks noChangeAspect="1"/>
          </p:cNvPicPr>
          <p:nvPr/>
        </p:nvPicPr>
        <p:blipFill>
          <a:blip r:embed="rId2"/>
          <a:stretch>
            <a:fillRect/>
          </a:stretch>
        </p:blipFill>
        <p:spPr>
          <a:xfrm>
            <a:off x="8549640" y="1691640"/>
            <a:ext cx="2286000" cy="2286000"/>
          </a:xfrm>
          <a:prstGeom prst="rect">
            <a:avLst/>
          </a:prstGeom>
        </p:spPr>
      </p:pic>
      <p:sp>
        <p:nvSpPr>
          <p:cNvPr id="12" name="TextBox 11"/>
          <p:cNvSpPr txBox="1"/>
          <p:nvPr/>
        </p:nvSpPr>
        <p:spPr>
          <a:xfrm>
            <a:off x="7680960" y="4069080"/>
            <a:ext cx="4023360" cy="1463040"/>
          </a:xfrm>
          <a:prstGeom prst="rect">
            <a:avLst/>
          </a:prstGeom>
          <a:noFill/>
        </p:spPr>
        <p:txBody>
          <a:bodyPr wrap="square" lIns="0" rIns="0" tIns="18288" bIns="18288" anchor="t">
            <a:spAutoFit/>
          </a:bodyPr>
          <a:lstStyle/>
          <a:p>
            <a:pPr algn="ctr">
              <a:lnSpc>
                <a:spcPct val="110000"/>
              </a:lnSpc>
            </a:pPr>
            <a:r>
              <a:rPr sz="1600" b="0" i="0">
                <a:solidFill>
                  <a:srgbClr val="475569"/>
                </a:solidFill>
                <a:latin typeface="Arial"/>
              </a:rPr>
              <a:t>My book:</a:t>
            </a:r>
          </a:p>
          <a:p>
            <a:pPr algn="ctr">
              <a:lnSpc>
                <a:spcPct val="110000"/>
              </a:lnSpc>
            </a:pPr>
            <a:r>
              <a:rPr sz="2400" b="1" i="0">
                <a:solidFill>
                  <a:srgbClr val="0E7490"/>
                </a:solidFill>
                <a:latin typeface="Arial"/>
              </a:rPr>
              <a:t>Tools, Not Clicks</a:t>
            </a:r>
          </a:p>
          <a:p>
            <a:pPr algn="ctr">
              <a:lnSpc>
                <a:spcPct val="110000"/>
              </a:lnSpc>
            </a:pPr>
            <a:r>
              <a:rPr sz="1600" b="0" i="0">
                <a:solidFill>
                  <a:srgbClr val="0F172A"/>
                </a:solidFill>
                <a:latin typeface="Arial"/>
              </a:rPr>
              <a:t>Building Agent-Ready Websites with WebMCP</a:t>
            </a:r>
          </a:p>
          <a:p>
            <a:pPr algn="ctr">
              <a:lnSpc>
                <a:spcPct val="110000"/>
              </a:lnSpc>
            </a:pPr>
            <a:r>
              <a:rPr sz="1500" b="0" i="0">
                <a:solidFill>
                  <a:srgbClr val="0E7490"/>
                </a:solidFill>
                <a:latin typeface="Arial"/>
                <a:hlinkClick r:id="rId3"/>
              </a:rPr>
              <a:t>vibeprogrammer.github.io/webmcp-book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22D3EE"/>
                </a:solidFill>
                <a:latin typeface="Arial"/>
              </a:rPr>
              <a:t>TAKEAWAYS</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FFFFFF"/>
                </a:solidFill>
                <a:latin typeface="Arial"/>
              </a:rPr>
              <a:t>Three things to take home</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94A3B8"/>
                </a:solidFill>
                <a:latin typeface="Arial"/>
              </a:rPr>
              <a:t>34</a:t>
            </a:r>
          </a:p>
        </p:txBody>
      </p:sp>
      <p:sp>
        <p:nvSpPr>
          <p:cNvPr id="5" name="TextBox 4"/>
          <p:cNvSpPr txBox="1"/>
          <p:nvPr/>
        </p:nvSpPr>
        <p:spPr>
          <a:xfrm>
            <a:off x="548640" y="1691639"/>
            <a:ext cx="1005840" cy="1097280"/>
          </a:xfrm>
          <a:prstGeom prst="rect">
            <a:avLst/>
          </a:prstGeom>
          <a:noFill/>
        </p:spPr>
        <p:txBody>
          <a:bodyPr wrap="square" lIns="0" rIns="0" tIns="18288" bIns="18288" anchor="t">
            <a:spAutoFit/>
          </a:bodyPr>
          <a:lstStyle/>
          <a:p>
            <a:pPr algn="l">
              <a:lnSpc>
                <a:spcPct val="112000"/>
              </a:lnSpc>
            </a:pPr>
            <a:r>
              <a:rPr sz="6000" b="1" i="0">
                <a:solidFill>
                  <a:srgbClr val="22D3EE"/>
                </a:solidFill>
                <a:latin typeface="Arial"/>
              </a:rPr>
              <a:t>1</a:t>
            </a:r>
          </a:p>
        </p:txBody>
      </p:sp>
      <p:sp>
        <p:nvSpPr>
          <p:cNvPr id="6" name="TextBox 5"/>
          <p:cNvSpPr txBox="1"/>
          <p:nvPr/>
        </p:nvSpPr>
        <p:spPr>
          <a:xfrm>
            <a:off x="1645920" y="1783080"/>
            <a:ext cx="9966960" cy="1188720"/>
          </a:xfrm>
          <a:prstGeom prst="rect">
            <a:avLst/>
          </a:prstGeom>
          <a:noFill/>
        </p:spPr>
        <p:txBody>
          <a:bodyPr wrap="square" lIns="0" rIns="0" tIns="18288" bIns="18288" anchor="t">
            <a:spAutoFit/>
          </a:bodyPr>
          <a:lstStyle/>
          <a:p>
            <a:pPr algn="l">
              <a:lnSpc>
                <a:spcPct val="110000"/>
              </a:lnSpc>
            </a:pPr>
            <a:r>
              <a:rPr sz="2800" b="1" i="0">
                <a:solidFill>
                  <a:srgbClr val="FFFFFF"/>
                </a:solidFill>
                <a:latin typeface="Arial"/>
              </a:rPr>
              <a:t>Pick the highest layer that does the job</a:t>
            </a:r>
          </a:p>
          <a:p>
            <a:pPr algn="l">
              <a:lnSpc>
                <a:spcPct val="110000"/>
              </a:lnSpc>
              <a:spcBef>
                <a:spcPts val="400"/>
              </a:spcBef>
            </a:pPr>
            <a:r>
              <a:rPr sz="2000" b="0" i="0">
                <a:solidFill>
                  <a:srgbClr val="CBD5E1"/>
                </a:solidFill>
                <a:latin typeface="Arial"/>
              </a:rPr>
              <a:t>Task APIs → Prompt API → frameworks. Less code, fewer bytes.</a:t>
            </a:r>
          </a:p>
        </p:txBody>
      </p:sp>
      <p:sp>
        <p:nvSpPr>
          <p:cNvPr id="7" name="TextBox 6"/>
          <p:cNvSpPr txBox="1"/>
          <p:nvPr/>
        </p:nvSpPr>
        <p:spPr>
          <a:xfrm>
            <a:off x="548640" y="3063240"/>
            <a:ext cx="1005840" cy="1097280"/>
          </a:xfrm>
          <a:prstGeom prst="rect">
            <a:avLst/>
          </a:prstGeom>
          <a:noFill/>
        </p:spPr>
        <p:txBody>
          <a:bodyPr wrap="square" lIns="0" rIns="0" tIns="18288" bIns="18288" anchor="t">
            <a:spAutoFit/>
          </a:bodyPr>
          <a:lstStyle/>
          <a:p>
            <a:pPr algn="l">
              <a:lnSpc>
                <a:spcPct val="112000"/>
              </a:lnSpc>
            </a:pPr>
            <a:r>
              <a:rPr sz="6000" b="1" i="0">
                <a:solidFill>
                  <a:srgbClr val="22D3EE"/>
                </a:solidFill>
                <a:latin typeface="Arial"/>
              </a:rPr>
              <a:t>2</a:t>
            </a:r>
          </a:p>
        </p:txBody>
      </p:sp>
      <p:sp>
        <p:nvSpPr>
          <p:cNvPr id="8" name="TextBox 7"/>
          <p:cNvSpPr txBox="1"/>
          <p:nvPr/>
        </p:nvSpPr>
        <p:spPr>
          <a:xfrm>
            <a:off x="1645920" y="3154680"/>
            <a:ext cx="9966960" cy="1188720"/>
          </a:xfrm>
          <a:prstGeom prst="rect">
            <a:avLst/>
          </a:prstGeom>
          <a:noFill/>
        </p:spPr>
        <p:txBody>
          <a:bodyPr wrap="square" lIns="0" rIns="0" tIns="18288" bIns="18288" anchor="t">
            <a:spAutoFit/>
          </a:bodyPr>
          <a:lstStyle/>
          <a:p>
            <a:pPr algn="l">
              <a:lnSpc>
                <a:spcPct val="110000"/>
              </a:lnSpc>
            </a:pPr>
            <a:r>
              <a:rPr sz="2800" b="1" i="0">
                <a:solidFill>
                  <a:srgbClr val="FFFFFF"/>
                </a:solidFill>
                <a:latin typeface="Arial"/>
              </a:rPr>
              <a:t>Detect, never assume</a:t>
            </a:r>
          </a:p>
          <a:p>
            <a:pPr algn="l">
              <a:lnSpc>
                <a:spcPct val="110000"/>
              </a:lnSpc>
              <a:spcBef>
                <a:spcPts val="400"/>
              </a:spcBef>
            </a:pPr>
            <a:r>
              <a:rPr sz="2000" b="0" i="0">
                <a:solidFill>
                  <a:srgbClr val="CBD5E1"/>
                </a:solidFill>
                <a:latin typeface="Arial"/>
              </a:rPr>
              <a:t>availability(), createContext(), requestAdapter(). WASM always works.</a:t>
            </a:r>
          </a:p>
        </p:txBody>
      </p:sp>
      <p:sp>
        <p:nvSpPr>
          <p:cNvPr id="9" name="TextBox 8"/>
          <p:cNvSpPr txBox="1"/>
          <p:nvPr/>
        </p:nvSpPr>
        <p:spPr>
          <a:xfrm>
            <a:off x="548640" y="4434840"/>
            <a:ext cx="1005840" cy="1097280"/>
          </a:xfrm>
          <a:prstGeom prst="rect">
            <a:avLst/>
          </a:prstGeom>
          <a:noFill/>
        </p:spPr>
        <p:txBody>
          <a:bodyPr wrap="square" lIns="0" rIns="0" tIns="18288" bIns="18288" anchor="t">
            <a:spAutoFit/>
          </a:bodyPr>
          <a:lstStyle/>
          <a:p>
            <a:pPr algn="l">
              <a:lnSpc>
                <a:spcPct val="112000"/>
              </a:lnSpc>
            </a:pPr>
            <a:r>
              <a:rPr sz="6000" b="1" i="0">
                <a:solidFill>
                  <a:srgbClr val="22D3EE"/>
                </a:solidFill>
                <a:latin typeface="Arial"/>
              </a:rPr>
              <a:t>3</a:t>
            </a:r>
          </a:p>
        </p:txBody>
      </p:sp>
      <p:sp>
        <p:nvSpPr>
          <p:cNvPr id="10" name="TextBox 9"/>
          <p:cNvSpPr txBox="1"/>
          <p:nvPr/>
        </p:nvSpPr>
        <p:spPr>
          <a:xfrm>
            <a:off x="1645920" y="4526280"/>
            <a:ext cx="9966960" cy="1188720"/>
          </a:xfrm>
          <a:prstGeom prst="rect">
            <a:avLst/>
          </a:prstGeom>
          <a:noFill/>
        </p:spPr>
        <p:txBody>
          <a:bodyPr wrap="square" lIns="0" rIns="0" tIns="18288" bIns="18288" anchor="t">
            <a:spAutoFit/>
          </a:bodyPr>
          <a:lstStyle/>
          <a:p>
            <a:pPr algn="l">
              <a:lnSpc>
                <a:spcPct val="110000"/>
              </a:lnSpc>
            </a:pPr>
            <a:r>
              <a:rPr sz="2800" b="1" i="0">
                <a:solidFill>
                  <a:srgbClr val="FFFFFF"/>
                </a:solidFill>
                <a:latin typeface="Arial"/>
              </a:rPr>
              <a:t>Ship it offline</a:t>
            </a:r>
          </a:p>
          <a:p>
            <a:pPr algn="l">
              <a:lnSpc>
                <a:spcPct val="110000"/>
              </a:lnSpc>
              <a:spcBef>
                <a:spcPts val="400"/>
              </a:spcBef>
            </a:pPr>
            <a:r>
              <a:rPr sz="2000" b="0" i="0">
                <a:solidFill>
                  <a:srgbClr val="CBD5E1"/>
                </a:solidFill>
                <a:latin typeface="Arial"/>
              </a:rPr>
              <a:t>Service worker + Cache Storage. Treat models as assets. Test with the network off.</a:t>
            </a:r>
          </a:p>
        </p:txBody>
      </p:sp>
      <p:sp>
        <p:nvSpPr>
          <p:cNvPr id="11" name="TextBox 10"/>
          <p:cNvSpPr txBox="1"/>
          <p:nvPr/>
        </p:nvSpPr>
        <p:spPr>
          <a:xfrm>
            <a:off x="548640" y="5897880"/>
            <a:ext cx="10972800" cy="411480"/>
          </a:xfrm>
          <a:prstGeom prst="rect">
            <a:avLst/>
          </a:prstGeom>
          <a:noFill/>
        </p:spPr>
        <p:txBody>
          <a:bodyPr wrap="square" lIns="0" rIns="0" tIns="18288" bIns="18288" anchor="t">
            <a:spAutoFit/>
          </a:bodyPr>
          <a:lstStyle/>
          <a:p>
            <a:pPr algn="l">
              <a:lnSpc>
                <a:spcPct val="112000"/>
              </a:lnSpc>
            </a:pPr>
            <a:r>
              <a:rPr sz="1700" b="0" i="0">
                <a:solidFill>
                  <a:srgbClr val="22D3EE"/>
                </a:solidFill>
                <a:latin typeface="Arial"/>
              </a:rPr>
              <a:t>WebNN today: flag in Chrome &amp; Edge, spec in CR, Recommendation targeted for Q1 2027. Build the path now.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347472"/>
            <a:ext cx="7772400" cy="320040"/>
          </a:xfrm>
          <a:prstGeom prst="rect">
            <a:avLst/>
          </a:prstGeom>
          <a:noFill/>
        </p:spPr>
        <p:txBody>
          <a:bodyPr wrap="square" lIns="0" rIns="0" tIns="18288" bIns="18288" anchor="t">
            <a:spAutoFit/>
          </a:bodyPr>
          <a:lstStyle/>
          <a:p>
            <a:pPr algn="l">
              <a:lnSpc>
                <a:spcPct val="112000"/>
              </a:lnSpc>
            </a:pPr>
            <a:r>
              <a:rPr sz="1500" b="1" i="0">
                <a:solidFill>
                  <a:srgbClr val="22D3EE"/>
                </a:solidFill>
                <a:latin typeface="Arial"/>
              </a:rPr>
              <a:t>LET'S CONNECT</a:t>
            </a:r>
          </a:p>
        </p:txBody>
      </p:sp>
      <p:sp>
        <p:nvSpPr>
          <p:cNvPr id="3" name="TextBox 2"/>
          <p:cNvSpPr txBox="1"/>
          <p:nvPr/>
        </p:nvSpPr>
        <p:spPr>
          <a:xfrm>
            <a:off x="548640" y="658368"/>
            <a:ext cx="11064240" cy="822960"/>
          </a:xfrm>
          <a:prstGeom prst="rect">
            <a:avLst/>
          </a:prstGeom>
          <a:noFill/>
        </p:spPr>
        <p:txBody>
          <a:bodyPr wrap="square" lIns="0" rIns="0" tIns="18288" bIns="18288" anchor="t">
            <a:spAutoFit/>
          </a:bodyPr>
          <a:lstStyle/>
          <a:p>
            <a:pPr algn="l">
              <a:lnSpc>
                <a:spcPct val="105000"/>
              </a:lnSpc>
            </a:pPr>
            <a:r>
              <a:rPr sz="3400" b="1" i="0">
                <a:solidFill>
                  <a:srgbClr val="FFFFFF"/>
                </a:solidFill>
                <a:latin typeface="Arial"/>
              </a:rPr>
              <a:t>Thank you!</a:t>
            </a:r>
          </a:p>
        </p:txBody>
      </p:sp>
      <p:sp>
        <p:nvSpPr>
          <p:cNvPr id="4" name="TextBox 3"/>
          <p:cNvSpPr txBox="1"/>
          <p:nvPr/>
        </p:nvSpPr>
        <p:spPr>
          <a:xfrm>
            <a:off x="11064240" y="6400800"/>
            <a:ext cx="594360" cy="274320"/>
          </a:xfrm>
          <a:prstGeom prst="rect">
            <a:avLst/>
          </a:prstGeom>
          <a:noFill/>
        </p:spPr>
        <p:txBody>
          <a:bodyPr wrap="square" lIns="0" rIns="0" tIns="18288" bIns="18288" anchor="t">
            <a:spAutoFit/>
          </a:bodyPr>
          <a:lstStyle/>
          <a:p>
            <a:pPr algn="r">
              <a:lnSpc>
                <a:spcPct val="112000"/>
              </a:lnSpc>
            </a:pPr>
            <a:r>
              <a:rPr sz="1200" b="0" i="0">
                <a:solidFill>
                  <a:srgbClr val="94A3B8"/>
                </a:solidFill>
                <a:latin typeface="Arial"/>
              </a:rPr>
              <a:t>35</a:t>
            </a:r>
          </a:p>
        </p:txBody>
      </p:sp>
      <p:pic>
        <p:nvPicPr>
          <p:cNvPr id="5" name="Picture 4" descr="qr-linkedin.png"/>
          <p:cNvPicPr>
            <a:picLocks noChangeAspect="1"/>
          </p:cNvPicPr>
          <p:nvPr/>
        </p:nvPicPr>
        <p:blipFill>
          <a:blip r:embed="rId2"/>
          <a:stretch>
            <a:fillRect/>
          </a:stretch>
        </p:blipFill>
        <p:spPr>
          <a:xfrm>
            <a:off x="822960" y="1828800"/>
            <a:ext cx="2651760" cy="2651760"/>
          </a:xfrm>
          <a:prstGeom prst="rect">
            <a:avLst/>
          </a:prstGeom>
        </p:spPr>
      </p:pic>
      <p:sp>
        <p:nvSpPr>
          <p:cNvPr id="6" name="TextBox 5"/>
          <p:cNvSpPr txBox="1"/>
          <p:nvPr/>
        </p:nvSpPr>
        <p:spPr>
          <a:xfrm>
            <a:off x="365760" y="4572000"/>
            <a:ext cx="3566160" cy="822960"/>
          </a:xfrm>
          <a:prstGeom prst="rect">
            <a:avLst/>
          </a:prstGeom>
          <a:noFill/>
        </p:spPr>
        <p:txBody>
          <a:bodyPr wrap="square" lIns="0" rIns="0" tIns="18288" bIns="18288" anchor="t">
            <a:spAutoFit/>
          </a:bodyPr>
          <a:lstStyle/>
          <a:p>
            <a:pPr algn="ctr">
              <a:lnSpc>
                <a:spcPct val="110000"/>
              </a:lnSpc>
            </a:pPr>
            <a:r>
              <a:rPr sz="2000" b="1" i="0">
                <a:solidFill>
                  <a:srgbClr val="FFFFFF"/>
                </a:solidFill>
                <a:latin typeface="Arial"/>
              </a:rPr>
              <a:t>LinkedIn</a:t>
            </a:r>
          </a:p>
          <a:p>
            <a:pPr algn="ctr">
              <a:lnSpc>
                <a:spcPct val="110000"/>
              </a:lnSpc>
            </a:pPr>
            <a:r>
              <a:rPr sz="1600" b="0" i="0">
                <a:solidFill>
                  <a:srgbClr val="CBD5E1"/>
                </a:solidFill>
                <a:latin typeface="Arial"/>
              </a:rPr>
              <a:t>this deck + all links</a:t>
            </a:r>
          </a:p>
        </p:txBody>
      </p:sp>
      <p:pic>
        <p:nvPicPr>
          <p:cNvPr id="7" name="Picture 6" descr="qr-demo.png"/>
          <p:cNvPicPr>
            <a:picLocks noChangeAspect="1"/>
          </p:cNvPicPr>
          <p:nvPr/>
        </p:nvPicPr>
        <p:blipFill>
          <a:blip r:embed="rId3"/>
          <a:stretch>
            <a:fillRect/>
          </a:stretch>
        </p:blipFill>
        <p:spPr>
          <a:xfrm>
            <a:off x="4754880" y="1828800"/>
            <a:ext cx="2651760" cy="2651760"/>
          </a:xfrm>
          <a:prstGeom prst="rect">
            <a:avLst/>
          </a:prstGeom>
        </p:spPr>
      </p:pic>
      <p:sp>
        <p:nvSpPr>
          <p:cNvPr id="8" name="TextBox 7"/>
          <p:cNvSpPr txBox="1"/>
          <p:nvPr/>
        </p:nvSpPr>
        <p:spPr>
          <a:xfrm>
            <a:off x="4114800" y="4553712"/>
            <a:ext cx="3931920" cy="365760"/>
          </a:xfrm>
          <a:prstGeom prst="rect">
            <a:avLst/>
          </a:prstGeom>
          <a:noFill/>
        </p:spPr>
        <p:txBody>
          <a:bodyPr wrap="square" lIns="0" rIns="0" tIns="18288" bIns="18288" anchor="t">
            <a:spAutoFit/>
          </a:bodyPr>
          <a:lstStyle/>
          <a:p>
            <a:pPr algn="ctr">
              <a:lnSpc>
                <a:spcPct val="112000"/>
              </a:lnSpc>
            </a:pPr>
            <a:r>
              <a:rPr sz="1600" b="1" i="0">
                <a:solidFill>
                  <a:srgbClr val="22D3EE"/>
                </a:solidFill>
                <a:latin typeface="Arial"/>
                <a:hlinkClick r:id="rId4"/>
              </a:rPr>
              <a:t>webai-playground.sites.tab.bot</a:t>
            </a:r>
          </a:p>
        </p:txBody>
      </p:sp>
      <p:sp>
        <p:nvSpPr>
          <p:cNvPr id="9" name="TextBox 8"/>
          <p:cNvSpPr txBox="1"/>
          <p:nvPr/>
        </p:nvSpPr>
        <p:spPr>
          <a:xfrm>
            <a:off x="4297680" y="4983480"/>
            <a:ext cx="3566160" cy="457200"/>
          </a:xfrm>
          <a:prstGeom prst="rect">
            <a:avLst/>
          </a:prstGeom>
          <a:noFill/>
        </p:spPr>
        <p:txBody>
          <a:bodyPr wrap="square" lIns="0" rIns="0" tIns="18288" bIns="18288" anchor="t">
            <a:spAutoFit/>
          </a:bodyPr>
          <a:lstStyle/>
          <a:p>
            <a:pPr algn="ctr">
              <a:lnSpc>
                <a:spcPct val="112000"/>
              </a:lnSpc>
            </a:pPr>
            <a:r>
              <a:rPr sz="1600" b="0" i="0">
                <a:solidFill>
                  <a:srgbClr val="CBD5E1"/>
                </a:solidFill>
                <a:latin typeface="Arial"/>
              </a:rPr>
              <a:t>Try the playground</a:t>
            </a:r>
          </a:p>
        </p:txBody>
      </p:sp>
      <p:sp>
        <p:nvSpPr>
          <p:cNvPr id="10" name="TextBox 9"/>
          <p:cNvSpPr txBox="1"/>
          <p:nvPr/>
        </p:nvSpPr>
        <p:spPr>
          <a:xfrm>
            <a:off x="8229600" y="1828800"/>
            <a:ext cx="3566160" cy="3566160"/>
          </a:xfrm>
          <a:prstGeom prst="rect">
            <a:avLst/>
          </a:prstGeom>
          <a:noFill/>
        </p:spPr>
        <p:txBody>
          <a:bodyPr wrap="square" lIns="0" rIns="0" tIns="18288" bIns="18288" anchor="t">
            <a:spAutoFit/>
          </a:bodyPr>
          <a:lstStyle/>
          <a:p>
            <a:pPr algn="l">
              <a:lnSpc>
                <a:spcPct val="115000"/>
              </a:lnSpc>
            </a:pPr>
            <a:r>
              <a:rPr sz="1600" b="0" i="0">
                <a:solidFill>
                  <a:srgbClr val="94A3B8"/>
                </a:solidFill>
                <a:latin typeface="Arial"/>
              </a:rPr>
              <a:t>Newsletter</a:t>
            </a:r>
          </a:p>
          <a:p>
            <a:pPr algn="l">
              <a:lnSpc>
                <a:spcPct val="115000"/>
              </a:lnSpc>
              <a:spcBef>
                <a:spcPts val="600"/>
              </a:spcBef>
            </a:pPr>
            <a:r>
              <a:rPr sz="2000" b="1" i="0">
                <a:solidFill>
                  <a:srgbClr val="22D3EE"/>
                </a:solidFill>
                <a:latin typeface="Arial"/>
                <a:hlinkClick r:id="rId5"/>
              </a:rPr>
              <a:t>isainative.substack.com</a:t>
            </a:r>
          </a:p>
          <a:p>
            <a:pPr algn="l">
              <a:lnSpc>
                <a:spcPct val="115000"/>
              </a:lnSpc>
              <a:spcBef>
                <a:spcPts val="600"/>
              </a:spcBef>
            </a:pPr>
            <a:r>
              <a:rPr sz="1600" b="0" i="0">
                <a:solidFill>
                  <a:srgbClr val="94A3B8"/>
                </a:solidFill>
                <a:latin typeface="Arial"/>
              </a:rPr>
              <a:t>Book</a:t>
            </a:r>
          </a:p>
          <a:p>
            <a:pPr algn="l">
              <a:lnSpc>
                <a:spcPct val="115000"/>
              </a:lnSpc>
              <a:spcBef>
                <a:spcPts val="600"/>
              </a:spcBef>
            </a:pPr>
            <a:r>
              <a:rPr sz="2000" b="1" i="0">
                <a:solidFill>
                  <a:srgbClr val="FFFFFF"/>
                </a:solidFill>
                <a:latin typeface="Arial"/>
              </a:rPr>
              <a:t>Tools, Not Clicks</a:t>
            </a:r>
          </a:p>
          <a:p>
            <a:pPr algn="l">
              <a:lnSpc>
                <a:spcPct val="115000"/>
              </a:lnSpc>
              <a:spcBef>
                <a:spcPts val="600"/>
              </a:spcBef>
            </a:pPr>
            <a:r>
              <a:rPr sz="1500" b="0" i="0">
                <a:solidFill>
                  <a:srgbClr val="22D3EE"/>
                </a:solidFill>
                <a:latin typeface="Arial"/>
                <a:hlinkClick r:id="rId6"/>
              </a:rPr>
              <a:t>vibeprogrammer.github.io/webmcp-book</a:t>
            </a:r>
          </a:p>
          <a:p>
            <a:pPr algn="l">
              <a:lnSpc>
                <a:spcPct val="115000"/>
              </a:lnSpc>
              <a:spcBef>
                <a:spcPts val="600"/>
              </a:spcBef>
            </a:pPr>
            <a:r>
              <a:rPr sz="2000" b="1" i="0">
                <a:solidFill>
                  <a:srgbClr val="FFFFFF"/>
                </a:solidFill>
                <a:latin typeface="Arial"/>
              </a:rPr>
              <a:t>Maxim Salnikov</a:t>
            </a:r>
          </a:p>
          <a:p>
            <a:pPr algn="l">
              <a:lnSpc>
                <a:spcPct val="115000"/>
              </a:lnSpc>
              <a:spcBef>
                <a:spcPts val="600"/>
              </a:spcBef>
            </a:pPr>
            <a:r>
              <a:rPr sz="1500" b="0" i="0">
                <a:solidFill>
                  <a:srgbClr val="CBD5E1"/>
                </a:solidFill>
                <a:latin typeface="Arial"/>
              </a:rPr>
              <a:t>AI-Native Solution Engineer at Microsoft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891B2"/>
      </a:hlink>
      <a:folHlink>
        <a:srgbClr val="0891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